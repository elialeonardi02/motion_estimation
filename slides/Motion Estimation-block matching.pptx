
<file path=[Content_Types].xml><?xml version="1.0" encoding="utf-8"?>
<Types xmlns="http://schemas.openxmlformats.org/package/2006/content-types">
  <Default ContentType="application/x-fontdata" Extension="fntdata"/>
  <Default ContentType="image/gif" Extension="gif"/>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5"/>
    <p:sldMasterId id="2147483671"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Lst>
  <p:sldSz cy="6858000" cx="12192000"/>
  <p:notesSz cx="6858000" cy="9144000"/>
  <p:embeddedFontLst>
    <p:embeddedFont>
      <p:font typeface="Play"/>
      <p:regular r:id="rId66"/>
      <p:bold r:id="rId67"/>
    </p:embeddedFont>
    <p:embeddedFont>
      <p:font typeface="Inter"/>
      <p:regular r:id="rId68"/>
      <p:bold r:id="rId69"/>
      <p:italic r:id="rId70"/>
      <p:boldItalic r:id="rId71"/>
    </p:embeddedFont>
    <p:embeddedFont>
      <p:font typeface="Outfit"/>
      <p:regular r:id="rId72"/>
      <p:bold r:id="rId73"/>
    </p:embeddedFont>
    <p:embeddedFont>
      <p:font typeface="Outfit SemiBold"/>
      <p:regular r:id="rId74"/>
      <p:bold r:id="rId75"/>
    </p:embeddedFont>
    <p:embeddedFont>
      <p:font typeface="Fira Code"/>
      <p:regular r:id="rId76"/>
      <p:bold r:id="rId77"/>
    </p:embeddedFont>
    <p:embeddedFont>
      <p:font typeface="Roboto Mono"/>
      <p:regular r:id="rId78"/>
      <p:bold r:id="rId79"/>
      <p:italic r:id="rId80"/>
      <p:boldItalic r:id="rId8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384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CEB14D6-C457-44CB-B603-5D288C77221F}">
  <a:tblStyle styleId="{CCEB14D6-C457-44CB-B603-5D288C77221F}" styleName="Table_0">
    <a:wholeTbl>
      <a:tcTxStyle b="off" i="off">
        <a:font>
          <a:latin typeface="Calibri"/>
          <a:ea typeface="Calibri"/>
          <a:cs typeface="Calibri"/>
        </a:font>
        <a:srgbClr val="000000"/>
      </a:tcTxStyle>
      <a:tcStyle>
        <a:tcBdr>
          <a:left>
            <a:ln cap="flat" cmpd="sng" w="12700">
              <a:solidFill>
                <a:srgbClr val="FFFFFF"/>
              </a:solidFill>
              <a:prstDash val="solid"/>
              <a:round/>
              <a:headEnd len="sm" w="sm" type="none"/>
              <a:tailEnd len="sm" w="sm" type="none"/>
            </a:ln>
          </a:left>
          <a:right>
            <a:ln cap="flat" cmpd="sng" w="12700">
              <a:solidFill>
                <a:srgbClr val="FFFFFF"/>
              </a:solidFill>
              <a:prstDash val="solid"/>
              <a:round/>
              <a:headEnd len="sm" w="sm" type="none"/>
              <a:tailEnd len="sm" w="sm" type="none"/>
            </a:ln>
          </a:right>
          <a:top>
            <a:ln cap="flat" cmpd="sng" w="12700">
              <a:solidFill>
                <a:srgbClr val="FFFFFF"/>
              </a:solidFill>
              <a:prstDash val="solid"/>
              <a:round/>
              <a:headEnd len="sm" w="sm" type="none"/>
              <a:tailEnd len="sm" w="sm" type="none"/>
            </a:ln>
          </a:top>
          <a:bottom>
            <a:ln cap="flat" cmpd="sng" w="12700">
              <a:solidFill>
                <a:srgbClr val="FFFFFF"/>
              </a:solidFill>
              <a:prstDash val="solid"/>
              <a:round/>
              <a:headEnd len="sm" w="sm" type="none"/>
              <a:tailEnd len="sm" w="sm" type="none"/>
            </a:ln>
          </a:bottom>
          <a:insideH>
            <a:ln cap="flat" cmpd="sng" w="12700">
              <a:solidFill>
                <a:srgbClr val="FFFFFF"/>
              </a:solidFill>
              <a:prstDash val="solid"/>
              <a:round/>
              <a:headEnd len="sm" w="sm" type="none"/>
              <a:tailEnd len="sm" w="sm" type="none"/>
            </a:ln>
          </a:insideH>
          <a:insideV>
            <a:ln cap="flat" cmpd="sng" w="12700">
              <a:solidFill>
                <a:srgbClr val="FFFFFF"/>
              </a:solidFill>
              <a:prstDash val="solid"/>
              <a:round/>
              <a:headEnd len="sm" w="sm" type="none"/>
              <a:tailEnd len="sm" w="sm" type="none"/>
            </a:ln>
          </a:insideV>
        </a:tcBdr>
        <a:fill>
          <a:solidFill>
            <a:srgbClr val="E8ECF4"/>
          </a:solidFill>
        </a:fill>
      </a:tcStyle>
    </a:wholeTbl>
    <a:band1H>
      <a:tcTxStyle/>
      <a:tcStyle>
        <a:fill>
          <a:solidFill>
            <a:srgbClr val="CFD7E7"/>
          </a:solidFill>
        </a:fill>
      </a:tcStyle>
    </a:band1H>
    <a:band2H>
      <a:tcTxStyle/>
    </a:band2H>
    <a:band1V>
      <a:tcTxStyle/>
      <a:tcStyle>
        <a:fill>
          <a:solidFill>
            <a:srgbClr val="CFD7E7"/>
          </a:solidFill>
        </a:fill>
      </a:tcStyle>
    </a:band1V>
    <a:band2V>
      <a:tcTxStyle/>
    </a:band2V>
    <a:lastCol>
      <a:tcTxStyle b="on" i="off">
        <a:font>
          <a:latin typeface="Calibri"/>
          <a:ea typeface="Calibri"/>
          <a:cs typeface="Calibri"/>
        </a:font>
        <a:srgbClr val="FFFFFF"/>
      </a:tcTxStyle>
      <a:tcStyle>
        <a:fill>
          <a:solidFill>
            <a:srgbClr val="4F81BD"/>
          </a:solidFill>
        </a:fill>
      </a:tcStyle>
    </a:lastCol>
    <a:firstCol>
      <a:tcTxStyle b="on" i="off">
        <a:font>
          <a:latin typeface="Calibri"/>
          <a:ea typeface="Calibri"/>
          <a:cs typeface="Calibri"/>
        </a:font>
        <a:srgbClr val="FFFFFF"/>
      </a:tcTxStyle>
      <a:tcStyle>
        <a:fill>
          <a:solidFill>
            <a:srgbClr val="4F81BD"/>
          </a:solidFill>
        </a:fill>
      </a:tcStyle>
    </a:firstCol>
    <a:lastRow>
      <a:tcTxStyle b="on" i="off">
        <a:font>
          <a:latin typeface="Calibri"/>
          <a:ea typeface="Calibri"/>
          <a:cs typeface="Calibri"/>
        </a:font>
        <a:srgbClr val="FFFFFF"/>
      </a:tcTxStyle>
      <a:tcStyle>
        <a:tcBdr>
          <a:top>
            <a:ln cap="flat" cmpd="sng" w="38100">
              <a:solidFill>
                <a:srgbClr val="FFFFFF"/>
              </a:solidFill>
              <a:prstDash val="solid"/>
              <a:round/>
              <a:headEnd len="sm" w="sm" type="none"/>
              <a:tailEnd len="sm" w="sm" type="none"/>
            </a:ln>
          </a:top>
        </a:tcBdr>
        <a:fill>
          <a:solidFill>
            <a:srgbClr val="4F81BD"/>
          </a:solidFill>
        </a:fill>
      </a:tcStyle>
    </a:lastRow>
    <a:seCell>
      <a:tcTxStyle/>
    </a:seCell>
    <a:swCell>
      <a:tcTxStyle/>
    </a:swCell>
    <a:firstRow>
      <a:tcTxStyle b="on" i="off">
        <a:font>
          <a:latin typeface="Calibri"/>
          <a:ea typeface="Calibri"/>
          <a:cs typeface="Calibri"/>
        </a:font>
        <a:srgbClr val="FFFFFF"/>
      </a:tcTxStyle>
      <a:tcStyle>
        <a:tcBdr>
          <a:bottom>
            <a:ln cap="flat" cmpd="sng" w="38100">
              <a:solidFill>
                <a:srgbClr val="FFFFFF"/>
              </a:solidFill>
              <a:prstDash val="solid"/>
              <a:round/>
              <a:headEnd len="sm" w="sm" type="none"/>
              <a:tailEnd len="sm" w="sm" type="none"/>
            </a:ln>
          </a:bottom>
        </a:tcBdr>
        <a:fill>
          <a:solidFill>
            <a:srgbClr val="4F81BD"/>
          </a:solidFill>
        </a:fill>
      </a:tcStyle>
    </a:firstRow>
    <a:neCell>
      <a:tcTxStyle/>
    </a:neCell>
    <a:nwCell>
      <a:tcTxStyle/>
    </a:nwCell>
  </a:tblStyle>
  <a:tblStyle styleId="{1D995342-5EAB-4557-982D-F2C7F77A1F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RobotoMono-italic.fntdata"/><Relationship Id="rId81" Type="http://schemas.openxmlformats.org/officeDocument/2006/relationships/font" Target="fonts/RobotoMono-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Outfit-bold.fntdata"/><Relationship Id="rId72" Type="http://schemas.openxmlformats.org/officeDocument/2006/relationships/font" Target="fonts/Outfit-regular.fntdata"/><Relationship Id="rId31" Type="http://schemas.openxmlformats.org/officeDocument/2006/relationships/slide" Target="slides/slide24.xml"/><Relationship Id="rId75" Type="http://schemas.openxmlformats.org/officeDocument/2006/relationships/font" Target="fonts/OutfitSemiBold-bold.fntdata"/><Relationship Id="rId30" Type="http://schemas.openxmlformats.org/officeDocument/2006/relationships/slide" Target="slides/slide23.xml"/><Relationship Id="rId74" Type="http://schemas.openxmlformats.org/officeDocument/2006/relationships/font" Target="fonts/OutfitSemiBold-regular.fntdata"/><Relationship Id="rId33" Type="http://schemas.openxmlformats.org/officeDocument/2006/relationships/slide" Target="slides/slide26.xml"/><Relationship Id="rId77" Type="http://schemas.openxmlformats.org/officeDocument/2006/relationships/font" Target="fonts/FiraCode-bold.fntdata"/><Relationship Id="rId32" Type="http://schemas.openxmlformats.org/officeDocument/2006/relationships/slide" Target="slides/slide25.xml"/><Relationship Id="rId76" Type="http://schemas.openxmlformats.org/officeDocument/2006/relationships/font" Target="fonts/FiraCode-regular.fntdata"/><Relationship Id="rId35" Type="http://schemas.openxmlformats.org/officeDocument/2006/relationships/slide" Target="slides/slide28.xml"/><Relationship Id="rId79" Type="http://schemas.openxmlformats.org/officeDocument/2006/relationships/font" Target="fonts/RobotoMono-bold.fntdata"/><Relationship Id="rId34" Type="http://schemas.openxmlformats.org/officeDocument/2006/relationships/slide" Target="slides/slide27.xml"/><Relationship Id="rId78" Type="http://schemas.openxmlformats.org/officeDocument/2006/relationships/font" Target="fonts/RobotoMono-regular.fntdata"/><Relationship Id="rId71" Type="http://schemas.openxmlformats.org/officeDocument/2006/relationships/font" Target="fonts/Inter-boldItalic.fntdata"/><Relationship Id="rId70" Type="http://schemas.openxmlformats.org/officeDocument/2006/relationships/font" Target="fonts/Inter-italic.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font" Target="fonts/Play-regular.fntdata"/><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font" Target="fonts/Inter-regular.fntdata"/><Relationship Id="rId23" Type="http://schemas.openxmlformats.org/officeDocument/2006/relationships/slide" Target="slides/slide16.xml"/><Relationship Id="rId67" Type="http://schemas.openxmlformats.org/officeDocument/2006/relationships/font" Target="fonts/Play-bold.fntdata"/><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font" Target="fonts/Inter-bold.fntdata"/><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e38a8e6e7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7" name="Google Shape;157;g3e38a8e6e7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e38a8e6e71_0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6" name="Google Shape;166;g3e38a8e6e71_0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e38a8e6e71_0_27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Motion Estimation è una tecnica che ha come obiettivo la stima del movimento degli oggetti all'interno di un video, confrontando i frame in sequenza tra loro. In particolare, abbiamo il </a:t>
            </a:r>
            <a:r>
              <a:rPr i="1" lang="it-IT">
                <a:solidFill>
                  <a:schemeClr val="dk1"/>
                </a:solidFill>
              </a:rPr>
              <a:t>reference frame</a:t>
            </a:r>
            <a:r>
              <a:rPr lang="it-IT">
                <a:solidFill>
                  <a:schemeClr val="dk1"/>
                </a:solidFill>
              </a:rPr>
              <a:t> e il </a:t>
            </a:r>
            <a:r>
              <a:rPr i="1" lang="it-IT">
                <a:solidFill>
                  <a:schemeClr val="dk1"/>
                </a:solidFill>
              </a:rPr>
              <a:t>current frame</a:t>
            </a:r>
            <a:r>
              <a:rPr lang="it-IT">
                <a:solidFill>
                  <a:schemeClr val="dk1"/>
                </a:solidFill>
              </a:rPr>
              <a:t>: quello che si cerca di stimare è lo spostamento delle entità dal reference frame al current frame. Questo permette di segmentare il frame corrente ed evitare di ricodificare da zero porzioni di immagine che sono già presenti nel reference frame, ma in una posizione diversa.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Questa tecnica è utilizzata principalmente nel video processing e nella video compression, per l'appunto per evitare la codifica ridondante di sezioni del frame già note. Ma trova applicazione anche nella videosorveglianza, nel riconoscimento facciale e in ambito medico, ad esempio nel tracciamento dello spostamento di masse tumorali tra immagini successive.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Block Matching è una particolare tecnica di motion estimation in cui i due frame vengono divisi in blocchi. L'obiettivo è trovare, per ogni blocco del current frame, il miglior candidato nel reference frame, ovvero il blocco più simile. Per confrontare le coppie di blocchi si calcola la Sum of Absolute Differences (SAD), che non è altro che la somma delle differenze pixel per pixel tra i due blocchi; si sceglie ovviamente il blocco del reference frame con SAD minore.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Una volta trovato il miglior blocco per ciascun blocco del current frame, è possibile costruire i motion vector, ovvero i vettori che rappresentano lo spostamento dei blocchi dal reference frame al current frame.</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173" name="Google Shape;173;g3e38a8e6e71_0_27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3a8acd9aac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Quindi, il reference frame e il current frame devono essere divisi in blocchi, che non sono altro che un sottoinsieme di pixel adiacenti che compongono il frame.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Per individuare le coordinate di tali blocchi, innanzitutto è necessario dividere la risoluzione, in larghezza e in altezza, per il block_size: in questo modo si ottiene il numero di blocchi rispettivamente sull'asse X e sull'asse Y.</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Come si vede nell'immagine del frame, ogni blocco viene quindi individuato tramite queste coordinate "astratte", ovvero coordinate di griglia: sono degli indici che indicano </a:t>
            </a:r>
            <a:r>
              <a:rPr i="1" lang="it-IT">
                <a:solidFill>
                  <a:schemeClr val="dk1"/>
                </a:solidFill>
              </a:rPr>
              <a:t>quale</a:t>
            </a:r>
            <a:r>
              <a:rPr lang="it-IT">
                <a:solidFill>
                  <a:schemeClr val="dk1"/>
                </a:solidFill>
              </a:rPr>
              <a:t> blocco stiamo considerando all'interno della griglia, non ancora dei pixel veri e propri.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Tuttavia, il frame rimane comunque composto da pixel: per accedere ai pixel effettivi del blocco, come mostrato nell'immagine di dettaglio del singolo blocco, si calcolano le coordinate del pixel nell'angolo in alto a sinistra, semplicemente moltiplicando le coordinate astratte del blocco per il block_size stesso. A quel punto è possibile individuare tutti gli altri pixel del blocco, rimanendo nei limiti definiti dal block_size stesso.</a:t>
            </a:r>
            <a:endParaRPr>
              <a:solidFill>
                <a:schemeClr val="dk1"/>
              </a:solidFill>
            </a:endParaRPr>
          </a:p>
          <a:p>
            <a:pPr indent="0" lvl="0" marL="0" rtl="0" algn="l">
              <a:lnSpc>
                <a:spcPct val="100000"/>
              </a:lnSpc>
              <a:spcBef>
                <a:spcPts val="1200"/>
              </a:spcBef>
              <a:spcAft>
                <a:spcPts val="0"/>
              </a:spcAft>
              <a:buSzPts val="1100"/>
              <a:buNone/>
            </a:pPr>
            <a:r>
              <a:t/>
            </a:r>
            <a:endParaRPr/>
          </a:p>
        </p:txBody>
      </p:sp>
      <p:sp>
        <p:nvSpPr>
          <p:cNvPr id="185" name="Google Shape;185;g3a8acd9aac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e38a8e6e71_0_48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Per individuare le differenze tra i blocchi del reference frame e del current frame si usa la metrica della SAD (Sum of Absolute Differences). I blocchi vengono confrontati pixel per pixel: nella rappresentazione usata nel progetto, un pixel corrisponde a un valore di 1 byte (256 livelli di grigio).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Come si vede nel codice, la funzione computeSAD riceve le coordinate del blocco nel current frame (x1, y1) e le coordinate del blocco candidato nel reference frame (x2, y2) in pixel, oltre alla dimensione del blocco. L'accesso ai pixel avviene tramite il metodo .at(x, y) della classe immagine, che incapsula al suo interno il calcolo dell'indice lineare del pixel (riga × larghezza del frame + colonna), dato che il frame è memorizzato in row-major order (previsto dall’implementazione della classe).</a:t>
            </a:r>
            <a:endParaRPr/>
          </a:p>
          <a:p>
            <a:pPr indent="0" lvl="0" marL="0" rtl="0" algn="l">
              <a:lnSpc>
                <a:spcPct val="100000"/>
              </a:lnSpc>
              <a:spcBef>
                <a:spcPts val="0"/>
              </a:spcBef>
              <a:spcAft>
                <a:spcPts val="0"/>
              </a:spcAft>
              <a:buSzPts val="1100"/>
              <a:buNone/>
            </a:pPr>
            <a:r>
              <a:rPr lang="it-IT"/>
              <a:t>Il doppio ciclo scorre tutti i pixel del blocco e accumula, per ciascuno, la differenza assoluta tra il valore del pixel nel current frame e il valore del pixel corrispondente nel reference frame. Il valore restituito dalla funzione è quindi il SAD totale per quella coppia di blocchi.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Per ogni blocco del current frame si sceglierà come miglior candidato il blocco del reference frame con SAD minore.</a:t>
            </a:r>
            <a:endParaRPr/>
          </a:p>
          <a:p>
            <a:pPr indent="0" lvl="0" marL="0" rtl="0" algn="l">
              <a:lnSpc>
                <a:spcPct val="100000"/>
              </a:lnSpc>
              <a:spcBef>
                <a:spcPts val="0"/>
              </a:spcBef>
              <a:spcAft>
                <a:spcPts val="0"/>
              </a:spcAft>
              <a:buSzPts val="1100"/>
              <a:buNone/>
            </a:pPr>
            <a:r>
              <a:rPr lang="it-IT"/>
              <a:t>La SAD è utile anche per individuare le differenze tra due frame nel loro complesso, non solo tra singoli blocchi.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Nota SAD di una coppia di blocchi:</a:t>
            </a:r>
            <a:endParaRPr b="1"/>
          </a:p>
          <a:p>
            <a:pPr indent="0" lvl="0" marL="0" rtl="0" algn="l">
              <a:lnSpc>
                <a:spcPct val="100000"/>
              </a:lnSpc>
              <a:spcBef>
                <a:spcPts val="0"/>
              </a:spcBef>
              <a:spcAft>
                <a:spcPts val="0"/>
              </a:spcAft>
              <a:buSzPts val="1100"/>
              <a:buNone/>
            </a:pPr>
            <a:r>
              <a:rPr lang="it-IT">
                <a:solidFill>
                  <a:schemeClr val="dk1"/>
                </a:solidFill>
              </a:rPr>
              <a:t>Il valore di SAD in sé, essendo una somma di differenze assolute su blockSize² pixel, non è limitato a 0-255, cresce con la dimensione del blocco. Ad esempio con block_size=32 (1024 pixel) il SAD massimo teorico sarebbe 1024×255 ≈ 261.120.</a:t>
            </a:r>
            <a:endParaRPr b="1"/>
          </a:p>
        </p:txBody>
      </p:sp>
      <p:sp>
        <p:nvSpPr>
          <p:cNvPr id="215" name="Google Shape;215;g3e38a8e6e71_0_48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e39422296d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t>Una volta individuato il miglior blocco candidato nel reference frame per ogni blocco nel current frame, è possibile costruire i motion vector, che non sono altro che i vettori di spostamento che mostrano come i blocchi si muovono dal reference frame al current frame.</a:t>
            </a:r>
            <a:endParaRPr/>
          </a:p>
          <a:p>
            <a:pPr indent="0" lvl="0" marL="0" rtl="0" algn="l">
              <a:lnSpc>
                <a:spcPct val="115000"/>
              </a:lnSpc>
              <a:spcBef>
                <a:spcPts val="1200"/>
              </a:spcBef>
              <a:spcAft>
                <a:spcPts val="0"/>
              </a:spcAft>
              <a:buSzPts val="1100"/>
              <a:buNone/>
            </a:pPr>
            <a:r>
              <a:rPr lang="it-IT"/>
              <a:t>Invece di associare le coordinate del candidato ai blocchi del current frame, si salva solo la differenza delle coordinate che, sommata alle coordinate del current frame, permette di ottenere le coordinate del blocco candidato nel reference frame. Questo perché, generalmente, il movimento tra un frame e l'altro è ridotto: i blocchi si spostano di poco, quindi il motion vector assume valori piccoli. Codificare questi piccoli spostamenti risulta quindi più efficiente, in media, rispetto a salvare le coordinate assolute del blocco candidato per ogni frame.</a:t>
            </a:r>
            <a:endParaRPr/>
          </a:p>
          <a:p>
            <a:pPr indent="0" lvl="0" marL="0" rtl="0" algn="l">
              <a:lnSpc>
                <a:spcPct val="115000"/>
              </a:lnSpc>
              <a:spcBef>
                <a:spcPts val="1200"/>
              </a:spcBef>
              <a:spcAft>
                <a:spcPts val="0"/>
              </a:spcAft>
              <a:buClr>
                <a:schemeClr val="dk1"/>
              </a:buClr>
              <a:buSzPts val="1100"/>
              <a:buFont typeface="Arial"/>
              <a:buNone/>
            </a:pPr>
            <a:r>
              <a:rPr lang="it-IT"/>
              <a:t>Chiaramente è possibile che per un blocco del current frame ci sia più di un miglior candidato: potremmo infatti avere due blocchi nel reference frame con lo stesso SAD rispetto al blocco nel frame corrente. In questo caso si sceglie il candidato che permette di ottenere il MV più breve, quindi il blocco più vicino. Come accade in questo esempio, tutti i blocchi [6,6], [6,7], [7,7], [7,6] hanno il motion vector che parte dal blocco [1,1]: ad esempio, per il blocco [6,6] il MV è [1,1] − [6,6] = [-5,-5], mentre per il blocco [6,7] il MV è [1,1] − [6,7] = [-5,-6].</a:t>
            </a:r>
            <a:endParaRPr/>
          </a:p>
          <a:p>
            <a:pPr indent="0" lvl="0" marL="0" rtl="0" algn="l">
              <a:lnSpc>
                <a:spcPct val="100000"/>
              </a:lnSpc>
              <a:spcBef>
                <a:spcPts val="1200"/>
              </a:spcBef>
              <a:spcAft>
                <a:spcPts val="0"/>
              </a:spcAft>
              <a:buSzPts val="1100"/>
              <a:buNone/>
            </a:pPr>
            <a:r>
              <a:t/>
            </a:r>
            <a:endParaRPr/>
          </a:p>
        </p:txBody>
      </p:sp>
      <p:sp>
        <p:nvSpPr>
          <p:cNvPr id="237" name="Google Shape;237;g3e39422296d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e403bb7999_5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IT"/>
              <a:t>Per decidere con quale insieme di blocchi candidati del reference frame confrontare ogni blocco del current frame, esistono diverse strategie.</a:t>
            </a:r>
            <a:endParaRPr/>
          </a:p>
          <a:p>
            <a:pPr indent="0" lvl="0" marL="0" rtl="0" algn="l">
              <a:spcBef>
                <a:spcPts val="0"/>
              </a:spcBef>
              <a:spcAft>
                <a:spcPts val="0"/>
              </a:spcAft>
              <a:buSzPts val="1100"/>
              <a:buNone/>
            </a:pPr>
            <a:r>
              <a:t/>
            </a:r>
            <a:endParaRPr/>
          </a:p>
          <a:p>
            <a:pPr indent="0" lvl="0" marL="0" rtl="0" algn="l">
              <a:spcBef>
                <a:spcPts val="0"/>
              </a:spcBef>
              <a:spcAft>
                <a:spcPts val="0"/>
              </a:spcAft>
              <a:buClr>
                <a:schemeClr val="dk1"/>
              </a:buClr>
              <a:buSzPts val="1100"/>
              <a:buFont typeface="Arial"/>
              <a:buNone/>
            </a:pPr>
            <a:r>
              <a:rPr lang="it-IT"/>
              <a:t>La Full Search è quella più semplice: si confronta ogni blocco del current frame con tutti i blocchi del reference frame. In questo modo si ottiene il miglior match possibile (rispetto alla metrica SAD) a discapito però di un costo computazionale molto alto.</a:t>
            </a:r>
            <a:endParaRPr/>
          </a:p>
          <a:p>
            <a:pPr indent="0" lvl="0" marL="0" rtl="0" algn="l">
              <a:spcBef>
                <a:spcPts val="0"/>
              </a:spcBef>
              <a:spcAft>
                <a:spcPts val="0"/>
              </a:spcAft>
              <a:buSzPts val="1100"/>
              <a:buNone/>
            </a:pPr>
            <a:r>
              <a:t/>
            </a:r>
            <a:endParaRPr/>
          </a:p>
        </p:txBody>
      </p:sp>
      <p:sp>
        <p:nvSpPr>
          <p:cNvPr id="265" name="Google Shape;265;g3e403bb7999_53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e403bb7999_53_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solidFill>
                  <a:schemeClr val="dk1"/>
                </a:solidFill>
              </a:rPr>
              <a:t>Il costo della Full Search è quadratico rispetto al numero totale di blocchi che compongono il frame. </a:t>
            </a:r>
            <a:r>
              <a:rPr lang="it-IT">
                <a:solidFill>
                  <a:schemeClr val="dk1"/>
                </a:solidFill>
              </a:rPr>
              <a:t>(Omesso il costo costante per blocco)</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it-IT">
                <a:solidFill>
                  <a:schemeClr val="dk1"/>
                </a:solidFill>
              </a:rPr>
              <a:t>Nella Range Search, invece, ogni blocco del current frame viene confrontato solo con i blocchi del reference frame che ricadono nell search area. Questa area è centrata nelle stesse coordinate del blocco nel current frame, ed estesa per un determinato range (il raggio di ricerca): sono quindi le coordinate del blocco stesso a definire il centro dell'area di ricerca nel reference frame.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
        <p:nvSpPr>
          <p:cNvPr id="281" name="Google Shape;281;g3e403bb7999_53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g3e403bb7999_1_2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IT">
                <a:solidFill>
                  <a:schemeClr val="dk1"/>
                </a:solidFill>
              </a:rPr>
              <a:t>Nel caso della Range Search, la complessità non è più quadratica nel numero di blocchi del frame, ma dipende unicamente dal raggio di ricerca, risultando quindi lineare rispetto al numero di blocchi, con un fattore costante determinato dal range scelto. </a:t>
            </a:r>
            <a:r>
              <a:rPr lang="it-IT">
                <a:solidFill>
                  <a:schemeClr val="dk1"/>
                </a:solidFill>
              </a:rPr>
              <a:t>(Omesso il costo costante per blocco)</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a:p>
            <a:pPr indent="0" lvl="0" marL="0" rtl="0" algn="l">
              <a:spcBef>
                <a:spcPts val="0"/>
              </a:spcBef>
              <a:spcAft>
                <a:spcPts val="0"/>
              </a:spcAft>
              <a:buClr>
                <a:schemeClr val="dk1"/>
              </a:buClr>
              <a:buSzPts val="1100"/>
              <a:buFont typeface="Arial"/>
              <a:buNone/>
            </a:pPr>
            <a:r>
              <a:rPr lang="it-IT">
                <a:solidFill>
                  <a:schemeClr val="dk1"/>
                </a:solidFill>
              </a:rPr>
              <a:t>La Logarithmic Search, invece, non considera tutti i blocchi contenuti nell'area di ricerca, ma esclusivamente gli 8 blocchi posti a una distanza esatta pari alla distanza di ricerca corrente, più il blocco centrale.</a:t>
            </a:r>
            <a:endParaRPr>
              <a:solidFill>
                <a:schemeClr val="dk1"/>
              </a:solidFill>
            </a:endParaRPr>
          </a:p>
          <a:p>
            <a:pPr indent="0" lvl="0" marL="0" rtl="0" algn="l">
              <a:spcBef>
                <a:spcPts val="0"/>
              </a:spcBef>
              <a:spcAft>
                <a:spcPts val="0"/>
              </a:spcAft>
              <a:buClr>
                <a:schemeClr val="dk1"/>
              </a:buClr>
              <a:buSzPts val="1100"/>
              <a:buFont typeface="Arial"/>
              <a:buNone/>
            </a:pPr>
            <a:r>
              <a:rPr lang="it-IT">
                <a:solidFill>
                  <a:schemeClr val="dk1"/>
                </a:solidFill>
              </a:rPr>
              <a:t>Alla prima iterazione, il centro di ricerca nel reference frame corrisponde alle stesse coordinate del blocco nel current frame. A ogni iterazione successiva si sceglie come nuovo centro il miglior candidato trovato nell'iterazione precedente, e si dimezza la distanza di ricerca. L'ultima iterazione, con distanza pari a 1, restituisce il blocco finale scelto come miglior match.</a:t>
            </a:r>
            <a:endParaRPr>
              <a:solidFill>
                <a:schemeClr val="dk1"/>
              </a:solidFill>
            </a:endParaRPr>
          </a:p>
        </p:txBody>
      </p:sp>
      <p:sp>
        <p:nvSpPr>
          <p:cNvPr id="306" name="Google Shape;306;g3e403bb7999_1_28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3e403bb7999_53_9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it-IT">
                <a:solidFill>
                  <a:schemeClr val="dk1"/>
                </a:solidFill>
              </a:rPr>
              <a:t>La Logarithmic Search ha una complessità lineare nel numero di blocchi e logaritmica nella distanza di ricerca. </a:t>
            </a:r>
            <a:r>
              <a:rPr lang="it-IT">
                <a:solidFill>
                  <a:schemeClr val="dk1"/>
                </a:solidFill>
              </a:rPr>
              <a:t>(Omesso il costo costante per blocco)</a:t>
            </a:r>
            <a:endParaRPr>
              <a:solidFill>
                <a:schemeClr val="dk1"/>
              </a:solidFill>
            </a:endParaRPr>
          </a:p>
          <a:p>
            <a:pPr indent="0" lvl="0" marL="0" rtl="0" algn="l">
              <a:lnSpc>
                <a:spcPct val="100000"/>
              </a:lnSpc>
              <a:spcBef>
                <a:spcPts val="0"/>
              </a:spcBef>
              <a:spcAft>
                <a:spcPts val="0"/>
              </a:spcAft>
              <a:buNone/>
            </a:pPr>
            <a:r>
              <a:t/>
            </a:r>
            <a:endParaRPr>
              <a:solidFill>
                <a:schemeClr val="dk1"/>
              </a:solidFill>
            </a:endParaRPr>
          </a:p>
          <a:p>
            <a:pPr indent="0" lvl="0" marL="0" rtl="0" algn="l">
              <a:lnSpc>
                <a:spcPct val="100000"/>
              </a:lnSpc>
              <a:spcBef>
                <a:spcPts val="0"/>
              </a:spcBef>
              <a:spcAft>
                <a:spcPts val="0"/>
              </a:spcAft>
              <a:buNone/>
            </a:pPr>
            <a:r>
              <a:rPr lang="it-IT">
                <a:solidFill>
                  <a:schemeClr val="dk1"/>
                </a:solidFill>
              </a:rPr>
              <a:t> Con un range sufficientemente ampio, permette di ottenere un risultato spesso vicino a quello della Full Search, pur senza garantirne l'ottimalità: lo schema di campionamento può infatti convergere su un minimo locale, non necessariamente il minimo assoluto individuato esplorando ogni singolo blocco.</a:t>
            </a:r>
            <a:endParaRPr b="1"/>
          </a:p>
        </p:txBody>
      </p:sp>
      <p:sp>
        <p:nvSpPr>
          <p:cNvPr id="330" name="Google Shape;330;g3e403bb7999_53_9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e403bb7999_53_1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55" name="Google Shape;355;g3e403bb7999_53_1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g3a8acd9aace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In questa prima versione CPU naive, si scorrono sequenzialmente i blocchi del current frame; per ognuno di essi si scorrono a loro volta sequenzialmente tutti i possibili blocchi candidati nel reference frame. Per ogni coppia di blocchi si scorrono i pixel (byte per byte) calcolando il SAD; infine, per ogni blocco del current frame si sceglie il miglior candidato in base al SAD minore e, a parità di SAD, in base al motion vector più breve.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Da notare che bestSAD viene inizializzato a INT_MAX e bestMV a {0, 0}: questo garantisce che il primo blocco candidato analizzato venga sempre accettato come miglior candidato iniziale, poiché qualunque valore di SAD reale sarà necessariamente minore di INT_MAX. Il valore di inizializzazione di bestMV non influisce quindi sul risultato finale, dato che verrà comunque sovrascritto alla prima iterazione — con un'eccezione apparente: se il miglior candidato coincide esattamente con le stesse coordinate del blocco nel current frame, il motion vector calcolato sarà anch'esso {0,0}. In questo caso il valore non è "rimasto" quello iniziale per mancato aggiornamento, ma è stato comunque scritto dal ciclo, semplicemente coincide con l'inizializzazione, mentre il SAD associato sarà comunque un valore reale, minore di INT_MAX.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Da questa versione si nota innanzitutto che l'esecuzione relativa ai diversi blocchi del current frame è completamente indipendente tra loro. Anche il calcolo del SAD tra ogni coppia di blocchi è di per sé parallelizzabile, poiché le differenze parziali pixel per pixel sono indipendenti l'una dall'altra; tuttavia, per ottenere il valore finale di SAD è comunque necessaria una fase di riduzione (somma di tutti i contributi parziali) prima di poter individuare il miglior candidato.</a:t>
            </a:r>
            <a:endParaRPr/>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b="1" lang="it-IT"/>
              <a:t>Aritmetic intensity: </a:t>
            </a:r>
            <a:endParaRPr b="1"/>
          </a:p>
          <a:p>
            <a:pPr indent="0" lvl="0" marL="0" rtl="0" algn="l">
              <a:lnSpc>
                <a:spcPct val="100000"/>
              </a:lnSpc>
              <a:spcBef>
                <a:spcPts val="0"/>
              </a:spcBef>
              <a:spcAft>
                <a:spcPts val="0"/>
              </a:spcAft>
              <a:buSzPts val="1100"/>
              <a:buNone/>
            </a:pPr>
            <a:r>
              <a:rPr lang="it-IT"/>
              <a:t>per ogni pixel si effettuano 2 accessi in memoria (un byte da curr e un byte da ref) a fronte di 3 operazioni aritmetiche (sottrazione, valore assoluto, accumulo), un rapporto di circa 1,5 operazioni per byte.</a:t>
            </a:r>
            <a:endParaRPr/>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t/>
            </a:r>
            <a:endParaRPr b="1"/>
          </a:p>
        </p:txBody>
      </p:sp>
      <p:sp>
        <p:nvSpPr>
          <p:cNvPr id="362" name="Google Shape;362;g3a8acd9aace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3a8ae578da7_5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Una prima idea di soluzione di parallelizzazione CUDA segue il principio di mappare la CUDA grid sulla griglia dei blocchi del current frame, e il CUDA block sulla finestra di ricerca nel reference frame.</a:t>
            </a:r>
            <a:endParaRPr/>
          </a:p>
          <a:p>
            <a:pPr indent="0" lvl="0" marL="0" rtl="0" algn="l">
              <a:lnSpc>
                <a:spcPct val="100000"/>
              </a:lnSpc>
              <a:spcBef>
                <a:spcPts val="0"/>
              </a:spcBef>
              <a:spcAft>
                <a:spcPts val="0"/>
              </a:spcAft>
              <a:buSzPts val="1100"/>
              <a:buNone/>
            </a:pPr>
            <a:r>
              <a:rPr lang="it-IT"/>
              <a:t>L'esecuzione prevede innanzitutto il caricamento del current frame e del reference frame in memoria globale (GMEM). Il kernel calcola quindi, in parallelo, il SAD tra ogni blocco candidato del reference frame e il blocco corrispondente del current frame. Infine, tramite una riduzione finale a livello di blocco (block-wide reduction), si individua il miglior candidato per ogni blocco del current frame.</a:t>
            </a:r>
            <a:endParaRPr/>
          </a:p>
        </p:txBody>
      </p:sp>
      <p:sp>
        <p:nvSpPr>
          <p:cNvPr id="379" name="Google Shape;379;g3a8ae578da7_5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7" name="Shape 387"/>
        <p:cNvGrpSpPr/>
        <p:nvPr/>
      </p:nvGrpSpPr>
      <p:grpSpPr>
        <a:xfrm>
          <a:off x="0" y="0"/>
          <a:ext cx="0" cy="0"/>
          <a:chOff x="0" y="0"/>
          <a:chExt cx="0" cy="0"/>
        </a:xfrm>
      </p:grpSpPr>
      <p:sp>
        <p:nvSpPr>
          <p:cNvPr id="388" name="Google Shape;388;g3a8ae578da7_5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solidFill>
                  <a:schemeClr val="dk1"/>
                </a:solidFill>
              </a:rPr>
              <a:t>Dimensioni del Grid:</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Seguendo l'idea del mapping diretto, costruiamo una Grid CUDA con le stesse identiche dimensioni della griglia di blocchi del frame (1 blocco CUDA = 1 blocco dell'immagine).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Il superamento dei limiti fisici dell'hardware relativi al numero massimo di blocchi è uno scenario irrealistico: dover gestire un'immagine composta da oltre 65.000 blocchi per dimensione sarebbe del tutto controproducente.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Inoltre, il codice non è vincolato alla definizione statica delle dimensioni della Grid a tempo di compilazione: possiamo quindi calcolarle comodamente in modo dinamico a runtime.</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rPr lang="it-IT">
                <a:solidFill>
                  <a:schemeClr val="dk1"/>
                </a:solidFill>
              </a:rPr>
              <a:t>Dimensioni del Blocco:</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In teoria, si potrebbe mappare 1:1 anche lo spazio di ricerca (le posizioni candidate) con i thread del blocco CUDA.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Tuttavia, l'uso della libreria cub::BlockReduce impone la necessità di conoscere a compile time la dimensione del blocco CUDA, poiché CUB deve allocare internamente la shared memory (SMEM) in maniera statica.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Di conseguenza, la scelta più naturale ricade sul costruire blocchi quadrati, con dimensioni potenza di 2, rispettando ovviamente i limiti dell'hardware.</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Questo gioca leggermente a svantaggio nei casi in cui lo spazio di ricerca non si allinea in scala 1:1 con il numero di thread. Nel codice, però, si sceglie la potenza di 2 più grande ma minore o uguale al numero "naturale" di posizioni candidate: questo significa che il numero di thread viene sempre sottostimato rispetto allo spazio di ricerca, non sovrastimato. Di conseguenza, non si ha mai spreco di thread inattivi: al massimo, alcuni thread si troveranno a dover processare una candidata in più rispetto ad altri, per coprire l'intero spazio di ricerca.</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it-IT">
                <a:solidFill>
                  <a:schemeClr val="dk1"/>
                </a:solidFill>
              </a:rPr>
              <a:t>Tuttavia, nella pratica è molto comune avere finestre di ricerca ampie. Capiterà quindi molto più spesso che il numero di posizioni superi i thread disponibili, piuttosto che il contrario: avremo semplicemente dei thread che compiono più iterazioni rispetto ad altri, per coprire l'intero spazio di ricerca.</a:t>
            </a:r>
            <a:endParaRPr>
              <a:solidFill>
                <a:schemeClr val="dk1"/>
              </a:solidFill>
            </a:endParaRPr>
          </a:p>
        </p:txBody>
      </p:sp>
      <p:sp>
        <p:nvSpPr>
          <p:cNvPr id="389" name="Google Shape;389;g3a8ae578da7_5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38b7fa136ad_1_1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a:p>
            <a:pPr indent="0" lvl="0" marL="0" rtl="0" algn="l">
              <a:lnSpc>
                <a:spcPct val="100000"/>
              </a:lnSpc>
              <a:spcBef>
                <a:spcPts val="0"/>
              </a:spcBef>
              <a:spcAft>
                <a:spcPts val="0"/>
              </a:spcAft>
              <a:buSzPts val="1100"/>
              <a:buNone/>
            </a:pPr>
            <a:r>
              <a:rPr lang="it-IT"/>
              <a:t>Nell'esecuzione del kernel, concentriamoci sul caso in cui il numero di candidati per ogni blocco del frame corrente è contenuto nel numero di threads per blocco, quindi quando il ciclo for esegue una sola iterazione per ogni thread, cioè il caso in cui total_threads è sufficiente a coprire tutte le posizioni candidate in un solo passaggio, senza bisogno di ulteriori iterazioni.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In questo scenario, ogni thread elabora al più una sola coppia di blocchi, associata al proprio indice lineare tid all'interno del blocco CUDA. Questo indice viene convertito in coordinate a blocchi bidimensionali all'interno della finestra di ricerca, tramite modulo e divisione rispetto alla larghezza della finestra: ref_bx = pos % larghezza, ref_by = pos / larghezza. Si tratta ancora di coordinate "astratte", cioè indici di blocco, esattamente come nella slide sulla Grid Division. Per ottenere le coordinate pixel effettive del blocco candidato nel reference frame, questi indici vengono poi moltiplicati per blockSize: ref_x = ref_bx * blockSize, ref_y = ref_by * blockSize. Il tread successivamente si salva il suo miglior non che unico candidato (SAD,dx,dy)</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A questo punto si calcola il SAD tramite computeSAD_device, a cui vengono forniti i puntatori in GMEM al current frame e al reference frame, oltre alle coordinate pixel del blocco corrente e del blocco candidato.</a:t>
            </a:r>
            <a:endParaRPr/>
          </a:p>
          <a:p>
            <a:pPr indent="0" lvl="0" marL="0" rtl="0" algn="l">
              <a:lnSpc>
                <a:spcPct val="100000"/>
              </a:lnSpc>
              <a:spcBef>
                <a:spcPts val="0"/>
              </a:spcBef>
              <a:spcAft>
                <a:spcPts val="0"/>
              </a:spcAft>
              <a:buSzPts val="1100"/>
              <a:buNone/>
            </a:pPr>
            <a:r>
              <a:rPr lang="it-IT"/>
              <a:t>Il funzionamento è concettualmente identico alla versione CPU, con qualche differenza nell'accesso agli array dei frame. Nella versione CPU, l'indicizzazione del pixel era incapsulata all'interno del metodo .at() della classe immagine; nel kernel CUDA, invece, l'indice lineare viene calcolato esplicitamente, riga moltiplicata per la larghezza del frame, più colonna  e l'accesso avviene direttamente su un puntatore in GMEM, dato che il frame è memorizzato in row-major order. </a:t>
            </a:r>
            <a:endParaRPr/>
          </a:p>
          <a:p>
            <a:pPr indent="0" lvl="0" marL="0" rtl="0" algn="l">
              <a:lnSpc>
                <a:spcPct val="100000"/>
              </a:lnSpc>
              <a:spcBef>
                <a:spcPts val="0"/>
              </a:spcBef>
              <a:spcAft>
                <a:spcPts val="0"/>
              </a:spcAft>
              <a:buSzPts val="1100"/>
              <a:buNone/>
            </a:pPr>
            <a:r>
              <a:rPr lang="it-IT"/>
              <a:t>Una volta linearizzati gli indici, il thread itera pixel per pixel all'interno del blocco, calcolando il SAD tramite la direttiva __usad: un'intrinsic CUDA che calcola in un'unica istruzione la somma tra un accumulatore e la differenza assoluta tra due valori, al posto delle operazioni separate (sottrazione, valore assoluto, addizione) viste nella versione CPU.</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Caso limite: numero di candidati minore del numero di thread. Se il numero di posizioni candidate fosse inferiore al numero di thread disponibili nel blocco CUDA, i thread con indice tid maggiore o uguale al numero di candidati non entrerebbero mai nel ciclo, la condizione pos &lt; total_candidates risulterebbe già falsa alla prima iterazione, e questi thread resterebbero quindi inattivi, senza calcolare alcun SAD.</a:t>
            </a:r>
            <a:endParaRPr/>
          </a:p>
          <a:p>
            <a:pPr indent="0" lvl="0" marL="0" rtl="0" algn="l">
              <a:lnSpc>
                <a:spcPct val="100000"/>
              </a:lnSpc>
              <a:spcBef>
                <a:spcPts val="0"/>
              </a:spcBef>
              <a:spcAft>
                <a:spcPts val="0"/>
              </a:spcAft>
              <a:buSzPts val="1100"/>
              <a:buNone/>
            </a:pPr>
            <a:r>
              <a:rPr lang="it-IT"/>
              <a:t>Tuttavia, nel caso della Full Search questo scenario non può verificarsi, per come è costruita la scelta della dimensione del blocco CUDA: essendo sempre la potenza di 2 più grande possibile ma non superiore al numero di blocchi del reference frame, tale scelta è per sua natura conservativa, e garantisce quindi che il numero di candidati sia sempre maggiore o uguale al numero di thread disponibili.</a:t>
            </a:r>
            <a:endParaRPr/>
          </a:p>
        </p:txBody>
      </p:sp>
      <p:sp>
        <p:nvSpPr>
          <p:cNvPr id="414" name="Google Shape;414;g38b7fa136ad_1_1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3f00540ff8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Nel caso in cui, invece, il numero di thread non sia sufficiente rispetto al numero di blocchi candidati, ogni thread itera esattamente per il numero di iterazioni necessario a coprire tutti i candidati assegnati, seguendo la strategia di thread coarsening già descritta: ad ogni iterazione, tutti i thread confrontano il candidato appena valutato con il miglior risultato trovato fino a quel momento, aggiornando il proprio best locale se necessario.</a:t>
            </a:r>
            <a:endParaRPr>
              <a:solidFill>
                <a:schemeClr val="dk1"/>
              </a:solidFill>
            </a:endParaRPr>
          </a:p>
          <a:p>
            <a:pPr indent="0" lvl="0" marL="0" rtl="0" algn="l">
              <a:lnSpc>
                <a:spcPct val="115000"/>
              </a:lnSpc>
              <a:spcBef>
                <a:spcPts val="1200"/>
              </a:spcBef>
              <a:spcAft>
                <a:spcPts val="1200"/>
              </a:spcAft>
              <a:buSzPts val="1100"/>
              <a:buNone/>
            </a:pPr>
            <a:r>
              <a:rPr lang="it-IT">
                <a:solidFill>
                  <a:schemeClr val="dk1"/>
                </a:solidFill>
              </a:rPr>
              <a:t>Tutti i thread eseguono sicuramente almeno un'iterazione (calcolando il SAD per almeno una coppia di blocchi); a seconda del rapporto tra numero di blocchi candidati e numero di thread disponibili, alcuni thread potrebbero però rimanere inattivi nelle iterazioni successive alla prima, una volta esauriti i candidati loro assegnati-</a:t>
            </a:r>
            <a:endParaRPr>
              <a:solidFill>
                <a:schemeClr val="dk1"/>
              </a:solidFill>
            </a:endParaRPr>
          </a:p>
        </p:txBody>
      </p:sp>
      <p:sp>
        <p:nvSpPr>
          <p:cNvPr id="434" name="Google Shape;434;g3f00540ff8e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4" name="Shape 454"/>
        <p:cNvGrpSpPr/>
        <p:nvPr/>
      </p:nvGrpSpPr>
      <p:grpSpPr>
        <a:xfrm>
          <a:off x="0" y="0"/>
          <a:ext cx="0" cy="0"/>
          <a:chOff x="0" y="0"/>
          <a:chExt cx="0" cy="0"/>
        </a:xfrm>
      </p:grpSpPr>
      <p:sp>
        <p:nvSpPr>
          <p:cNvPr id="455" name="Google Shape;455;g38b7fa136ad_1_1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Non appena ogni thread ha trovato il proprio miglior candidato locale, si può iniziare la riduzione tra i vari local_best, per trovare il miglior candidato complessivo per il blocco del current frame assegnato al blocco CUDA.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Per realizzare questa riduzione si utilizza cub::BlockReduce. Il motivo principale per cui è necessario conoscere la dimensione del blocco CUDA a compile time è che questa soluzione prevede la dichiarazione della SMEM in maniera statica, a supporto della riduzione stessa.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La block reduction si basa sull'operatore CandidateSadOp, che confronta due candidati secondo tre criteri applicati in ordine di priorità: innanzitutto il SAD più basso; in caso di parità, il motion vector più corto (distanza euclidea al quadrato minore); infine, se anche la distanza euclidea risultasse identica tra due candidati diversi (ad esempio [3,4] e [4,3], che hanno la stessa distanza ma componenti diverse), un criterio di ordinamento deterministico basato prima sul valore di dy più piccolo, poi su dx più piccolo. Questo terzo criterio garantisce che il risultato della riduzione sia sempre riproducibile, indipendentemente dall'ordine non deterministico con cui i thread vengono combinati durante la riduzione parallela. Lato CPU questo terzo criterio non è necessario, visto che avviene tutto in maniera sequenziale.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Una volta completata la block reduction, il thread 0 del blocco CUDA si occupa di salvare il motion vector risultante in memoria globale (GMEM).</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
        <p:nvSpPr>
          <p:cNvPr id="456" name="Google Shape;456;g38b7fa136ad_1_17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3e5df9fda95_0_1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Compute (SM) Throughput: 71,19% &amp; Memory Throughput: 95,79%</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kernel esegue operazioni aritmetiche semplici, ma accede continuamente alla memoria GMEM per leggere sia i blocchi del current frame che quelli del reference frame, coerentemente con la bassa arithmetic intensity già discussa per la versione CPU (~1.5). Il memory throughput più alto rispetto al compute throughput conferma che il kernel è memory-bound.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L1 Cache Throughput: 99,57% &amp; L1 Cache Hit Rate: 97,00%</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La banda passante della cache L1 è completamente saturata. Il kernel legge il reference frame usando un pattern non-coalesced: 1024 thread leggono simultaneamente da posizioni sparse in memoria. Anche se i dati si trovano già in L1, le richieste risultano comunque frammentate.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L2 Cache Throughput: 6,23% &amp; L2 Cache Hit Rate: 99,68%</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L'hit rate della cache L2 sarebbe anche ottimo, ma la cache L1 assorbe la quasi totalità del traffico prima che possa raggiungere L2, motivo per cui il throughput su L2 risulta così basso nonostante l'ottimo hit rate.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Uncoalesced Accesses, 94% Waste</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La memoria globale viene caricata in linee di cache da 128 byte: ogni linea carica 128 byte in un'unica operazione. Nel kernel, i 1024 thread leggono sia il reference frame che il current frame secondo un pattern completamente sparso: ogni thread utilizza solo 4-8 byte dei 128 caricati per linea, generando uno spreco di circa il 94%.</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Achieved Occupancy: 97,45%</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kernel utilizza la shared memory (SMEM) solo per il </a:t>
            </a:r>
            <a:r>
              <a:rPr lang="it-IT">
                <a:solidFill>
                  <a:srgbClr val="188038"/>
                </a:solidFill>
                <a:latin typeface="Roboto Mono"/>
                <a:ea typeface="Roboto Mono"/>
                <a:cs typeface="Roboto Mono"/>
                <a:sym typeface="Roboto Mono"/>
              </a:rPr>
              <a:t>TempStorage</a:t>
            </a:r>
            <a:r>
              <a:rPr lang="it-IT">
                <a:solidFill>
                  <a:schemeClr val="dk1"/>
                </a:solidFill>
              </a:rPr>
              <a:t> di </a:t>
            </a:r>
            <a:r>
              <a:rPr lang="it-IT">
                <a:solidFill>
                  <a:srgbClr val="188038"/>
                </a:solidFill>
                <a:latin typeface="Roboto Mono"/>
                <a:ea typeface="Roboto Mono"/>
                <a:cs typeface="Roboto Mono"/>
                <a:sym typeface="Roboto Mono"/>
              </a:rPr>
              <a:t>cub::BlockReduce</a:t>
            </a:r>
            <a:r>
              <a:rPr lang="it-IT">
                <a:solidFill>
                  <a:schemeClr val="dk1"/>
                </a:solidFill>
              </a:rPr>
              <a:t>, che richiede circa 2-4 KB per blocchi da 1024 thread. Anche la register pressure risulta bassa, permettendo un'occupancy molto elevata.</a:t>
            </a:r>
            <a:endParaRPr>
              <a:solidFill>
                <a:schemeClr val="dk1"/>
              </a:solidFill>
            </a:endParaRPr>
          </a:p>
          <a:p>
            <a:pPr indent="0" lvl="0" marL="0" rtl="0" algn="l">
              <a:lnSpc>
                <a:spcPct val="100000"/>
              </a:lnSpc>
              <a:spcBef>
                <a:spcPts val="1200"/>
              </a:spcBef>
              <a:spcAft>
                <a:spcPts val="0"/>
              </a:spcAft>
              <a:buSzPts val="1100"/>
              <a:buNone/>
            </a:pPr>
            <a:r>
              <a:t/>
            </a:r>
            <a:endParaRPr b="1"/>
          </a:p>
        </p:txBody>
      </p:sp>
      <p:sp>
        <p:nvSpPr>
          <p:cNvPr id="475" name="Google Shape;475;g3e5df9fda95_0_17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3" name="Shape 483"/>
        <p:cNvGrpSpPr/>
        <p:nvPr/>
      </p:nvGrpSpPr>
      <p:grpSpPr>
        <a:xfrm>
          <a:off x="0" y="0"/>
          <a:ext cx="0" cy="0"/>
          <a:chOff x="0" y="0"/>
          <a:chExt cx="0" cy="0"/>
        </a:xfrm>
      </p:grpSpPr>
      <p:sp>
        <p:nvSpPr>
          <p:cNvPr id="484" name="Google Shape;484;g3e80c0a3fea_0_5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t>Testato con 15 iterazioni reali e 3 run di warmup.</a:t>
            </a:r>
            <a:endParaRPr/>
          </a:p>
          <a:p>
            <a:pPr indent="0" lvl="0" marL="0" rtl="0" algn="l">
              <a:lnSpc>
                <a:spcPct val="115000"/>
              </a:lnSpc>
              <a:spcBef>
                <a:spcPts val="1200"/>
              </a:spcBef>
              <a:spcAft>
                <a:spcPts val="0"/>
              </a:spcAft>
              <a:buClr>
                <a:schemeClr val="dk1"/>
              </a:buClr>
              <a:buSzPts val="1100"/>
              <a:buFont typeface="Arial"/>
              <a:buNone/>
            </a:pPr>
            <a:r>
              <a:rPr lang="it-IT"/>
              <a:t>Osserviamo innanzitutto che lo scenario di thread coarsening entra in gioco a partire dalla risoluzione 2048×2048, poiché fino a 1024×1024 il numero di blocchi candidati rimane entro il limite di 1024 thread disponibili per blocco CUDA.</a:t>
            </a:r>
            <a:endParaRPr/>
          </a:p>
          <a:p>
            <a:pPr indent="0" lvl="0" marL="0" rtl="0" algn="l">
              <a:lnSpc>
                <a:spcPct val="115000"/>
              </a:lnSpc>
              <a:spcBef>
                <a:spcPts val="1200"/>
              </a:spcBef>
              <a:spcAft>
                <a:spcPts val="0"/>
              </a:spcAft>
              <a:buClr>
                <a:schemeClr val="dk1"/>
              </a:buClr>
              <a:buSzPts val="1100"/>
              <a:buFont typeface="Arial"/>
              <a:buNone/>
            </a:pPr>
            <a:r>
              <a:rPr lang="it-IT"/>
              <a:t>L'aspetto più importante, tuttavia, riguarda il memory bottleneck, che si manifesta in due forme distinte. La prima è l'overhead di trasferimento H2D/D2H: il tempo del solo kernel risulta sempre inferiore ai tempi della CPU, a ogni risoluzione testata; tuttavia, se si considera il tempo totale (che include anche il trasferimento dei dati tra host e device), questo può risultare superiore rispetto alla CPU, specialmente alle risoluzioni più basse. Questo accade perché, a risoluzioni contenute, il costo dei trasferimenti di memoria domina rispetto al costo computazionale del kernel, mascherando il vantaggio prestazionale della GPU a livello di solo calcolo.</a:t>
            </a:r>
            <a:endParaRPr/>
          </a:p>
          <a:p>
            <a:pPr indent="0" lvl="0" marL="0" rtl="0" algn="l">
              <a:lnSpc>
                <a:spcPct val="115000"/>
              </a:lnSpc>
              <a:spcBef>
                <a:spcPts val="1200"/>
              </a:spcBef>
              <a:spcAft>
                <a:spcPts val="0"/>
              </a:spcAft>
              <a:buSzPts val="1100"/>
              <a:buNone/>
            </a:pPr>
            <a:r>
              <a:rPr lang="it-IT"/>
              <a:t>La seconda forma di memory bottleneck riguarda invece l'esecuzione stessa del kernel: come già osservato nel profiling, il pattern di accesso non-coalesced alla memoria globale genera traffico eccessivo e spreca gran parte della banda passante disponibile (circa il 94%, come visto in precedenza). Questo significa che, anche una volta trasferiti i dati sulla GPU, il kernel non sfrutta la memoria in modo efficiente.</a:t>
            </a:r>
            <a:endParaRPr/>
          </a:p>
          <a:p>
            <a:pPr indent="0" lvl="0" marL="0" rtl="0" algn="l">
              <a:lnSpc>
                <a:spcPct val="115000"/>
              </a:lnSpc>
              <a:spcBef>
                <a:spcPts val="1200"/>
              </a:spcBef>
              <a:spcAft>
                <a:spcPts val="0"/>
              </a:spcAft>
              <a:buClr>
                <a:schemeClr val="dk1"/>
              </a:buClr>
              <a:buSzPts val="1100"/>
              <a:buFont typeface="Arial"/>
              <a:buNone/>
            </a:pPr>
            <a:r>
              <a:rPr lang="it-IT"/>
              <a:t>Solo alle risoluzioni più elevate il costo computazionale del kernel emerge chiaramente e diventa il fattore dominante, saturando le risorse della GPU, pur restando comunque penalizzato dall'inefficienza di accesso alla memoria appena descritta.</a:t>
            </a:r>
            <a:endParaRPr/>
          </a:p>
          <a:p>
            <a:pPr indent="0" lvl="0" marL="0" rtl="0" algn="l">
              <a:lnSpc>
                <a:spcPct val="100000"/>
              </a:lnSpc>
              <a:spcBef>
                <a:spcPts val="1200"/>
              </a:spcBef>
              <a:spcAft>
                <a:spcPts val="0"/>
              </a:spcAft>
              <a:buSzPts val="1100"/>
              <a:buNone/>
            </a:pPr>
            <a:r>
              <a:t/>
            </a:r>
            <a:endParaRPr/>
          </a:p>
        </p:txBody>
      </p:sp>
      <p:sp>
        <p:nvSpPr>
          <p:cNvPr id="485" name="Google Shape;485;g3e80c0a3fea_0_5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6" name="Shape 496"/>
        <p:cNvGrpSpPr/>
        <p:nvPr/>
      </p:nvGrpSpPr>
      <p:grpSpPr>
        <a:xfrm>
          <a:off x="0" y="0"/>
          <a:ext cx="0" cy="0"/>
          <a:chOff x="0" y="0"/>
          <a:chExt cx="0" cy="0"/>
        </a:xfrm>
      </p:grpSpPr>
      <p:sp>
        <p:nvSpPr>
          <p:cNvPr id="497" name="Google Shape;497;g3e80c0a3fea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testato con 15 iterazioni reali e 3 run di warmup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Tuttavia, aumentando la block size si aumenta anche il carico di lavoro del singolo thread, che sarà costretto a calcolare sequenzialmente il SAD tra un numero quadraticamente maggiore di pixel.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t/>
            </a:r>
            <a:endParaRPr/>
          </a:p>
        </p:txBody>
      </p:sp>
      <p:sp>
        <p:nvSpPr>
          <p:cNvPr id="498" name="Google Shape;498;g3e80c0a3fea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3e47f159e64_0_2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stesso blocco CUDA accedono tutti al medesimo blocco del current frame, quindi questo può essere caricato in SMEM per migliorare l'accesso. Inoltre, il calcolo del SAD pixel per pixel può essere parallelizzato, per poi essere ridotto opportunamente.</a:t>
            </a:r>
            <a:endParaRPr/>
          </a:p>
          <a:p>
            <a:pPr indent="0" lvl="0" marL="0" rtl="0" algn="l">
              <a:lnSpc>
                <a:spcPct val="100000"/>
              </a:lnSpc>
              <a:spcBef>
                <a:spcPts val="0"/>
              </a:spcBef>
              <a:spcAft>
                <a:spcPts val="0"/>
              </a:spcAft>
              <a:buSzPts val="1100"/>
              <a:buNone/>
            </a:pPr>
            <a:r>
              <a:rPr lang="it-IT"/>
              <a:t>L'idea alla base è quindi mantenere la struttura della grid CUDA identica al kernel precedente, aggiungendo però una dimensione al CUDA block per parallelizzare il calcolo del SAD.</a:t>
            </a:r>
            <a:endParaRPr/>
          </a:p>
          <a:p>
            <a:pPr indent="0" lvl="0" marL="0" rtl="0" algn="l">
              <a:lnSpc>
                <a:spcPct val="100000"/>
              </a:lnSpc>
              <a:spcBef>
                <a:spcPts val="0"/>
              </a:spcBef>
              <a:spcAft>
                <a:spcPts val="0"/>
              </a:spcAft>
              <a:buSzPts val="1100"/>
              <a:buNone/>
            </a:pPr>
            <a:r>
              <a:rPr lang="it-IT"/>
              <a:t>Lato host si caricano i frame in GMEM e si calcola la dimensione della SMEM necessaria per ospitare il blocco del current frame. Lato kernel, il blocco corrente viene caricato in SMEM in modo cooperativo tra i thread; segue il calcolo del SAD parziale e la prima riduzione (a livello di warp) per ottenere il SAD totale di ciascuna coppia di blocchi candidati, e infine la riduzione finale tra tutti i candidati per individuare il migliore per il blocco del current frame assegnato al CUDA block.</a:t>
            </a:r>
            <a:endParaRPr/>
          </a:p>
        </p:txBody>
      </p:sp>
      <p:sp>
        <p:nvSpPr>
          <p:cNvPr id="512" name="Google Shape;512;g3e47f159e64_0_2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e47f159e64_0_2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CUDA grid: come nel kernel naive.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CUDA block: in questo caso, le dimensioni YZ operano come il blocco CUDA nel kernel precedente, quindi mappano il reference frame. I thread rimanenti disponibili per saturare i limiti hardware vengono aggiunti sulla dimensione X e verranno utilizzati per calcolare il SAD parziale, che poi sarà aggregato per ottenere il total SAD. Se la configurazione di YZ supera i limiti hardware, viene utilizzata una configurazione fallback di default.</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La scelta di parallelizzare il SAD lungo X, e ad esempio non lungo Z, è dettata dal fatto che i risultati dei thread che calcolano i SAD parziali devono essere aggregati tramite warp reduction, quindi usando intrinsics CUDA come __shfl_down, e ciò è possibile solo se i thread sono fisicamente adiacenti.</a:t>
            </a:r>
            <a:endParaRPr/>
          </a:p>
          <a:p>
            <a:pPr indent="0" lvl="0" marL="0" rtl="0" algn="l">
              <a:lnSpc>
                <a:spcPct val="100000"/>
              </a:lnSpc>
              <a:spcBef>
                <a:spcPts val="0"/>
              </a:spcBef>
              <a:spcAft>
                <a:spcPts val="0"/>
              </a:spcAft>
              <a:buSzPts val="1100"/>
              <a:buNone/>
            </a:pPr>
            <a:r>
              <a:rPr lang="it-IT"/>
              <a:t>Per quanto riguarda gli indici: tidx_yz è l'indice lineare del thread calcolato solo sulle dimensioni Y e Z, usato per assegnare a ciascun thread (o gruppo di thread lungo X) la propria posizione candidata nella finestra di ricerca. block.thread_rank(), invece, è l'indice lineare del thread sull'intero blocco 3D (X, Y, Z), usato ad esempio per il caricamento cooperativo del blocco corrente in SMEM, dove serve identificare ogni thread del blocco in modo univoco. Utilizzato principalmente per il fatto che l’oggetto block è già necessario per l’uso di cooperative groups adottato per le riduzioni warp-level.</a:t>
            </a:r>
            <a:endParaRPr/>
          </a:p>
        </p:txBody>
      </p:sp>
      <p:sp>
        <p:nvSpPr>
          <p:cNvPr id="522" name="Google Shape;522;g3e47f159e64_0_2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1" name="Shape 551"/>
        <p:cNvGrpSpPr/>
        <p:nvPr/>
      </p:nvGrpSpPr>
      <p:grpSpPr>
        <a:xfrm>
          <a:off x="0" y="0"/>
          <a:ext cx="0" cy="0"/>
          <a:chOff x="0" y="0"/>
          <a:chExt cx="0" cy="0"/>
        </a:xfrm>
      </p:grpSpPr>
      <p:sp>
        <p:nvSpPr>
          <p:cNvPr id="552" name="Google Shape;552;g3edb705eefd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Ogni thread lungo X ha assegnata una porzione di pixel, calcolata dividendo il numero totale di pixel in un blocco per il numero di thread lungo X, di cui calcolare il SAD parziale, relativamente a una specifica coppia di blocchi individuata dai thread lungo YZ e dal blocco CUDA di appartenenza. Tuttavia, come nel caso precedente, i thread lungo YZ potrebbero non essere sufficienti a coprire tutti i blocchi candidati nel reference frame: anche qui, quindi, si ricorre al thread coarsening.</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Il calcolo del SAD è pressoché identico a quello del kernel precedente, con il vantaggio però di un accesso diretto e lineare ai dati del current frame, dato che questi risiedono in SMEM: il calcolo non avviene più tra due intere coppie di blocchi, ma solo tra due porzioni di pixel assegnate a ciascun thread lungo X.</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553" name="Google Shape;553;g3edb705eefd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0" name="Shape 570"/>
        <p:cNvGrpSpPr/>
        <p:nvPr/>
      </p:nvGrpSpPr>
      <p:grpSpPr>
        <a:xfrm>
          <a:off x="0" y="0"/>
          <a:ext cx="0" cy="0"/>
          <a:chOff x="0" y="0"/>
          <a:chExt cx="0" cy="0"/>
        </a:xfrm>
      </p:grpSpPr>
      <p:sp>
        <p:nvSpPr>
          <p:cNvPr id="571" name="Google Shape;571;g3ee3d4f62cc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it-IT"/>
              <a:t>Innanzitutto, ogni thread lungo YZ con indice 0 individua il proprio miglior candidato tra i blocchi di reference frame assegnati, e lo salva in shared memory (SMEM). A questo punto si può effettuare una riduzione a livello di blocco, per trovare il candidato migliore in assoluto per il blocco CUDA. Questa riduzione si articola in quattro fasi:</a:t>
            </a:r>
            <a:endParaRPr/>
          </a:p>
          <a:p>
            <a:pPr indent="-298450" lvl="0" marL="457200" rtl="0" algn="l">
              <a:lnSpc>
                <a:spcPct val="100000"/>
              </a:lnSpc>
              <a:spcBef>
                <a:spcPts val="0"/>
              </a:spcBef>
              <a:spcAft>
                <a:spcPts val="0"/>
              </a:spcAft>
              <a:buSzPts val="1100"/>
              <a:buAutoNum type="arabicPeriod"/>
            </a:pPr>
            <a:r>
              <a:rPr lang="it-IT"/>
              <a:t>Nella prima fase, ogni warp elabora una porzione dei risultati contenuti in best_thread_results, scandendo gli elementi assegnati con un pattern a stride, analogo al block-stride loop già visto in precedenza, in modo da coprire tutti i candidati anche quando il loro numero supera quello dei thread disponibili in un singolo passaggio. All'interno di questa porzione, ogni warp individua il proprio miglior candidato tramite la funzione reduce_best_candidate_warp: a differenza della riduzione vista in precedenza per il SAD parziale (che operava su singoli valori scalari), qui si riduce un'intera struttura candidato, contenente SAD, dx e dy. Il meccanismo resta lo stesso, un dimezzamento progressivo dell'offset, con shfl_down usato per recuperare tutti e tre i campi del candidato del thread a distanza offset, ma ad ogni passo il confronto avviene secondo il consueto criterio: si mantiene il candidato con SAD minore, o a parità di SAD quello con distanza minore.</a:t>
            </a:r>
            <a:endParaRPr/>
          </a:p>
          <a:p>
            <a:pPr indent="-298450" lvl="0" marL="457200" rtl="0" algn="l">
              <a:lnSpc>
                <a:spcPct val="100000"/>
              </a:lnSpc>
              <a:spcBef>
                <a:spcPts val="0"/>
              </a:spcBef>
              <a:spcAft>
                <a:spcPts val="0"/>
              </a:spcAft>
              <a:buSzPts val="1100"/>
              <a:buAutoNum type="arabicPeriod"/>
            </a:pPr>
            <a:r>
              <a:rPr lang="it-IT"/>
              <a:t>Nella seconda fase, il thread con rank 0 di ciascun warp (il "warp leader") scrive il risultato migliore del proprio warp in un'altra area di shared memory, warp_results, dedicata a raccogliere i risultati di tutti i warp del blocco.</a:t>
            </a:r>
            <a:endParaRPr/>
          </a:p>
          <a:p>
            <a:pPr indent="-298450" lvl="0" marL="457200" rtl="0" algn="l">
              <a:lnSpc>
                <a:spcPct val="100000"/>
              </a:lnSpc>
              <a:spcBef>
                <a:spcPts val="0"/>
              </a:spcBef>
              <a:spcAft>
                <a:spcPts val="0"/>
              </a:spcAft>
              <a:buSzPts val="1100"/>
              <a:buAutoNum type="arabicPeriod"/>
            </a:pPr>
            <a:r>
              <a:rPr lang="it-IT"/>
              <a:t>Nella terza fase, dopo una sincronizzazione tra i thread del blocco, è il warp 0 a occuparsi di un'ultima riduzione: ciascun thread del warp 0 legge uno dei risultati salvati dai warp leader (fino al numero totale di warp presenti) ed esegue, tramite la stessa funzione reduce_best_candidate_warp, una riduzione finale per determinare il miglior candidato per l'intero blocco CUDA.</a:t>
            </a:r>
            <a:endParaRPr/>
          </a:p>
          <a:p>
            <a:pPr indent="-298450" lvl="0" marL="457200" rtl="0" algn="l">
              <a:lnSpc>
                <a:spcPct val="100000"/>
              </a:lnSpc>
              <a:spcBef>
                <a:spcPts val="0"/>
              </a:spcBef>
              <a:spcAft>
                <a:spcPts val="0"/>
              </a:spcAft>
              <a:buSzPts val="1100"/>
              <a:buAutoNum type="arabicPeriod"/>
            </a:pPr>
            <a:r>
              <a:rPr lang="it-IT"/>
              <a:t>Nella quarta fase, il thread 0 dell'intero blocco scrive il motion vector risultante in GMEM.</a:t>
            </a:r>
            <a:endParaRPr/>
          </a:p>
        </p:txBody>
      </p:sp>
      <p:sp>
        <p:nvSpPr>
          <p:cNvPr id="572" name="Google Shape;572;g3ee3d4f62cc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3e5df9fda95_0_18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it-IT"/>
              <a:t>Compute (SM) Throughput: 61,69% &amp; Memory Throughput: 96,55%</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it-IT"/>
              <a:t>Il kernel esegue operazioni aritmetiche semplici (comparazioni, calcoli di distanza). Il blocco corrente è in SMEM, ma il blocco di reference frame viene comunque letto GMEM per ogni candidato.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L1 Cache Throughput: 97,79% &amp; L1 Cache Hit Rate: 96,87%</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it-IT"/>
              <a:t>L'hit rate è eccellente, ma l'elevato throughput indica che la banda passante di L1 è comunque completamente satura. La causa sono gli accessi non-coalesced: il kernel legge d_ref con un pattern sparso, poiché gli indici di thread (threadIdx.x, threadIdx.y, threadIdx.z) non sono allineati agli offset in memoria. Anche se i dati risultano presenti in L1 (generando hit), le richieste restano frammentate e sparse.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LSU Throttle Stalls (Load-Store Unit): La coda di istruzioni di memoria dell'LSU si riempie completamente: i warp che tentano di emettere nuove istruzioni di memoria rimangono bloccati, in attesa che la coda si liberi e il pipeline di memoria si svuoti, prima di poter proseguire.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L2 Cache Throughput: 4,77% &amp; L2 Cache Hit Rate: 99,92% </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it-IT"/>
              <a:t>L'hit rate della cache L2 sarebbe anche ottimo, ma è poco utilizzata: quando la cache L1 è satura, assorbe praticamente tutte le richieste prima che raggiungano L2, che vede quindi solo una minima parte del traffico totale.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Uncoalesced Accesses, 97% Waste</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it-IT"/>
              <a:t>Gli indici utilizzati per l'accesso alla memoria sono completamente sparsi: ogni thread attiva una linea di cache diversa, caricando 128 byte di cui solo 4-8 vengono effettivamente utilizzati.</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Achieved Occupancy: 49,99% </a:t>
            </a:r>
            <a:endParaRPr b="1"/>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lang="it-IT"/>
              <a:t>L'occupancy raggiunta (49,99%) coincide praticamente con l'occupancy teorica (50,00%). La causa è la register pressure: ogni thread del kernel utilizza un numero elevato di registri per mantenere lo stato della riduzione cooperativa, gli indici dei candidati, i valori parziali di SAD, e così via.</a:t>
            </a:r>
            <a:endParaRPr/>
          </a:p>
        </p:txBody>
      </p:sp>
      <p:sp>
        <p:nvSpPr>
          <p:cNvPr id="585" name="Google Shape;585;g3e5df9fda95_0_18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g3e80c0a3fea_0_6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testato con 15 iterazioni reali e 3 run di warmup</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lang="it-IT"/>
              <a:t>si notata solo un incremento delle performance a risoluzioni più basse dove il numero di candidati diminuisce notevolmente, e di conseguenza anche i problemi dovuti agli accessi uncoalesced  ed alla lettura della SMEM, tuttavia, tale kernel soffre di una grande limitazione, non c’è alcun vincolo sulla dimensione della SMEM, il che lo rende inutilizzabile quando il peso del blocco nel reference frame supera i limiti hardware della SMEM.</a:t>
            </a:r>
            <a:endParaRPr/>
          </a:p>
        </p:txBody>
      </p:sp>
      <p:sp>
        <p:nvSpPr>
          <p:cNvPr id="595" name="Google Shape;595;g3e80c0a3fea_0_6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0" name="Shape 610"/>
        <p:cNvGrpSpPr/>
        <p:nvPr/>
      </p:nvGrpSpPr>
      <p:grpSpPr>
        <a:xfrm>
          <a:off x="0" y="0"/>
          <a:ext cx="0" cy="0"/>
          <a:chOff x="0" y="0"/>
          <a:chExt cx="0" cy="0"/>
        </a:xfrm>
      </p:grpSpPr>
      <p:sp>
        <p:nvSpPr>
          <p:cNvPr id="611" name="Google Shape;611;g3e4e8db378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Per migliorare la situazione del kernel precedente, si potrebbe usare lo stesso approccio "tridimensionale" sulla grid CUDA invece che sul blocco: l'idea sarebbe quindi quella di avere una grid CUDA dove i blocchi sulla dimensione XY mappano i blocchi del current frame, mentre lungo Z ogni blocco corrisponde a un possibile blocco candidato nel reference frame. All'interno di ogni blocco CUDA, i thread calcolano il SAD tra la coppia di blocchi in parallelo.</a:t>
            </a:r>
            <a:endParaRPr/>
          </a:p>
          <a:p>
            <a:pPr indent="0" lvl="0" marL="0" rtl="0" algn="l">
              <a:lnSpc>
                <a:spcPct val="100000"/>
              </a:lnSpc>
              <a:spcBef>
                <a:spcPts val="0"/>
              </a:spcBef>
              <a:spcAft>
                <a:spcPts val="0"/>
              </a:spcAft>
              <a:buSzPts val="1100"/>
              <a:buNone/>
            </a:pPr>
            <a:r>
              <a:rPr lang="it-IT"/>
              <a:t>Per quanto questa possa essere una buona idea per il calcolo del SAD in sé (Intra-Candidate Reduction), per la Block-Wide Reduction non è più praticabile: andrebbe eseguita una riduzione tra blocchi CUDA diversi, cosa non direttamente possibile in CUDA nello stesso modo della riduzione intra-blocco, dato che si otterrebbe esattamente un risultato per ciascun blocco lungo Z, con un conseguente e grave sottoutilizzo della GPU se si tentasse di gestire questa riduzione all'interno dello stesso schema.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Inoltre è necessario selezionare una corretta strategia per l’avvio del kernel per quanto riguarda l’utilizzo della SMEM. visto che non è possibile salvare il current frame e reference frame tutti in SMEM.</a:t>
            </a:r>
            <a:endParaRPr/>
          </a:p>
        </p:txBody>
      </p:sp>
      <p:sp>
        <p:nvSpPr>
          <p:cNvPr id="612" name="Google Shape;612;g3e4e8db378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ef4ce21f18_0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La soluzione per evitare questo problema è quindi avere due kernel distinti. Il primo, computeSADKernel, si occupa del calcolo di tutti i valori di SAD tra i blocchi del current frame e i blocchi candidati del reference frame, senza eseguire alcun tipo di riduzione tra blocchi diversi, se non l'aggregazione dei SAD parziali all'interno dello stesso blocco CUDA (Intra-Candidate Reduction). Per ogni coppia di blocchi (current frame block e reference frame block candidato), il SAD calcolato viene scritto in GMEM.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
        <p:nvSpPr>
          <p:cNvPr id="625" name="Google Shape;625;g3ef4ce21f18_0_4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2" name="Shape 632"/>
        <p:cNvGrpSpPr/>
        <p:nvPr/>
      </p:nvGrpSpPr>
      <p:grpSpPr>
        <a:xfrm>
          <a:off x="0" y="0"/>
          <a:ext cx="0" cy="0"/>
          <a:chOff x="0" y="0"/>
          <a:chExt cx="0" cy="0"/>
        </a:xfrm>
      </p:grpSpPr>
      <p:sp>
        <p:nvSpPr>
          <p:cNvPr id="633" name="Google Shape;633;g3e4e8db3782_0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Nello specifico, vediamo che le coordinate XY del blocco CUDA mappano le coordinate del blocco nel current frame, mentre lungo Z si mappa il rispettivo blocco candidato nel reference frame da confrontare. Poiché in questo caso, quello della Full Search, tutti i blocchi del reference frame sono candidati, l'indice lungo Z viene convertito in coordinate bidimensionali tramite modulo e divisione rispetto a blockX, cioè il numero di blocchi lungo l'asse orizzontale del reference frame: ref_bx = blockIdx.z % blockX, ref_by = blockIdx.z / blockX.</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Per quanto riguarda le dimensioni interne del blocco CUDA, queste sono invece limitate dal numero di pixel in un blocco (block_size²): si cerca quindi di stabilire un numero di thread il più vicino possibile a tale valore, rispettando comunque i limiti imposti dall'hardware. Anche in questo caso è necessario che il numero di thread sia una potenza di 2, per rispettare i vincoli imposti da cub::BlockReduce.</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
        <p:nvSpPr>
          <p:cNvPr id="634" name="Google Shape;634;g3e4e8db3782_0_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9" name="Shape 659"/>
        <p:cNvGrpSpPr/>
        <p:nvPr/>
      </p:nvGrpSpPr>
      <p:grpSpPr>
        <a:xfrm>
          <a:off x="0" y="0"/>
          <a:ext cx="0" cy="0"/>
          <a:chOff x="0" y="0"/>
          <a:chExt cx="0" cy="0"/>
        </a:xfrm>
      </p:grpSpPr>
      <p:sp>
        <p:nvSpPr>
          <p:cNvPr id="660" name="Google Shape;660;g3ef4ce21f18_0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Una volta terminata la computazione di tutti i valori di SAD tra le coppie di blocchi, in GMEM abbiamo, per ogni blocco del current frame, tutti i valori di SAD calcolati rispetto a tutti i possibili blocchi candidati nel reference frame. Il secondo kernel si occupa quindi di ridurre questi valori a un solo candidato, il migliore, per ogni blocco del current frame.</a:t>
            </a:r>
            <a:endParaRPr/>
          </a:p>
          <a:p>
            <a:pPr indent="0" lvl="0" marL="0" rtl="0" algn="l">
              <a:lnSpc>
                <a:spcPct val="100000"/>
              </a:lnSpc>
              <a:spcBef>
                <a:spcPts val="0"/>
              </a:spcBef>
              <a:spcAft>
                <a:spcPts val="0"/>
              </a:spcAft>
              <a:buSzPts val="1100"/>
              <a:buNone/>
            </a:pPr>
            <a:r>
              <a:rPr lang="it-IT"/>
              <a:t>In questo caso è possibile ricalcare la struttura del kernel naive: ogni blocco CUDA mappa un blocco della griglia del current frame, e i thread mappano i possibili candidati nel reference frame. A differenza del kernel naive, però, qui l'accesso ai dati risulta efficiente: poiché i valori di SAD sono già stati scritti in GMEM in modo contiguo dal primo kernel (uno di seguito all'altro, per ciascun blocco), thread adiacenti accedono a posizioni di memoria adiacenti, un pattern di accesso coalesced, a differenza dell'accesso sparso al reference frame che caratterizzava i kernel precedenti.</a:t>
            </a:r>
            <a:endParaRPr/>
          </a:p>
        </p:txBody>
      </p:sp>
      <p:sp>
        <p:nvSpPr>
          <p:cNvPr id="661" name="Google Shape;661;g3ef4ce21f18_0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9" name="Shape 669"/>
        <p:cNvGrpSpPr/>
        <p:nvPr/>
      </p:nvGrpSpPr>
      <p:grpSpPr>
        <a:xfrm>
          <a:off x="0" y="0"/>
          <a:ext cx="0" cy="0"/>
          <a:chOff x="0" y="0"/>
          <a:chExt cx="0" cy="0"/>
        </a:xfrm>
      </p:grpSpPr>
      <p:sp>
        <p:nvSpPr>
          <p:cNvPr id="670" name="Google Shape;670;g3ee79319669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Al solito, abbiamo il caricamento del current frame e del reference frame in memoria GMEM. Tuttavia, come anticipato in precedenza, è necessario anche costruire un buffer in GMEM che permetta la comunicazione tra il primo e il secondo kernel: questo è proprio il ruolo di d_sad, che contiene un intero (il valore di SAD) per ogni coppia di blocchi sulla quale viene calcolato il confronto.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In questo step, sempre lato host, si decide anche come utilizzare la shared SMEM, sulla base delle risorse disponibili. In questo caso particolare, rispetto alla soluzione precedente, è possibile valutare anche l'idea di caricare in SMEM il blocco del reference frame, dato che a ogni blocco CUDA viene assegnata una specifica coppia di blocchi (current e reference). Si hanno quindi tre strategie possibili: FULL, dove vengono caricati entrambi i blocchi; CURR_ONLY, dove viene caricato solo il blocco del current frame; e NONE, dove non viene caricato nessuno dei due in SMEM. La scelta è ovviamente influenzata dai limiti dell'hardware, ma anche dall'uso della SMEM richiesta da cub::BlockReduce, necessaria per l'Intra-Candidate Reduction.</a:t>
            </a:r>
            <a:endParaRPr>
              <a:solidFill>
                <a:schemeClr val="dk1"/>
              </a:solidFill>
            </a:endParaRPr>
          </a:p>
          <a:p>
            <a:pPr indent="0" lvl="0" marL="0" rtl="0" algn="l">
              <a:spcBef>
                <a:spcPts val="1200"/>
              </a:spcBef>
              <a:spcAft>
                <a:spcPts val="0"/>
              </a:spcAft>
              <a:buSzPts val="1100"/>
              <a:buNone/>
            </a:pPr>
            <a:r>
              <a:t/>
            </a:r>
            <a:endParaRPr/>
          </a:p>
        </p:txBody>
      </p:sp>
      <p:sp>
        <p:nvSpPr>
          <p:cNvPr id="671" name="Google Shape;671;g3ee79319669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8" name="Shape 688"/>
        <p:cNvGrpSpPr/>
        <p:nvPr/>
      </p:nvGrpSpPr>
      <p:grpSpPr>
        <a:xfrm>
          <a:off x="0" y="0"/>
          <a:ext cx="0" cy="0"/>
          <a:chOff x="0" y="0"/>
          <a:chExt cx="0" cy="0"/>
        </a:xfrm>
      </p:grpSpPr>
      <p:sp>
        <p:nvSpPr>
          <p:cNvPr id="689" name="Google Shape;689;g38b7fa136ad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Una volta lanciato il kernel, si ha il caricamento cooperativo del blocco del current frame, se previsto dalla strategia selezionata. Si individua poi il blocco candidato nel reference frame, o i blocchi candidati, nel caso in cui la dimensione lungo Z non sia sufficiente a mappare tutti i blocchi del reference frame in un solo lancio, iterando con il consueto approccio a stride. Il blocco candidato corrente viene quindi caricato in SMEM, se previsto dalla strategia, e i pixel vengono letti opportunamente in base alla strategia scelta.</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lavoro effettivo di ogni thread, come abbiamo visto, è calcolare il SAD parziale su una porzione di pixel della coppia di blocchi corrente. I SAD parziali vengono poi aggregati tramite BlockReduce, ottenendo il SAD totale per quella coppia di blocchi.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Infine, il thread 0 del blocco scrive il valore di SAD trovato in d_sad, nella posizione data dalla combinazione di due componenti. La prima è l'indice lineare del blocco corrente nel current frame, ottenuto linearizzando le coordinate (blockIdx.x, blockIdx.y) in row-major order, analogamente a quanto visto per la linearizzazione dei blocchi in altre slide. La seconda è l'offset relativo al candidato specifico: poiché ogni blocco del current frame dispone di fino a maxCandidates posizioni in d_sad, si moltiplica l'indice lineare del blocco corrente per tutit i blocchi nel reference frame, ottenendo così l'inizio della porzione di array dedicata a quel blocco; sommando poi flat_idx,l'indice lineare del candidato all'interno della finestra di ricerca, si individua esattamente la cella in cui scrivere il SAD calcolato per quella specifica coppia di blocchi.</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
        <p:nvSpPr>
          <p:cNvPr id="690" name="Google Shape;690;g38b7fa136ad_1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1" name="Shape 701"/>
        <p:cNvGrpSpPr/>
        <p:nvPr/>
      </p:nvGrpSpPr>
      <p:grpSpPr>
        <a:xfrm>
          <a:off x="0" y="0"/>
          <a:ext cx="0" cy="0"/>
          <a:chOff x="0" y="0"/>
          <a:chExt cx="0" cy="0"/>
        </a:xfrm>
      </p:grpSpPr>
      <p:sp>
        <p:nvSpPr>
          <p:cNvPr id="702" name="Google Shape;702;g3ed2046eb96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it-IT"/>
              <a:t>Compute (SM) Throughput: 54,35% &amp; Memory Throughput: 11,38%</a:t>
            </a:r>
            <a:endParaRPr b="1"/>
          </a:p>
          <a:p>
            <a:pPr indent="0" lvl="0" marL="0" rtl="0" algn="l">
              <a:lnSpc>
                <a:spcPct val="100000"/>
              </a:lnSpc>
              <a:spcBef>
                <a:spcPts val="0"/>
              </a:spcBef>
              <a:spcAft>
                <a:spcPts val="0"/>
              </a:spcAft>
              <a:buNone/>
            </a:pPr>
            <a:r>
              <a:rPr lang="it-IT"/>
              <a:t>Il compute throughput moderato riflette il fatto che il kernel esegue operazioni aritmetiche semplici (calcolo del SAD parziale e riduzione), con un progressivo sotto-utilizzo delle unità di calcolo durante le fasi della riduzione ad albero di BlockReduce, dove a ogni passo un numero crescente di thread rimane inattivo. Il memory throughput è invece basso perché, in questo caso, sia il blocco del reference frame che quello del current frame risiedono in SMEM, riducendo drasticamente la necessità di accedere alla GMEM durante il calcolo.</a:t>
            </a:r>
            <a:endParaRPr/>
          </a:p>
          <a:p>
            <a:pPr indent="0" lvl="0" marL="0" rtl="0" algn="l">
              <a:lnSpc>
                <a:spcPct val="100000"/>
              </a:lnSpc>
              <a:spcBef>
                <a:spcPts val="0"/>
              </a:spcBef>
              <a:spcAft>
                <a:spcPts val="0"/>
              </a:spcAft>
              <a:buNone/>
            </a:pPr>
            <a:r>
              <a:t/>
            </a:r>
            <a:endParaRPr/>
          </a:p>
          <a:p>
            <a:pPr indent="0" lvl="0" marL="0" rtl="0" algn="l">
              <a:lnSpc>
                <a:spcPct val="100000"/>
              </a:lnSpc>
              <a:spcBef>
                <a:spcPts val="0"/>
              </a:spcBef>
              <a:spcAft>
                <a:spcPts val="0"/>
              </a:spcAft>
              <a:buNone/>
            </a:pPr>
            <a:r>
              <a:rPr b="1" lang="it-IT"/>
              <a:t>L1 Cache Throughput: 12.21% &amp; L1 Cache Hit Rate: 47.98%</a:t>
            </a:r>
            <a:endParaRPr b="1"/>
          </a:p>
          <a:p>
            <a:pPr indent="0" lvl="0" marL="0" rtl="0" algn="l">
              <a:lnSpc>
                <a:spcPct val="100000"/>
              </a:lnSpc>
              <a:spcBef>
                <a:spcPts val="0"/>
              </a:spcBef>
              <a:spcAft>
                <a:spcPts val="0"/>
              </a:spcAft>
              <a:buNone/>
            </a:pPr>
            <a:r>
              <a:rPr lang="it-IT"/>
              <a:t>Il miss rate del 52,02% riflette la diversità dei blocchi di reference frame acceduti: ciascuno dei 1024 candidati lungo la dimensione Z legge una regione diversa del reference frame, limitando il riuso della cache L1 tra candidati differenti. L'hit rate non nullo (47,98%) è comunque dovuto alla parziale coalescenza e alla vicinanza spaziale dei pixel letti da thread adiacenti all'interno dello stesso blocco candidato.</a:t>
            </a:r>
            <a:endParaRPr/>
          </a:p>
          <a:p>
            <a:pPr indent="0" lvl="0" marL="0" rtl="0" algn="l">
              <a:lnSpc>
                <a:spcPct val="100000"/>
              </a:lnSpc>
              <a:spcBef>
                <a:spcPts val="0"/>
              </a:spcBef>
              <a:spcAft>
                <a:spcPts val="0"/>
              </a:spcAft>
              <a:buNone/>
            </a:pPr>
            <a:r>
              <a:t/>
            </a:r>
            <a:endParaRPr b="1"/>
          </a:p>
          <a:p>
            <a:pPr indent="0" lvl="0" marL="0" rtl="0" algn="l">
              <a:lnSpc>
                <a:spcPct val="100000"/>
              </a:lnSpc>
              <a:spcBef>
                <a:spcPts val="0"/>
              </a:spcBef>
              <a:spcAft>
                <a:spcPts val="0"/>
              </a:spcAft>
              <a:buNone/>
            </a:pPr>
            <a:r>
              <a:rPr b="1" lang="it-IT"/>
              <a:t>L2 Cache Throughput: 1.36% &amp; L2 Cache Hit Rate: 99.76%</a:t>
            </a:r>
            <a:endParaRPr b="1"/>
          </a:p>
          <a:p>
            <a:pPr indent="0" lvl="0" marL="0" rtl="0" algn="l">
              <a:lnSpc>
                <a:spcPct val="100000"/>
              </a:lnSpc>
              <a:spcBef>
                <a:spcPts val="0"/>
              </a:spcBef>
              <a:spcAft>
                <a:spcPts val="0"/>
              </a:spcAft>
              <a:buNone/>
            </a:pPr>
            <a:r>
              <a:rPr lang="it-IT"/>
              <a:t>L'elevato hit rate su L2 è dovuto al fatto che candidati adiacenti lungo la dimensione Z accedono a blocchi di reference frame adiacenti in memoria, favorendo il riuso a livello di cache L2 anche quando L1 non riesce a mantenere gli stessi dati.</a:t>
            </a:r>
            <a:endParaRPr/>
          </a:p>
          <a:p>
            <a:pPr indent="0" lvl="0" marL="0" rtl="0" algn="l">
              <a:lnSpc>
                <a:spcPct val="100000"/>
              </a:lnSpc>
              <a:spcBef>
                <a:spcPts val="0"/>
              </a:spcBef>
              <a:spcAft>
                <a:spcPts val="0"/>
              </a:spcAft>
              <a:buNone/>
            </a:pPr>
            <a:r>
              <a:t/>
            </a:r>
            <a:endParaRPr b="1"/>
          </a:p>
          <a:p>
            <a:pPr indent="0" lvl="0" marL="0" rtl="0" algn="l">
              <a:lnSpc>
                <a:spcPct val="100000"/>
              </a:lnSpc>
              <a:spcBef>
                <a:spcPts val="0"/>
              </a:spcBef>
              <a:spcAft>
                <a:spcPts val="0"/>
              </a:spcAft>
              <a:buNone/>
            </a:pPr>
            <a:r>
              <a:rPr b="1" lang="it-IT"/>
              <a:t>GMEM Throughput: 0,01% &amp; Achieved Occupancy: 49,18%</a:t>
            </a:r>
            <a:endParaRPr b="1"/>
          </a:p>
          <a:p>
            <a:pPr indent="0" lvl="0" marL="0" rtl="0" algn="l">
              <a:lnSpc>
                <a:spcPct val="100000"/>
              </a:lnSpc>
              <a:spcBef>
                <a:spcPts val="0"/>
              </a:spcBef>
              <a:spcAft>
                <a:spcPts val="0"/>
              </a:spcAft>
              <a:buNone/>
            </a:pPr>
            <a:r>
              <a:rPr lang="it-IT"/>
              <a:t>Il traffico verso la memoria globale è quasi nullo, coerentemente con l'uso della strategia FULL in SMEM. L'occupancy del 49,18% è invece limitata dall'overhead di sincronizzazione delle barriere durante le fasi di BlockReduce, dove i thread devono attendere ripetutamente il completamento di ogni passo della riduzione ad albero.</a:t>
            </a:r>
            <a:endParaRPr/>
          </a:p>
        </p:txBody>
      </p:sp>
      <p:sp>
        <p:nvSpPr>
          <p:cNvPr id="703" name="Google Shape;703;g3ed2046eb96_0_13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1" name="Shape 711"/>
        <p:cNvGrpSpPr/>
        <p:nvPr/>
      </p:nvGrpSpPr>
      <p:grpSpPr>
        <a:xfrm>
          <a:off x="0" y="0"/>
          <a:ext cx="0" cy="0"/>
          <a:chOff x="0" y="0"/>
          <a:chExt cx="0" cy="0"/>
        </a:xfrm>
      </p:grpSpPr>
      <p:sp>
        <p:nvSpPr>
          <p:cNvPr id="712" name="Google Shape;712;g38b7fa136ad_1_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Terminata l'esecuzione del primo kernel, abbiamo in GMEM i risultati: per ogni blocco del current frame, il SAD calcolato rispetto a tutti i possibili blocchi del reference frame. Si ricorda che a ogni blocco CUDA viene assegnato un blocco del current frame, e l'indice di quel blocco all'interno di </a:t>
            </a:r>
            <a:r>
              <a:rPr i="1" lang="it-IT">
                <a:solidFill>
                  <a:schemeClr val="dk1"/>
                </a:solidFill>
              </a:rPr>
              <a:t>d_sad</a:t>
            </a:r>
            <a:r>
              <a:rPr lang="it-IT">
                <a:solidFill>
                  <a:schemeClr val="dk1"/>
                </a:solidFill>
              </a:rPr>
              <a:t> è definito tramite base: l'indice lineare del blocco corrente, moltiplicato per il numero massimo di candidati per blocco.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Anche in questo caso, un singolo thread da solo non è sufficiente a scansionare tutti i candidati: si esegue quindi, innanzitutto, una riduzione locale, in cui ogni thread confronta un sottoinsieme di candidati letti da </a:t>
            </a:r>
            <a:r>
              <a:rPr i="1" lang="it-IT">
                <a:solidFill>
                  <a:schemeClr val="dk1"/>
                </a:solidFill>
              </a:rPr>
              <a:t>d_sad</a:t>
            </a:r>
            <a:r>
              <a:rPr lang="it-IT">
                <a:solidFill>
                  <a:schemeClr val="dk1"/>
                </a:solidFill>
              </a:rPr>
              <a:t>, utilizzando lo stesso operatore custom (CandidateSadOp) che verrà poi riutilizzato anche per la riduzione a livello di blocco. Questo operatore, oltre al valore di SAD, deve necessariamente considerare anche flat_idx, l'indice lineare del candidato, per poter individuare correttamente la posizione del blocco di reference frame corrispondente e calcolarne la distanza dal blocco corrente, necessaria per il tie-break in caso di SAD uguali. A differenza dei kernel precedenti, qui le coordinate (dx, dy) del motion vector non sono già disponibili insieme al SAD: l'operatore le ricalcola ogni volta a partire da flat_idx, convertendolo prima in coordinate di blocco nel reference frame (tramite modulo e divisione rispetto alla larghezza della griglia), e poi sottraendo le coordinate del blocco corrente per ottenere lo spostamento.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Una volta che ogni thread ha determinato il proprio candidato migliore locale, si può finalmente eseguire la riduzione a livello di blocco (Block-Wide Reduction) tra tutti i risultati locali, per ottenere il candidato migliore in assoluto per il blocco del current frame.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Infine, il thread 0 converte l'indice del candidato vincente in coordinate del blocco di reference frame, sempre tramite modulo e divisione rispetto a blockX, e calcola il motion vector finale come differenza tra le coordinate del blocco di reference frame trovato e quelle del blocco corrente, scrivendo il risultato in memoria globale.</a:t>
            </a:r>
            <a:endParaRPr>
              <a:solidFill>
                <a:schemeClr val="dk1"/>
              </a:solidFill>
            </a:endParaRPr>
          </a:p>
          <a:p>
            <a:pPr indent="0" lvl="0" marL="0" rtl="0" algn="l">
              <a:lnSpc>
                <a:spcPct val="100000"/>
              </a:lnSpc>
              <a:spcBef>
                <a:spcPts val="1200"/>
              </a:spcBef>
              <a:spcAft>
                <a:spcPts val="0"/>
              </a:spcAft>
              <a:buSzPts val="1100"/>
              <a:buNone/>
            </a:pPr>
            <a:r>
              <a:t/>
            </a:r>
            <a:endParaRPr>
              <a:solidFill>
                <a:schemeClr val="dk1"/>
              </a:solidFill>
            </a:endParaRPr>
          </a:p>
        </p:txBody>
      </p:sp>
      <p:sp>
        <p:nvSpPr>
          <p:cNvPr id="713" name="Google Shape;713;g38b7fa136ad_1_3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3ea41b88f15_1_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it-IT"/>
              <a:t>Compute (SM) Throughput: 44,71% &amp; Memory Throughput: 5,66%</a:t>
            </a:r>
            <a:endParaRPr/>
          </a:p>
          <a:p>
            <a:pPr indent="0" lvl="0" marL="0" rtl="0" algn="l">
              <a:lnSpc>
                <a:spcPct val="100000"/>
              </a:lnSpc>
              <a:spcBef>
                <a:spcPts val="0"/>
              </a:spcBef>
              <a:spcAft>
                <a:spcPts val="0"/>
              </a:spcAft>
              <a:buSzPts val="1100"/>
              <a:buNone/>
            </a:pPr>
            <a:r>
              <a:rPr lang="it-IT"/>
              <a:t>Il kernel esegue operazioni molto semplici: confronti tra valori di SAD, calcolo della distanza al quadrato per il tie-break, e la logica di confronto stessa. Queste operazioni sono rapide ed economiche, ma ciascuna richiede comunque una lettura da memoria: per ogni confronto, il collo di bottiglia diventa quindi la banda di memoria disponibile, più che la capacità di calcolo. </a:t>
            </a:r>
            <a:endParaRPr/>
          </a:p>
          <a:p>
            <a:pPr indent="0" lvl="0" marL="0" rtl="0" algn="l">
              <a:lnSpc>
                <a:spcPct val="100000"/>
              </a:lnSpc>
              <a:spcBef>
                <a:spcPts val="0"/>
              </a:spcBef>
              <a:spcAft>
                <a:spcPts val="0"/>
              </a:spcAft>
              <a:buSzPts val="1100"/>
              <a:buNone/>
            </a:pPr>
            <a:r>
              <a:t/>
            </a:r>
            <a:endParaRPr b="1"/>
          </a:p>
          <a:p>
            <a:pPr indent="0" lvl="0" marL="0" rtl="0" algn="l">
              <a:lnSpc>
                <a:spcPct val="100000"/>
              </a:lnSpc>
              <a:spcBef>
                <a:spcPts val="0"/>
              </a:spcBef>
              <a:spcAft>
                <a:spcPts val="0"/>
              </a:spcAft>
              <a:buSzPts val="1100"/>
              <a:buNone/>
            </a:pPr>
            <a:r>
              <a:rPr b="1" lang="it-IT"/>
              <a:t>Cache Throughput: 6,02% &amp; L1 Cache Hit Rate: 0,81%</a:t>
            </a:r>
            <a:endParaRPr b="1"/>
          </a:p>
          <a:p>
            <a:pPr indent="0" lvl="0" marL="0" rtl="0" algn="l">
              <a:lnSpc>
                <a:spcPct val="100000"/>
              </a:lnSpc>
              <a:spcBef>
                <a:spcPts val="0"/>
              </a:spcBef>
              <a:spcAft>
                <a:spcPts val="0"/>
              </a:spcAft>
              <a:buSzPts val="1100"/>
              <a:buNone/>
            </a:pPr>
            <a:r>
              <a:rPr lang="it-IT">
                <a:solidFill>
                  <a:schemeClr val="dk1"/>
                </a:solidFill>
              </a:rPr>
              <a:t>Il pattern di accesso a d_sad all'interno di un singolo blocco CUDA è in realtà coalesced: thread adiacenti leggono posizioni consecutive dell'array. Il bassissimo hit rate, tuttavia, non dipende dal pattern di accesso in sé, ma dal fatto che ogni blocco CUDA lavora su una porzione di d_sad completamente distinta dagli altri. Poiché la cache L1 è locale a ciascuno Streaming Multiprocessor, anche se più blocchi vengono eseguiti in sequenza sullo stesso SM, i dati caricati in cache da un blocco non sono utili al blocco successivo, dato che ciascuno opera su un segmento diverso e non condiviso dell'array. Questo porta la cache L1 a essere costantemente ripopolata con dati nuovi, senza alcun beneficio di riuso.</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b="1" lang="it-IT"/>
              <a:t>L2 Cache Throughput: 2,28% &amp; L2 Cache Hit Rate: 4,14%</a:t>
            </a:r>
            <a:endParaRPr b="1"/>
          </a:p>
          <a:p>
            <a:pPr indent="0" lvl="0" marL="0" rtl="0" algn="l">
              <a:lnSpc>
                <a:spcPct val="100000"/>
              </a:lnSpc>
              <a:spcBef>
                <a:spcPts val="0"/>
              </a:spcBef>
              <a:spcAft>
                <a:spcPts val="0"/>
              </a:spcAft>
              <a:buSzPts val="1100"/>
              <a:buNone/>
            </a:pPr>
            <a:r>
              <a:rPr lang="it-IT"/>
              <a:t>Per lo stesso motivo, anche la cache L2 non riesce a offrire un buffering efficace: le dimensioni complessive di d_sad e la scarsa riusabilità dei dati tra blocchi diversi rendono il beneficio della cache marginale.</a:t>
            </a:r>
            <a:endParaRPr/>
          </a:p>
          <a:p>
            <a:pPr indent="0" lvl="0" marL="0" rtl="0" algn="l">
              <a:lnSpc>
                <a:spcPct val="100000"/>
              </a:lnSpc>
              <a:spcBef>
                <a:spcPts val="0"/>
              </a:spcBef>
              <a:spcAft>
                <a:spcPts val="0"/>
              </a:spcAft>
              <a:buSzPts val="1100"/>
              <a:buNone/>
            </a:pPr>
            <a:r>
              <a:t/>
            </a:r>
            <a:endParaRPr/>
          </a:p>
        </p:txBody>
      </p:sp>
      <p:sp>
        <p:nvSpPr>
          <p:cNvPr id="726" name="Google Shape;726;g3ea41b88f15_1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4" name="Shape 734"/>
        <p:cNvGrpSpPr/>
        <p:nvPr/>
      </p:nvGrpSpPr>
      <p:grpSpPr>
        <a:xfrm>
          <a:off x="0" y="0"/>
          <a:ext cx="0" cy="0"/>
          <a:chOff x="0" y="0"/>
          <a:chExt cx="0" cy="0"/>
        </a:xfrm>
      </p:grpSpPr>
      <p:sp>
        <p:nvSpPr>
          <p:cNvPr id="735" name="Google Shape;735;g3ef4ce21f18_0_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testato con 15 iterazioni reali e 3 run di warmup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 benchmark confermano che il primo kernel svolge la maggior parte del lavoro complessivo, ed è infatti compute-bound: al crescere della risoluzione, e quindi del numero di blocchi e di candidati da confrontare, il tempo di esecuzione è dominato dalle operazioni aritmetiche necessarie al calcolo del SAD. Il secondo kernel, invece, ha come vincolo principale l'accesso in (GMEM), specialmente durante la fase di ricerca del local_best da parte di ogni thread, dove, come visto nel profiling. l'accesso, pur essendo coalesced all'interno del blocco, non beneficia di alcun riuso in cache a causa della natura indipendente dei dati processati da ciascun blocco.</a:t>
            </a:r>
            <a:endParaRPr/>
          </a:p>
          <a:p>
            <a:pPr indent="0" lvl="0" marL="0" rtl="0" algn="l">
              <a:spcBef>
                <a:spcPts val="0"/>
              </a:spcBef>
              <a:spcAft>
                <a:spcPts val="0"/>
              </a:spcAft>
              <a:buClr>
                <a:schemeClr val="dk1"/>
              </a:buClr>
              <a:buSzPts val="1100"/>
              <a:buFont typeface="Arial"/>
              <a:buNone/>
            </a:pPr>
            <a:r>
              <a:rPr lang="it-IT">
                <a:solidFill>
                  <a:schemeClr val="dk1"/>
                </a:solidFill>
              </a:rPr>
              <a:t>Alla risoluzione più alta testata (8192×8192), il numero di candidati (65536) supera per la prima volta il limite massimo consentito per la dimensione Z della griglia CUDA (65535): per questo motivo, il grid dichiarato mostra Z=65535 anziché 65536, e il kernel gestisce il candidato mancante tramite il consueto meccanismo di grid-stride lungo Z, con un blocco che elabora eccezionalmente due candidati invece di uno.</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Notiamo inoltre che, grazie alle diverse strategie offerte per l'utilizzo della SMEM (FULL, CURR_ONLY, NONE), è finalmente possibile supportare qualsiasi block size, anche quando le dimensioni superano la capacità di shared memory disponibile. a differenza delle implementazioni precedenti, dove la scelta della block size era più vincolata.</a:t>
            </a:r>
            <a:endParaRPr/>
          </a:p>
          <a:p>
            <a:pPr indent="0" lvl="0" marL="0" rtl="0" algn="l">
              <a:lnSpc>
                <a:spcPct val="100000"/>
              </a:lnSpc>
              <a:spcBef>
                <a:spcPts val="0"/>
              </a:spcBef>
              <a:spcAft>
                <a:spcPts val="0"/>
              </a:spcAft>
              <a:buSzPts val="1100"/>
              <a:buNone/>
            </a:pPr>
            <a:r>
              <a:t/>
            </a:r>
            <a:endParaRPr/>
          </a:p>
        </p:txBody>
      </p:sp>
      <p:sp>
        <p:nvSpPr>
          <p:cNvPr id="736" name="Google Shape;736;g3ef4ce21f18_0_6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g3ef4ce21f18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Testato con 15 iterazioni reali e 3 run di warmup.</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In particolare, considerando i limiti hardware della shared memory, riusciamo a caricare in SMEM la coppia di blocchi (strategia FULL) fino a una block size di 128; a block size 256, il limite hardware viene superato, ed è quindi necessario ricorrere alla strategia NONE, leggendo entrambi i blocchi direttamente da GMEM.</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Confrontando questa soluzione con le versioni Naive e Optimized Uncoalesced, notiamo che questa implementazione è essa stessa memory-bound, seppur per un motivo diverso: con block size ridotte (e quindi un numero elevato di candidati), il costo di allocazione di d_sad diventa eccessivo, fino a 16 GiB a block size 32 e la versione Uncoalesced ottiene risultati migliori in questo scenario. La situazione si inverte aumentando la block size fino a 128: la dimensione di d_sad si riduce drasticamente (fino a soli 64 MiB), e la versione Optimized torna a essere più performante.</a:t>
            </a:r>
            <a:endParaRPr/>
          </a:p>
        </p:txBody>
      </p:sp>
      <p:sp>
        <p:nvSpPr>
          <p:cNvPr id="749" name="Google Shape;749;g3ef4ce21f18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7" name="Shape 757"/>
        <p:cNvGrpSpPr/>
        <p:nvPr/>
      </p:nvGrpSpPr>
      <p:grpSpPr>
        <a:xfrm>
          <a:off x="0" y="0"/>
          <a:ext cx="0" cy="0"/>
          <a:chOff x="0" y="0"/>
          <a:chExt cx="0" cy="0"/>
        </a:xfrm>
      </p:grpSpPr>
      <p:sp>
        <p:nvSpPr>
          <p:cNvPr id="758" name="Google Shape;758;g3edea436407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59" name="Google Shape;759;g3edea436407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4" name="Shape 764"/>
        <p:cNvGrpSpPr/>
        <p:nvPr/>
      </p:nvGrpSpPr>
      <p:grpSpPr>
        <a:xfrm>
          <a:off x="0" y="0"/>
          <a:ext cx="0" cy="0"/>
          <a:chOff x="0" y="0"/>
          <a:chExt cx="0" cy="0"/>
        </a:xfrm>
      </p:grpSpPr>
      <p:sp>
        <p:nvSpPr>
          <p:cNvPr id="765" name="Google Shape;765;g3ef7e448b27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it-IT"/>
              <a:t>Tutte le soluzioni viste in precedenza sono applicabili anche nel caso della Range Search, dato che quello che cambia è semplicemente la finestra di ricerca: l'approccio di ricerca in sé rimane lo stesso. Ovviamente si ottengono tempi di esecuzione minori riducendo la finestra di ricerca; tuttavia, è importante considerare anche i casi d'uso specifici della Range Search. Può infatti risultare particolarmente vantaggiosa nel contesto del motion estimation, perché elimina i match illogici, quelli che risultano essere troppo lontani per rappresentare un movimento plausibile, producendo risultati coerenti dal punto di vista fisico. </a:t>
            </a:r>
            <a:endParaRPr/>
          </a:p>
          <a:p>
            <a:pPr indent="0" lvl="0" marL="0" rtl="0" algn="l">
              <a:spcBef>
                <a:spcPts val="0"/>
              </a:spcBef>
              <a:spcAft>
                <a:spcPts val="0"/>
              </a:spcAft>
              <a:buSzPts val="1100"/>
              <a:buNone/>
            </a:pPr>
            <a:r>
              <a:t/>
            </a:r>
            <a:endParaRPr/>
          </a:p>
          <a:p>
            <a:pPr indent="0" lvl="0" marL="0" rtl="0" algn="l">
              <a:spcBef>
                <a:spcPts val="0"/>
              </a:spcBef>
              <a:spcAft>
                <a:spcPts val="0"/>
              </a:spcAft>
              <a:buSzPts val="1100"/>
              <a:buNone/>
            </a:pPr>
            <a:r>
              <a:rPr lang="it-IT"/>
              <a:t>Ad esempio, il range di ricerca può essere scelto in modo proporzionale al frame rate di un video: a seconda del tempo che intercorre tra un frame e l'altro, si può essere ragionevolmente certi che un blocco non si sposterà oltre un certo range. </a:t>
            </a:r>
            <a:endParaRPr/>
          </a:p>
        </p:txBody>
      </p:sp>
      <p:sp>
        <p:nvSpPr>
          <p:cNvPr id="766" name="Google Shape;766;g3ef7e448b27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7" name="Shape 777"/>
        <p:cNvGrpSpPr/>
        <p:nvPr/>
      </p:nvGrpSpPr>
      <p:grpSpPr>
        <a:xfrm>
          <a:off x="0" y="0"/>
          <a:ext cx="0" cy="0"/>
          <a:chOff x="0" y="0"/>
          <a:chExt cx="0" cy="0"/>
        </a:xfrm>
      </p:grpSpPr>
      <p:sp>
        <p:nvSpPr>
          <p:cNvPr id="778" name="Google Shape;778;g3edea436407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
        <p:nvSpPr>
          <p:cNvPr id="779" name="Google Shape;779;g3edea436407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1" name="Shape 791"/>
        <p:cNvGrpSpPr/>
        <p:nvPr/>
      </p:nvGrpSpPr>
      <p:grpSpPr>
        <a:xfrm>
          <a:off x="0" y="0"/>
          <a:ext cx="0" cy="0"/>
          <a:chOff x="0" y="0"/>
          <a:chExt cx="0" cy="0"/>
        </a:xfrm>
      </p:grpSpPr>
      <p:sp>
        <p:nvSpPr>
          <p:cNvPr id="792" name="Google Shape;792;g3edea436407_1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calcolo della finestra di ricerca (calculateCudaSearchBounds) è comune a tutte e tre le implementazioni CUDA viste finora; qui viene mostrato nel contesto del kernel Naive a titolo di esempio, ma lo stesso meccanismo di bound è alla base anche delle versioni Optimized Uncoalesced e Optimized.</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Nella Range Search, il taglio della finestra di ricerca sui bordi genera inattività tra i thread. Il problema non è l'inattività in sé (il cui impatto scala proporzionalmente con la dimensione dell'area di ricerca e del blocco CUDA), ma il modo in cui questa si manifesta a livello di warp:</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it-IT">
                <a:solidFill>
                  <a:schemeClr val="dk1"/>
                </a:solidFill>
              </a:rPr>
              <a:t>Warp parzialmente attivi</a:t>
            </a:r>
            <a:r>
              <a:rPr lang="it-IT">
                <a:solidFill>
                  <a:schemeClr val="dk1"/>
                </a:solidFill>
              </a:rPr>
              <a:t>: il limite delle posizioni valide divide i thread dello stesso warp, alcuni lavorano, altri restano inattivi. Questo genera warp divergence: l'hardware è costretto a mascherare i thread inattivi, che devono comunque attendere il completamento del calcolo dei thread attivi, sprecando cicli di clock.</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it-IT">
                <a:solidFill>
                  <a:schemeClr val="dk1"/>
                </a:solidFill>
              </a:rPr>
              <a:t>Warp completamente inattivi</a:t>
            </a:r>
            <a:r>
              <a:rPr lang="it-IT">
                <a:solidFill>
                  <a:schemeClr val="dk1"/>
                </a:solidFill>
              </a:rPr>
              <a:t>: se tutti i 32 thread di un warp sono inattivi, non si verifica divergenza intra-warp. Non c'è stallo, ma la GPU risulta comunque sotto-utilizzata, avendo allocato risorse per un blocco che termina il proprio lavoro in anticipo.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numero di thread o blocchi CUDA sprecati varia in base all'implementazione utilizzata:</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it-IT">
                <a:solidFill>
                  <a:schemeClr val="dk1"/>
                </a:solidFill>
              </a:rPr>
              <a:t>CUDA Naive</a:t>
            </a:r>
            <a:r>
              <a:rPr lang="it-IT">
                <a:solidFill>
                  <a:schemeClr val="dk1"/>
                </a:solidFill>
              </a:rPr>
              <a:t>: ogni thread del blocco CUDA ha assegnato un candidato specifico, quindi si ha un thread inattivo per ogni candidato mancante rispetto al caso Full Search.</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it-IT">
                <a:solidFill>
                  <a:schemeClr val="dk1"/>
                </a:solidFill>
              </a:rPr>
              <a:t>CUDA Optimized Uncoalesced</a:t>
            </a:r>
            <a:r>
              <a:rPr lang="it-IT">
                <a:solidFill>
                  <a:schemeClr val="dk1"/>
                </a:solidFill>
              </a:rPr>
              <a:t>: i thread lungo YZ, che mappano i candidati, possono restare inattivi se non hanno un candidato valido assegnato; i corrispondenti thread lungo X, dedicati al calcolo parallelo del SAD, restano invece disponibili e vengono comunque sfruttati durante le fasi di riduzione a livello di warp.</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it-IT">
                <a:solidFill>
                  <a:schemeClr val="dk1"/>
                </a:solidFill>
              </a:rPr>
              <a:t>CUDA Optimized</a:t>
            </a:r>
            <a:r>
              <a:rPr lang="it-IT">
                <a:solidFill>
                  <a:schemeClr val="dk1"/>
                </a:solidFill>
              </a:rPr>
              <a:t>: qui il concetto di spreco cambia radicalmente. Poiché ogni candidato è mappato a un intero blocco CUDA lungo la dimensione Z (e non a un singolo thread, come nel Naive), un candidato non valido nella finestra di ricerca non genera thread inattivi all'interno di un blocco, bensì interi blocchi CUDA completamente inattivi: se il numero di candidati effettivi in Range Search è inferiore a quello previsto per la Full Search, alcuni blocchi lungo Z non trovano alcun candidato da processare e restano interamente inutilizzati.</a:t>
            </a:r>
            <a:endParaRPr>
              <a:solidFill>
                <a:schemeClr val="dk1"/>
              </a:solidFill>
            </a:endParaRPr>
          </a:p>
          <a:p>
            <a:pPr indent="0" lvl="0" marL="0" rtl="0" algn="l">
              <a:spcBef>
                <a:spcPts val="1200"/>
              </a:spcBef>
              <a:spcAft>
                <a:spcPts val="0"/>
              </a:spcAft>
              <a:buNone/>
            </a:pPr>
            <a:r>
              <a:t/>
            </a:r>
            <a:endParaRPr>
              <a:solidFill>
                <a:schemeClr val="dk1"/>
              </a:solidFill>
            </a:endParaRPr>
          </a:p>
        </p:txBody>
      </p:sp>
      <p:sp>
        <p:nvSpPr>
          <p:cNvPr id="793" name="Google Shape;793;g3edea436407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5" name="Shape 815"/>
        <p:cNvGrpSpPr/>
        <p:nvPr/>
      </p:nvGrpSpPr>
      <p:grpSpPr>
        <a:xfrm>
          <a:off x="0" y="0"/>
          <a:ext cx="0" cy="0"/>
          <a:chOff x="0" y="0"/>
          <a:chExt cx="0" cy="0"/>
        </a:xfrm>
      </p:grpSpPr>
      <p:sp>
        <p:nvSpPr>
          <p:cNvPr id="816" name="Google Shape;816;g3edea436407_1_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Per ovviare a questo problema, è possibile valutare una versione OpenMP per la Range Search.</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OpenMP si basa su un modello architetturale SPMD (Single Program, Multiple Data): lo stesso programma, viene eseguito in parallelo da più thread, ciascuno dei quali opera su un'istanza diversa dei dati, cioè su un blocco del current frame differente e indipendente dagli altri.</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È importante distinguere questo dal concetto di concorrenza: qui si parla di esecuzione </a:t>
            </a:r>
            <a:r>
              <a:rPr b="1" lang="it-IT">
                <a:solidFill>
                  <a:schemeClr val="dk1"/>
                </a:solidFill>
              </a:rPr>
              <a:t>in parallelo</a:t>
            </a:r>
            <a:r>
              <a:rPr lang="it-IT">
                <a:solidFill>
                  <a:schemeClr val="dk1"/>
                </a:solidFill>
              </a:rPr>
              <a:t>, cioè simultanea su core fisici distinti, non semplicemente di gestione concorrente di più task nel tempo su un'unica unità di calcolo.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A differenza del modello SIMT di CUDA, dove tutti i 32 thread di un warp condividono la stessa unità di fetch e decodifica delle istruzioni e devono quindi eseguire la stessa istruzione nello stesso ciclo di clock (lock-step), i core di una CPU sono fisicamente indipendenti, ciascuno con il proprio program counter. Questo elimina qualsiasi vincolo di sincronizzazione a livello hardware tra i thread: due thread CPU possono eseguire istruzioni completamente diverse, o restare in stati diversi, senza che l'hardware debba mascherare l'esecuzione di alcun thread, un costo che, come visto in precedenza, è invece intrinseco all'architettura SIMT quando i percorsi di esecuzione all'interno di un warp divergono.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Questo si rivela particolarmente vantaggioso nella Range Search, dove i blocchi vicini ai bordi del frame hanno un numero di candidati validi inferiore rispetto ai blocchi interni, rendendo il carico di lavoro non uniforme. Il runtime di OpenMP può riassegnare dinamicamente il lavoro ai thread che terminano prima, ribilanciando il carico tra i core disponibili.</a:t>
            </a:r>
            <a:endParaRPr>
              <a:solidFill>
                <a:schemeClr val="dk1"/>
              </a:solidFill>
            </a:endParaRPr>
          </a:p>
          <a:p>
            <a:pPr indent="0" lvl="0" marL="0" rtl="0" algn="l">
              <a:spcBef>
                <a:spcPts val="1200"/>
              </a:spcBef>
              <a:spcAft>
                <a:spcPts val="0"/>
              </a:spcAft>
              <a:buNone/>
            </a:pPr>
            <a:r>
              <a:t/>
            </a:r>
            <a:endParaRPr/>
          </a:p>
        </p:txBody>
      </p:sp>
      <p:sp>
        <p:nvSpPr>
          <p:cNvPr id="817" name="Google Shape;817;g3edea436407_1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4" name="Shape 824"/>
        <p:cNvGrpSpPr/>
        <p:nvPr/>
      </p:nvGrpSpPr>
      <p:grpSpPr>
        <a:xfrm>
          <a:off x="0" y="0"/>
          <a:ext cx="0" cy="0"/>
          <a:chOff x="0" y="0"/>
          <a:chExt cx="0" cy="0"/>
        </a:xfrm>
      </p:grpSpPr>
      <p:sp>
        <p:nvSpPr>
          <p:cNvPr id="825" name="Google Shape;825;g3ee0c76c179_1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Profiling factors:</a:t>
            </a:r>
            <a:endParaRPr b="1">
              <a:solidFill>
                <a:schemeClr val="dk1"/>
              </a:solidFill>
            </a:endParaRPr>
          </a:p>
          <a:p>
            <a:pPr indent="-298450" lvl="0" marL="457200" rtl="0" algn="l">
              <a:lnSpc>
                <a:spcPct val="115000"/>
              </a:lnSpc>
              <a:spcBef>
                <a:spcPts val="1200"/>
              </a:spcBef>
              <a:spcAft>
                <a:spcPts val="0"/>
              </a:spcAft>
              <a:buClr>
                <a:schemeClr val="dk1"/>
              </a:buClr>
              <a:buSzPts val="1100"/>
              <a:buChar char="●"/>
            </a:pPr>
            <a:r>
              <a:rPr b="1" lang="it-IT">
                <a:solidFill>
                  <a:schemeClr val="dk1"/>
                </a:solidFill>
              </a:rPr>
              <a:t>borderRatio</a:t>
            </a:r>
            <a:r>
              <a:rPr lang="it-IT">
                <a:solidFill>
                  <a:schemeClr val="dk1"/>
                </a:solidFill>
              </a:rPr>
              <a:t>: la frazione esatta dei blocchi dell'immagine i cui blocchi subiscono il taglio della search window.</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Il numero di blocchi "interni", cioè quelli la cui finestra di ricerca non viene tagliata dai bordi del frame, si calcola in tre passaggi. Innanzitutto, si converte il search range (espresso in blocchi) in un numero equivalente di blocchi di margine (rangeBlocks), arrotondando per eccesso: questo rappresenta quanti blocchi</a:t>
            </a:r>
            <a:r>
              <a:rPr lang="it-IT">
                <a:solidFill>
                  <a:schemeClr val="dk1"/>
                </a:solidFill>
              </a:rPr>
              <a:t>, a partire dal bordo</a:t>
            </a:r>
            <a:r>
              <a:rPr lang="it-IT">
                <a:solidFill>
                  <a:schemeClr val="dk1"/>
                </a:solidFill>
              </a:rPr>
              <a:t>, possono avere una finestra di ricerca incompleta. Si sottrae poi il doppio di questo valore (una volta per ciascun lato del frame lungo quell'asse) dalle dimensioni totali della griglia, ottenendo le dimensioni della regione "interna" lungo X e lungo Y, con un limite inferiore a zero, per gestire correttamente il caso in cui il search range sia talmente ampio da non lasciare alcun blocco realmente interno. Infine, il numero totale di blocchi interni è il prodotto di queste due dimensioni, esattamente come per il calcolo del numero totale di blocchi del frame.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Questo valore è alla base del calcolo di borderRatio: più la regione interna si riduce rispetto al totale dei blocchi, più alta risulta la frazione di blocchi soggetti al taglio della finestra di ricerca, e di conseguenza più alto sarà il fragmentationFactor utilizzato per adattare la dimensione del chunk.</a:t>
            </a:r>
            <a:endParaRPr>
              <a:solidFill>
                <a:schemeClr val="dk1"/>
              </a:solidFill>
            </a:endParaRPr>
          </a:p>
          <a:p>
            <a:pPr indent="-298450" lvl="0" marL="457200" rtl="0" algn="l">
              <a:lnSpc>
                <a:spcPct val="115000"/>
              </a:lnSpc>
              <a:spcBef>
                <a:spcPts val="1200"/>
              </a:spcBef>
              <a:spcAft>
                <a:spcPts val="0"/>
              </a:spcAft>
              <a:buClr>
                <a:schemeClr val="dk1"/>
              </a:buClr>
              <a:buSzPts val="1100"/>
              <a:buChar char="●"/>
            </a:pPr>
            <a:r>
              <a:rPr b="1" lang="it-IT">
                <a:solidFill>
                  <a:schemeClr val="dk1"/>
                </a:solidFill>
              </a:rPr>
              <a:t>fragmentationFactor</a:t>
            </a:r>
            <a:r>
              <a:rPr lang="it-IT">
                <a:solidFill>
                  <a:schemeClr val="dk1"/>
                </a:solidFill>
              </a:rPr>
              <a:t>: il fattore che regola la frammentazione del workload, agendo direttamente sulla dimensione del singolo chunk. All'aumentare di tale valore, la dimensione del chunk diminuisce. Questa elevata granularità è importante nella Range Search con raggi di ricerca ampi (o con immagini di piccole dimensioni), dove lo sbilanciamento del carico ai bordi è severo e quindi si ha un fragmentationFactor alto. Al contrario, il fattore rimane pari a 1 nel caso di una Full Search (o con Range Search modeste su immagini grandi), mantenendo un chunk elevato per minimizzare l'overhead.</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b="1" lang="it-IT">
                <a:solidFill>
                  <a:schemeClr val="dk1"/>
                </a:solidFill>
              </a:rPr>
              <a:t>costPerBlock</a:t>
            </a:r>
            <a:r>
              <a:rPr lang="it-IT">
                <a:solidFill>
                  <a:schemeClr val="dk1"/>
                </a:solidFill>
              </a:rPr>
              <a:t>: stima il costo computazionale calcolando il numero totale di operazioni SAD richieste per un blocco centrale. Questo è fondamentale perché permette di capire se l'operazione è abbastanza "pesante" da giustificare o meno l'intervento dello scheduler dinamico.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b="1" lang="it-IT">
                <a:solidFill>
                  <a:schemeClr val="dk1"/>
                </a:solidFill>
              </a:rPr>
              <a:t>Adaptive Scheduling Strategy:</a:t>
            </a:r>
            <a:endParaRPr b="1">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Lo scheduling statico viene selezionato in tre casi:</a:t>
            </a:r>
            <a:endParaRPr>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it-IT">
                <a:solidFill>
                  <a:schemeClr val="dk1"/>
                </a:solidFill>
              </a:rPr>
              <a:t>Full Search</a:t>
            </a:r>
            <a:r>
              <a:rPr lang="it-IT">
                <a:solidFill>
                  <a:schemeClr val="dk1"/>
                </a:solidFill>
              </a:rPr>
              <a:t>, perché il carico è per definizione perfettamente bilanciato e uniforme su tutta l'immagine.</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IT">
                <a:solidFill>
                  <a:schemeClr val="dk1"/>
                </a:solidFill>
              </a:rPr>
              <a:t>costPerBlock estremamente alto</a:t>
            </a:r>
            <a:r>
              <a:rPr lang="it-IT">
                <a:solidFill>
                  <a:schemeClr val="dk1"/>
                </a:solidFill>
              </a:rPr>
              <a:t> (sopra le 50.000 operazioni SAD): il tempo speso per calcolare il singolo blocco copre ampiamente il piccolo sbilanciamento ai bordi, quindi conviene usare lo scheduling statico, evitando l'overhead di gestione dinamica.</a:t>
            </a:r>
            <a:endParaRPr>
              <a:solidFill>
                <a:schemeClr val="dk1"/>
              </a:solidFill>
            </a:endParaRPr>
          </a:p>
          <a:p>
            <a:pPr indent="-298450" lvl="0" marL="457200" rtl="0" algn="l">
              <a:lnSpc>
                <a:spcPct val="115000"/>
              </a:lnSpc>
              <a:spcBef>
                <a:spcPts val="0"/>
              </a:spcBef>
              <a:spcAft>
                <a:spcPts val="0"/>
              </a:spcAft>
              <a:buClr>
                <a:schemeClr val="dk1"/>
              </a:buClr>
              <a:buSzPts val="1100"/>
              <a:buAutoNum type="arabicPeriod"/>
            </a:pPr>
            <a:r>
              <a:rPr b="1" lang="it-IT">
                <a:solidFill>
                  <a:schemeClr val="dk1"/>
                </a:solidFill>
              </a:rPr>
              <a:t>Numero di blocchi insufficiente rispetto ai thread disponibili</a:t>
            </a:r>
            <a:r>
              <a:rPr lang="it-IT">
                <a:solidFill>
                  <a:schemeClr val="dk1"/>
                </a:solidFill>
              </a:rPr>
              <a:t> (moltiplicati per il fragmentationFactor): con così pochi blocchi da distribuire, lo scheduling dinamico non porterebbe benefici concreti di ribilanciamento, e il suo overhead risulterebbe ingiustificato.</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IT">
                <a:solidFill>
                  <a:schemeClr val="dk1"/>
                </a:solidFill>
              </a:rPr>
              <a:t>Lo scheduling dinamico, invece, viene selezionato quando il costo per blocco è basso e si utilizza la Range Search con un numero sufficiente di blocchi da distribuire. In questa situazione, alcuni dei core che processano i blocchi sul bordo finiscono prima e resterebbero altrimenti inattivi; lo scheduling dinamico permette a questi core di prelevare immediatamente nuovi task dalla coda, mantenendo l'occupancy della CPU sempre al massimo.</a:t>
            </a:r>
            <a:endParaRPr>
              <a:solidFill>
                <a:schemeClr val="dk1"/>
              </a:solidFill>
            </a:endParaRPr>
          </a:p>
          <a:p>
            <a:pPr indent="0" lvl="0" marL="0" rtl="0" algn="l">
              <a:spcBef>
                <a:spcPts val="1200"/>
              </a:spcBef>
              <a:spcAft>
                <a:spcPts val="0"/>
              </a:spcAft>
              <a:buNone/>
            </a:pPr>
            <a:r>
              <a:t/>
            </a:r>
            <a:endParaRPr b="1">
              <a:solidFill>
                <a:schemeClr val="dk1"/>
              </a:solidFill>
            </a:endParaRPr>
          </a:p>
        </p:txBody>
      </p:sp>
      <p:sp>
        <p:nvSpPr>
          <p:cNvPr id="826" name="Google Shape;826;g3ee0c76c179_1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7" name="Shape 837"/>
        <p:cNvGrpSpPr/>
        <p:nvPr/>
      </p:nvGrpSpPr>
      <p:grpSpPr>
        <a:xfrm>
          <a:off x="0" y="0"/>
          <a:ext cx="0" cy="0"/>
          <a:chOff x="0" y="0"/>
          <a:chExt cx="0" cy="0"/>
        </a:xfrm>
      </p:grpSpPr>
      <p:sp>
        <p:nvSpPr>
          <p:cNvPr id="838" name="Google Shape;838;g3ee0c76c179_1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it-IT"/>
              <a:t>Thread-Level Parallelism:</a:t>
            </a:r>
            <a:endParaRPr b="1"/>
          </a:p>
          <a:p>
            <a:pPr indent="0" lvl="0" marL="0" rtl="0" algn="l">
              <a:spcBef>
                <a:spcPts val="0"/>
              </a:spcBef>
              <a:spcAft>
                <a:spcPts val="0"/>
              </a:spcAft>
              <a:buNone/>
            </a:pPr>
            <a:r>
              <a:rPr lang="it-IT"/>
              <a:t> il primo livello di parallelismo opera nel dominio spaziale dell'immagine, cioè sulla griglia dei blocchi del frame.</a:t>
            </a:r>
            <a:endParaRPr/>
          </a:p>
          <a:p>
            <a:pPr indent="0" lvl="0" marL="0" rtl="0" algn="l">
              <a:spcBef>
                <a:spcPts val="0"/>
              </a:spcBef>
              <a:spcAft>
                <a:spcPts val="0"/>
              </a:spcAft>
              <a:buNone/>
            </a:pPr>
            <a:r>
              <a:rPr lang="it-IT"/>
              <a:t>L'impiego della direttiva collapse(2) permette di "appiattire" i due cicli annidati sulle coordinate spaziali (bx, by) in un unico spazio di iterazione monodimensionale, fornendo al runtime OpenMP un numero massimo di iterazioni indipendenti da distribuire tra i thread, con una granularità più fine e un migliore bilanciamento del carico (specialmente nei casi in cui il workload non è uniforme) come discusso per la Range Search.</a:t>
            </a:r>
            <a:endParaRPr/>
          </a:p>
          <a:p>
            <a:pPr indent="0" lvl="0" marL="0" rtl="0" algn="l">
              <a:spcBef>
                <a:spcPts val="0"/>
              </a:spcBef>
              <a:spcAft>
                <a:spcPts val="0"/>
              </a:spcAft>
              <a:buNone/>
            </a:pPr>
            <a:r>
              <a:rPr lang="it-IT"/>
              <a:t>L'intero spazio di iterazione è lock-free: ogni iterazione calcola e scrive il proprio motion vector in una posizione di memoria (mv[bx][by]) esclusiva e distinta, senza mai sovrapporsi con quella scritta da altre iterazioni. Questo elimina la necessità di sezioni critiche o meccanismi di sincronizzazione tra i thread.</a:t>
            </a:r>
            <a:endParaRPr/>
          </a:p>
          <a:p>
            <a:pPr indent="0" lvl="0" marL="0" rtl="0" algn="l">
              <a:spcBef>
                <a:spcPts val="0"/>
              </a:spcBef>
              <a:spcAft>
                <a:spcPts val="0"/>
              </a:spcAft>
              <a:buNone/>
            </a:pPr>
            <a:r>
              <a:t/>
            </a:r>
            <a:endParaRPr/>
          </a:p>
          <a:p>
            <a:pPr indent="0" lvl="0" marL="0" rtl="0" algn="l">
              <a:spcBef>
                <a:spcPts val="0"/>
              </a:spcBef>
              <a:spcAft>
                <a:spcPts val="0"/>
              </a:spcAft>
              <a:buNone/>
            </a:pPr>
            <a:r>
              <a:rPr b="1" lang="it-IT"/>
              <a:t>Data-Level Parallelism (Dominio dei Pixel)</a:t>
            </a:r>
            <a:r>
              <a:rPr lang="it-IT"/>
              <a:t>: </a:t>
            </a:r>
            <a:endParaRPr/>
          </a:p>
          <a:p>
            <a:pPr indent="0" lvl="0" marL="0" rtl="0" algn="l">
              <a:spcBef>
                <a:spcPts val="0"/>
              </a:spcBef>
              <a:spcAft>
                <a:spcPts val="0"/>
              </a:spcAft>
              <a:buNone/>
            </a:pPr>
            <a:r>
              <a:rPr lang="it-IT"/>
              <a:t>il secondo livello di parallelismo opera a un livello di granularità più fine rispetto al primo: mentre il thread-level parallelism distribuisce tra i thread i diversi blocchi del frame, il data-level parallelism agisce all'interno del lavoro svolto da un singolo thread, quando questo calcola il SAD per una specifica coppia di blocchi.</a:t>
            </a:r>
            <a:endParaRPr/>
          </a:p>
          <a:p>
            <a:pPr indent="0" lvl="0" marL="0" rtl="0" algn="l">
              <a:spcBef>
                <a:spcPts val="0"/>
              </a:spcBef>
              <a:spcAft>
                <a:spcPts val="0"/>
              </a:spcAft>
              <a:buNone/>
            </a:pPr>
            <a:r>
              <a:rPr lang="it-IT"/>
              <a:t>Applicando la direttiva #pragma omp simd al ciclo più interno (quello del calcolo della Sum of Absolute Differences), si istruisce il compilatore a vettorizzare le istruzioni, sfruttando i registri vettoriali della CPU. Anziché calcolare la differenza assoluta tra un singolo pixel alla volta, l'istruzione vettoriale elabora contemporaneamente più pixel adiacenti in un'unica istruzione, aumentando il throughput computazionale rispetto all'elaborazione scalare sequenziale, pur restando ciascuna istruzione soggetta alla propria latenza di esecuzione.</a:t>
            </a:r>
            <a:endParaRPr/>
          </a:p>
          <a:p>
            <a:pPr indent="0" lvl="0" marL="0" rtl="0" algn="l">
              <a:spcBef>
                <a:spcPts val="0"/>
              </a:spcBef>
              <a:spcAft>
                <a:spcPts val="0"/>
              </a:spcAft>
              <a:buNone/>
            </a:pPr>
            <a:r>
              <a:rPr lang="it-IT"/>
              <a:t>Infine, tramite la clausola reduction(+:sad), le somme parziali calcolate dalle diverse lane del registro vettoriale vengono combinate in modo corretto e deterministico, per ottenere il valore finale di SAD per quella coppia di blocchi.</a:t>
            </a:r>
            <a:endParaRPr/>
          </a:p>
        </p:txBody>
      </p:sp>
      <p:sp>
        <p:nvSpPr>
          <p:cNvPr id="839" name="Google Shape;839;g3ee0c76c179_1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6" name="Shape 856"/>
        <p:cNvGrpSpPr/>
        <p:nvPr/>
      </p:nvGrpSpPr>
      <p:grpSpPr>
        <a:xfrm>
          <a:off x="0" y="0"/>
          <a:ext cx="0" cy="0"/>
          <a:chOff x="0" y="0"/>
          <a:chExt cx="0" cy="0"/>
        </a:xfrm>
      </p:grpSpPr>
      <p:sp>
        <p:nvSpPr>
          <p:cNvPr id="857" name="Google Shape;857;g3efa4f403d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a:t>In un primo confronto tra la Range Search su OpenMP e su CUDA Optimized Uncoalesced, si nota che con un basso numero di blocchi nel frame, dovuto a un range di ricerca ridotto, a una risoluzione bassa, o a una block size ampia, il peso relativo dell'overhead di trasferimento H2D/D2H della soluzione CUDA risulta più marcato, poiché il kernel ha meno lavoro da svolgere e quindi meno tempo per "mascherare" quell'overhead fisso. La versione OpenMP, non dovendo gestire alcun trasferimento tra host e device, ne trae quindi vantaggio in queste condizioni.</a:t>
            </a:r>
            <a:endParaRPr/>
          </a:p>
          <a:p>
            <a:pPr indent="0" lvl="0" marL="0" rtl="0" algn="l">
              <a:spcBef>
                <a:spcPts val="0"/>
              </a:spcBef>
              <a:spcAft>
                <a:spcPts val="0"/>
              </a:spcAft>
              <a:buNone/>
            </a:pPr>
            <a:r>
              <a:rPr lang="it-IT"/>
              <a:t>Questo vantaggio si riduce all'aumentare del numero di blocchi: quando il carico computazionale cresce, il peso relativo del trasferimento H2D/D2H viene sempre più mascherato dal tempo speso nel calcolo stesso, che la GPU riesce a eseguire sfruttando una quantità di risorse di parallelizzazione che la CPU non è in grado di replicare.</a:t>
            </a:r>
            <a:endParaRPr/>
          </a:p>
        </p:txBody>
      </p:sp>
      <p:sp>
        <p:nvSpPr>
          <p:cNvPr id="858" name="Google Shape;858;g3efa4f403d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6" name="Shape 866"/>
        <p:cNvGrpSpPr/>
        <p:nvPr/>
      </p:nvGrpSpPr>
      <p:grpSpPr>
        <a:xfrm>
          <a:off x="0" y="0"/>
          <a:ext cx="0" cy="0"/>
          <a:chOff x="0" y="0"/>
          <a:chExt cx="0" cy="0"/>
        </a:xfrm>
      </p:grpSpPr>
      <p:sp>
        <p:nvSpPr>
          <p:cNvPr id="867" name="Google Shape;867;g3efa07dcd74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a:t>Per quanto riguarda invece il confronto con la versione CUDA Optimized, con un alto numero di blocchi nel frame il buffer d_sad inizia ad avere dimensioni tali da limitare i vantaggi della soluzione CUDA, un problema già evidenziato nel benchmark dedicato a questa implementazione. A questo si aggiungono il costo degli accessi ripetuti alla GMEM e l'overhead di sincronizzazione introdotto dalla necessità di eseguire due kernel separati, uno per il calcolo del SAD e uno per la ricerca del miglior candidato.</a:t>
            </a:r>
            <a:endParaRPr/>
          </a:p>
          <a:p>
            <a:pPr indent="0" lvl="0" marL="0" rtl="0" algn="l">
              <a:spcBef>
                <a:spcPts val="0"/>
              </a:spcBef>
              <a:spcAft>
                <a:spcPts val="0"/>
              </a:spcAft>
              <a:buNone/>
            </a:pPr>
            <a:r>
              <a:rPr lang="it-IT"/>
              <a:t>In queste condizioni, la versione OpenMP, pur disponendo di risorse di parallelizzazione nettamente inferiori rispetto alla GPU, riesce comunque a offrire prestazioni migliori, poiché non è soggetta a nessuno di questi overhead specifici dell'architettura CUDA a due kernel.</a:t>
            </a:r>
            <a:endParaRPr/>
          </a:p>
        </p:txBody>
      </p:sp>
      <p:sp>
        <p:nvSpPr>
          <p:cNvPr id="868" name="Google Shape;868;g3efa07dcd74_0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7" name="Shape 877"/>
        <p:cNvGrpSpPr/>
        <p:nvPr/>
      </p:nvGrpSpPr>
      <p:grpSpPr>
        <a:xfrm>
          <a:off x="0" y="0"/>
          <a:ext cx="0" cy="0"/>
          <a:chOff x="0" y="0"/>
          <a:chExt cx="0" cy="0"/>
        </a:xfrm>
      </p:grpSpPr>
      <p:sp>
        <p:nvSpPr>
          <p:cNvPr id="878" name="Google Shape;878;g3efb6ea1b13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it-IT"/>
              <a:t>La situazione cambia in funzione del range di ricerca, a parità di block size: con un range ridotto, il numero di candidati da confrontare per ciascun blocco è basso, e di conseguenza anche il carico computazionale del kernel resta contenuto. In questo scenario, gli overhead strutturali della soluzione CUDA (accessi ripetuti a GMEM, sincronizzazione tra i due kernel) pesano proporzionalmente di più rispetto al lavoro utile svolto dalla GPU, e la versione OpenMP mantiene quindi un netto vantaggio.</a:t>
            </a:r>
            <a:endParaRPr/>
          </a:p>
          <a:p>
            <a:pPr indent="0" lvl="0" marL="0" rtl="0" algn="l">
              <a:spcBef>
                <a:spcPts val="0"/>
              </a:spcBef>
              <a:spcAft>
                <a:spcPts val="0"/>
              </a:spcAft>
              <a:buClr>
                <a:schemeClr val="dk1"/>
              </a:buClr>
              <a:buSzPts val="1100"/>
              <a:buFont typeface="Arial"/>
              <a:buNone/>
            </a:pPr>
            <a:r>
              <a:rPr lang="it-IT"/>
              <a:t>All'aumentare del range di ricerca, e quindi del numero di candidati, il carico computazionale cresce in modo sostanziale: qui il maggior lavoro da svolgere permette alla GPU di sfruttare finalmente in modo efficace il proprio massiccio parallelismo, il cui vantaggio arriva a superare il peso degli overhead strutturali, ribaltando il risultato a favore della versione CUDA Optimized rispetto a OpenMP.</a:t>
            </a:r>
            <a:endParaRPr/>
          </a:p>
          <a:p>
            <a:pPr indent="0" lvl="0" marL="0" rtl="0" algn="l">
              <a:spcBef>
                <a:spcPts val="0"/>
              </a:spcBef>
              <a:spcAft>
                <a:spcPts val="0"/>
              </a:spcAft>
              <a:buNone/>
            </a:pPr>
            <a:r>
              <a:t/>
            </a:r>
            <a:endParaRPr/>
          </a:p>
        </p:txBody>
      </p:sp>
      <p:sp>
        <p:nvSpPr>
          <p:cNvPr id="879" name="Google Shape;879;g3efb6ea1b13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8" name="Shape 888"/>
        <p:cNvGrpSpPr/>
        <p:nvPr/>
      </p:nvGrpSpPr>
      <p:grpSpPr>
        <a:xfrm>
          <a:off x="0" y="0"/>
          <a:ext cx="0" cy="0"/>
          <a:chOff x="0" y="0"/>
          <a:chExt cx="0" cy="0"/>
        </a:xfrm>
      </p:grpSpPr>
      <p:sp>
        <p:nvSpPr>
          <p:cNvPr id="889" name="Google Shape;889;g3ef25d40533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90" name="Google Shape;890;g3ef25d40533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5" name="Shape 895"/>
        <p:cNvGrpSpPr/>
        <p:nvPr/>
      </p:nvGrpSpPr>
      <p:grpSpPr>
        <a:xfrm>
          <a:off x="0" y="0"/>
          <a:ext cx="0" cy="0"/>
          <a:chOff x="0" y="0"/>
          <a:chExt cx="0" cy="0"/>
        </a:xfrm>
      </p:grpSpPr>
      <p:sp>
        <p:nvSpPr>
          <p:cNvPr id="896" name="Google Shape;896;g3ef7e448b27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Full Search contro la Logarithmic Search.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Impostando una distanza di ricerca iniziale pari al valore massimo tra la larghezza e l'altezza del frame (espressa in blocchi), la soluzione logaritmica ci permette di ottenere un risultato approssimato di una possibile esecuzione con full search, ma in tempi drasticamente inferiori, infatti, il costo per calcolare la SAD non è più quadratico rispetto al numero di blocchi, ma scala logaritmicamente in base alla distanza di ricerca.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In questo scenario, il problema del load imbalance già presente nella range search si estremizza. Poiché la distanza di ricerca iniziale copre l'intero frame, di fatto ogni blocco si comporta come un blocco di bordo (border block).</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Una soluzione teorica per mitigare questo effetto sarebbe quella di dinamicizzare la search distance a ogni iterazione, ma questo andrebbe a 'snaturare' l’algoritmo. All'atto pratico, però, questo overhead è del tutto accettabile: valutando solamente 9 candidati per iterazione, lo spreco di risorse computazionali è minimo e del tutto paragonabile a quello di una semplice Range Search con raggio 1.</a:t>
            </a:r>
            <a:endParaRPr/>
          </a:p>
        </p:txBody>
      </p:sp>
      <p:sp>
        <p:nvSpPr>
          <p:cNvPr id="897" name="Google Shape;897;g3ef7e448b27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ef7e448b27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Dal punto di vista del Block Matching, questa soluzione è OK perché rispetta l'obiettivo nativo dell'algoritmo: minimizzare la metrica SAD. Essendo la texture ripetitiva, blocchi distanti lungo la stessa striscia sono identici e producono una SAD vicina allo zero. Inoltre, l'algoritmo risente del cosiddetto problema dell'apertura: esaminando la texture attraverso la finestra limitata del blocco, il movimento lungo la striscia diventa ambiguo, e l'algoritmo si muove coerentemente lungo questo asse di simmetria.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Tuttavia, dal punto di vista della Motion Estimation, la soluzione non è OK. Una stima del moto ideale deve preservare la coerenza spaziale: blocchi adiacenti dello stesso oggetto dovrebbero avere vettori simili. Qui invece il campo vettoriale è frammentato. Inoltre, l'algoritmo non trova il miglior MV(PIÙ BREVE): la Full Search dimostra che esiste uno spostamento reale uniforme e molto più corto che azzera la SAD. Nel block matching, a parità di errore, il vettore più corto è sempre la scelta cinematicamente corretta, ma la Logarithmic Search, a causa dei suoi grandi passi iniziali, salta oltre questo ottimo reale rimanendo intrappolata nei minimi locali adiacenti.</a:t>
            </a:r>
            <a:endParaRPr/>
          </a:p>
        </p:txBody>
      </p:sp>
      <p:sp>
        <p:nvSpPr>
          <p:cNvPr id="916" name="Google Shape;916;g3ef7e448b27_0_1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3" name="Shape 933"/>
        <p:cNvGrpSpPr/>
        <p:nvPr/>
      </p:nvGrpSpPr>
      <p:grpSpPr>
        <a:xfrm>
          <a:off x="0" y="0"/>
          <a:ext cx="0" cy="0"/>
          <a:chOff x="0" y="0"/>
          <a:chExt cx="0" cy="0"/>
        </a:xfrm>
      </p:grpSpPr>
      <p:sp>
        <p:nvSpPr>
          <p:cNvPr id="934" name="Google Shape;934;g3ef346cf157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Analizzando l'implementazione sequenziale su CPU, notiamo che l'algoritmo itera su tutti i blocchi del frame corrente. Tuttavia, a differenza della Full Search, per ogni blocco non esaminiamo più un batch esaustivo nel reference frame. Al contrario, eseguiamo un ciclo iterativo basato sulla search distance, che viene ripetutamente dimezzata.</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All'interno di questo ciclo logaritmico, valutiamo esclusivamente 9 candidati: il centro di ricerca attuale e gli 8 blocchi circostanti alla distanza d. Trovato il candidato con la SAD minore, questo diventa il nuovo centro per l'iterazione successiva, procedendo in questo modo fino all'esaurimento della search distance.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Per quanto riguarda parallelizzazione e dipendenze: sa un lato, l'elaborazione dei singoli blocchi del current frame è totalmente indipendente e quindi massivamente parallelizzabile. Dall'altro, le iterazioni sulla search distance non lo sono. Essendo necessario conoscere il miglior candidato dello step precedente per avviare quello successivo, ci scontriamo con una dipendenza sui dati di tipo Read-After-Write (RAW).</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Nonostante questo vincolo sequenziale imposto dall'algoritmo logaritmico, internamente a ogni iterazione abbiamo comunque un'ottima opportunità di parallelismo: possiamo infatti calcolare simultaneamente la SAD tra il blocco corrente e i 9 candidati.</a:t>
            </a:r>
            <a:endParaRPr/>
          </a:p>
        </p:txBody>
      </p:sp>
      <p:sp>
        <p:nvSpPr>
          <p:cNvPr id="935" name="Google Shape;935;g3ef346cf157_0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0" name="Shape 950"/>
        <p:cNvGrpSpPr/>
        <p:nvPr/>
      </p:nvGrpSpPr>
      <p:grpSpPr>
        <a:xfrm>
          <a:off x="0" y="0"/>
          <a:ext cx="0" cy="0"/>
          <a:chOff x="0" y="0"/>
          <a:chExt cx="0" cy="0"/>
        </a:xfrm>
      </p:grpSpPr>
      <p:sp>
        <p:nvSpPr>
          <p:cNvPr id="951" name="Google Shape;951;g3ef25d40533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Per risolvere le sfide che abbiamo appena visto, possiamo riadattare l'architettura ottimizzata già sviluppata per la Full Search, modificandola per supportare la Logarithmic Search.</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L'idea centrale consiste nel creare un kernel che ricalca la struttura del precedente computeSADKernel, con una mappatura dei thread specifica. Utilizziamo una Griglia 3D: gli assi X e Y mappano i blocchi dell'immagine, mentre l'asse Z mappa esattamente i 9 candidati da valutare per ogni step. I Blocchi 1D, invece, parallelizzano il calcolo dei pixel.</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A differenza della Full Search, dove lanciavamo un unico kernel, l’host gestisce un ciclo iterativo che dimezza progressivamente la search distance,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IT"/>
              <a:t>Lato Device, all'inizio di ogni iterazione, il kernel recupera la posizione del centro di ricerca corrente. I thread caricano i dati in SMEM e calcolano in parallelo le SAD per i 9 candidati. Una volta calcolate le SAD, l’host richiama CUB Segmented Reduce che seleziona il candidato migliore tra i 9 candidati valutati per ogni current frame block, il quale diventerà automaticamente il nuovo centro di ricerca per il kernel dell'iterazione successiva.</a:t>
            </a:r>
            <a:endParaRPr/>
          </a:p>
        </p:txBody>
      </p:sp>
      <p:sp>
        <p:nvSpPr>
          <p:cNvPr id="952" name="Google Shape;952;g3ef25d40533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0" name="Shape 960"/>
        <p:cNvGrpSpPr/>
        <p:nvPr/>
      </p:nvGrpSpPr>
      <p:grpSpPr>
        <a:xfrm>
          <a:off x="0" y="0"/>
          <a:ext cx="0" cy="0"/>
          <a:chOff x="0" y="0"/>
          <a:chExt cx="0" cy="0"/>
        </a:xfrm>
      </p:grpSpPr>
      <p:sp>
        <p:nvSpPr>
          <p:cNvPr id="961" name="Google Shape;961;g3ef25d40533_0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IT"/>
              <a:t>Rispetto alla struttura della full search, in questo caso possiamo fissare la dimensione Z del CUDA grid a 9, visto che abbiamo esattamente 9 candidati per ogni blocco del frame corrente da analizzare ad ogni iterazione.</a:t>
            </a:r>
            <a:endParaRPr/>
          </a:p>
        </p:txBody>
      </p:sp>
      <p:sp>
        <p:nvSpPr>
          <p:cNvPr id="962" name="Google Shape;962;g3ef25d40533_0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7" name="Shape 987"/>
        <p:cNvGrpSpPr/>
        <p:nvPr/>
      </p:nvGrpSpPr>
      <p:grpSpPr>
        <a:xfrm>
          <a:off x="0" y="0"/>
          <a:ext cx="0" cy="0"/>
          <a:chOff x="0" y="0"/>
          <a:chExt cx="0" cy="0"/>
        </a:xfrm>
      </p:grpSpPr>
      <p:sp>
        <p:nvSpPr>
          <p:cNvPr id="988" name="Google Shape;988;g3ef25d40533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it-IT"/>
              <a:t>Per permettere la comunicazione tra le diverse esecuzioni del kernel e della segmented reduce, sono necessarie due array in GMEM:</a:t>
            </a:r>
            <a:endParaRPr/>
          </a:p>
          <a:p>
            <a:pPr indent="-298450" lvl="0" marL="457200" rtl="0" algn="l">
              <a:spcBef>
                <a:spcPts val="0"/>
              </a:spcBef>
              <a:spcAft>
                <a:spcPts val="0"/>
              </a:spcAft>
              <a:buSzPts val="1100"/>
              <a:buChar char="●"/>
            </a:pPr>
            <a:r>
              <a:rPr lang="it-IT"/>
              <a:t>d_sad_candidates: che mantientien il motion vector ed i sad trovati all’iterazione corrente per ogni blocco del current frame, attenzione tra il mv è calcolato tra il blocco candidato ed il current frame block, non tra il blocco centrale della ricerca. quindi in tale array ho 9 oggetti CandidateSad per ogni frame del blocco corrente analizzato.</a:t>
            </a:r>
            <a:endParaRPr/>
          </a:p>
          <a:p>
            <a:pPr indent="-298450" lvl="0" marL="457200" rtl="0" algn="l">
              <a:spcBef>
                <a:spcPts val="0"/>
              </a:spcBef>
              <a:spcAft>
                <a:spcPts val="0"/>
              </a:spcAft>
              <a:buSzPts val="1100"/>
              <a:buChar char="●"/>
            </a:pPr>
            <a:r>
              <a:rPr lang="it-IT"/>
              <a:t>d_best_candidates: invece contiene un candidato per ogni blocco del frame corrente, ed è semplicemente la riduzione della precedente struttura dati in modo tale da avere il miglior candidato per ogni blocco del frame corrente, e dopo l’ultima iterazione, quindi una volta esaurita la search distace, il risultato finale e quindi il mv ottimale per ogni current frame block.</a:t>
            </a:r>
            <a:endParaRPr/>
          </a:p>
          <a:p>
            <a:pPr indent="0" lvl="0" marL="0" rtl="0" algn="l">
              <a:spcBef>
                <a:spcPts val="0"/>
              </a:spcBef>
              <a:spcAft>
                <a:spcPts val="0"/>
              </a:spcAft>
              <a:buNone/>
            </a:pPr>
            <a:r>
              <a:t/>
            </a:r>
            <a:endParaRPr/>
          </a:p>
          <a:p>
            <a:pPr indent="0" lvl="0" marL="0" rtl="0" algn="l">
              <a:spcBef>
                <a:spcPts val="0"/>
              </a:spcBef>
              <a:spcAft>
                <a:spcPts val="0"/>
              </a:spcAft>
              <a:buNone/>
            </a:pPr>
            <a:r>
              <a:rPr lang="it-IT"/>
              <a:t>Come osservato un precedenza l’iterazioni sulla search distance avvengono proprio in questo modo.</a:t>
            </a:r>
            <a:endParaRPr/>
          </a:p>
          <a:p>
            <a:pPr indent="0" lvl="0" marL="0" rtl="0" algn="l">
              <a:spcBef>
                <a:spcPts val="0"/>
              </a:spcBef>
              <a:spcAft>
                <a:spcPts val="0"/>
              </a:spcAft>
              <a:buSzPts val="1100"/>
              <a:buNone/>
            </a:pPr>
            <a:r>
              <a:t/>
            </a:r>
            <a:endParaRPr/>
          </a:p>
        </p:txBody>
      </p:sp>
      <p:sp>
        <p:nvSpPr>
          <p:cNvPr id="989" name="Google Shape;989;g3ef25d4053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5" name="Shape 1005"/>
        <p:cNvGrpSpPr/>
        <p:nvPr/>
      </p:nvGrpSpPr>
      <p:grpSpPr>
        <a:xfrm>
          <a:off x="0" y="0"/>
          <a:ext cx="0" cy="0"/>
          <a:chOff x="0" y="0"/>
          <a:chExt cx="0" cy="0"/>
        </a:xfrm>
      </p:grpSpPr>
      <p:sp>
        <p:nvSpPr>
          <p:cNvPr id="1006" name="Google Shape;1006;g3efa07dcd74_0_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rPr lang="it-IT"/>
              <a:t>con un alto numero di frame blocks la versione logaritmica chiaramente fornisce soluzioni prettamente migliori.</a:t>
            </a:r>
            <a:endParaRPr/>
          </a:p>
        </p:txBody>
      </p:sp>
      <p:sp>
        <p:nvSpPr>
          <p:cNvPr id="1007" name="Google Shape;1007;g3efa07dcd74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5" name="Shape 1015"/>
        <p:cNvGrpSpPr/>
        <p:nvPr/>
      </p:nvGrpSpPr>
      <p:grpSpPr>
        <a:xfrm>
          <a:off x="0" y="0"/>
          <a:ext cx="0" cy="0"/>
          <a:chOff x="0" y="0"/>
          <a:chExt cx="0" cy="0"/>
        </a:xfrm>
      </p:grpSpPr>
      <p:sp>
        <p:nvSpPr>
          <p:cNvPr id="1016" name="Google Shape;1016;g3f1d0c2dc8d_1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
        <p:nvSpPr>
          <p:cNvPr id="1017" name="Google Shape;1017;g3f1d0c2dc8d_1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5" name="Shape 1025"/>
        <p:cNvGrpSpPr/>
        <p:nvPr/>
      </p:nvGrpSpPr>
      <p:grpSpPr>
        <a:xfrm>
          <a:off x="0" y="0"/>
          <a:ext cx="0" cy="0"/>
          <a:chOff x="0" y="0"/>
          <a:chExt cx="0" cy="0"/>
        </a:xfrm>
      </p:grpSpPr>
      <p:sp>
        <p:nvSpPr>
          <p:cNvPr id="1026" name="Google Shape;1026;g3efa4f403dc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1100"/>
              <a:buNone/>
            </a:pPr>
            <a:r>
              <a:t/>
            </a:r>
            <a:endParaRPr/>
          </a:p>
        </p:txBody>
      </p:sp>
      <p:sp>
        <p:nvSpPr>
          <p:cNvPr id="1027" name="Google Shape;1027;g3efa4f403dc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7" name="Shape 1037"/>
        <p:cNvGrpSpPr/>
        <p:nvPr/>
      </p:nvGrpSpPr>
      <p:grpSpPr>
        <a:xfrm>
          <a:off x="0" y="0"/>
          <a:ext cx="0" cy="0"/>
          <a:chOff x="0" y="0"/>
          <a:chExt cx="0" cy="0"/>
        </a:xfrm>
      </p:grpSpPr>
      <p:sp>
        <p:nvSpPr>
          <p:cNvPr id="1038" name="Google Shape;1038;g3f1d6535f73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39" name="Google Shape;1039;g3f1d6535f73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26" name="Google Shape;26;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7" name="Google Shape;57;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8" name="Google Shape;5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5183188" y="987425"/>
            <a:ext cx="6172200" cy="4873625"/>
          </a:xfrm>
          <a:prstGeom prst="rect">
            <a:avLst/>
          </a:prstGeom>
          <a:noFill/>
          <a:ln>
            <a:noFill/>
          </a:ln>
        </p:spPr>
      </p:sp>
      <p:sp>
        <p:nvSpPr>
          <p:cNvPr id="64" name="Google Shape;64;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7" name="Google Shape;7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p1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8" name="Google Shape;88;p1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4"/>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p15"/>
          <p:cNvSpPr txBox="1"/>
          <p:nvPr>
            <p:ph type="ctrTitle"/>
          </p:nvPr>
        </p:nvSpPr>
        <p:spPr>
          <a:xfrm>
            <a:off x="685800" y="2130425"/>
            <a:ext cx="7772400" cy="1470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93" name="Google Shape;93;p15"/>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4" name="Google Shape;94;p15"/>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5" name="Google Shape;95;p15"/>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p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8" name="Google Shape;98;p16"/>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99" name="Google Shape;99;p16"/>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0" name="Google Shape;100;p16"/>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1" name="Google Shape;101;p16"/>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p17"/>
          <p:cNvSpPr txBox="1"/>
          <p:nvPr>
            <p:ph type="title"/>
          </p:nvPr>
        </p:nvSpPr>
        <p:spPr>
          <a:xfrm>
            <a:off x="722313" y="4406900"/>
            <a:ext cx="7772400" cy="1362000"/>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4" name="Google Shape;104;p17"/>
          <p:cNvSpPr txBox="1"/>
          <p:nvPr>
            <p:ph idx="1" type="body"/>
          </p:nvPr>
        </p:nvSpPr>
        <p:spPr>
          <a:xfrm>
            <a:off x="722313" y="2906713"/>
            <a:ext cx="7772400" cy="15003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105" name="Google Shape;105;p17"/>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17"/>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7" name="Google Shape;107;p17"/>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0" name="Google Shape;110;p18"/>
          <p:cNvSpPr txBox="1"/>
          <p:nvPr>
            <p:ph idx="1" type="body"/>
          </p:nvPr>
        </p:nvSpPr>
        <p:spPr>
          <a:xfrm>
            <a:off x="457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1" name="Google Shape;111;p18"/>
          <p:cNvSpPr txBox="1"/>
          <p:nvPr>
            <p:ph idx="2" type="body"/>
          </p:nvPr>
        </p:nvSpPr>
        <p:spPr>
          <a:xfrm>
            <a:off x="4648200" y="1600200"/>
            <a:ext cx="4038600" cy="4526100"/>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112" name="Google Shape;112;p18"/>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3" name="Google Shape;113;p18"/>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4" name="Google Shape;114;p18"/>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7" name="Google Shape;117;p19"/>
          <p:cNvSpPr txBox="1"/>
          <p:nvPr>
            <p:ph idx="1" type="body"/>
          </p:nvPr>
        </p:nvSpPr>
        <p:spPr>
          <a:xfrm>
            <a:off x="457200" y="1535113"/>
            <a:ext cx="40401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18" name="Google Shape;118;p19"/>
          <p:cNvSpPr txBox="1"/>
          <p:nvPr>
            <p:ph idx="2" type="body"/>
          </p:nvPr>
        </p:nvSpPr>
        <p:spPr>
          <a:xfrm>
            <a:off x="457200" y="2174875"/>
            <a:ext cx="40401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19" name="Google Shape;119;p19"/>
          <p:cNvSpPr txBox="1"/>
          <p:nvPr>
            <p:ph idx="3" type="body"/>
          </p:nvPr>
        </p:nvSpPr>
        <p:spPr>
          <a:xfrm>
            <a:off x="4645025" y="1535113"/>
            <a:ext cx="4041900" cy="63990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120" name="Google Shape;120;p19"/>
          <p:cNvSpPr txBox="1"/>
          <p:nvPr>
            <p:ph idx="4" type="body"/>
          </p:nvPr>
        </p:nvSpPr>
        <p:spPr>
          <a:xfrm>
            <a:off x="4645025" y="2174875"/>
            <a:ext cx="4041900" cy="395130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121" name="Google Shape;121;p19"/>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p19"/>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3" name="Google Shape;123;p19"/>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6" name="Google Shape;126;p20"/>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7" name="Google Shape;127;p20"/>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8" name="Google Shape;128;p20"/>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p21"/>
          <p:cNvSpPr txBox="1"/>
          <p:nvPr>
            <p:ph type="title"/>
          </p:nvPr>
        </p:nvSpPr>
        <p:spPr>
          <a:xfrm>
            <a:off x="457200" y="273050"/>
            <a:ext cx="3008400" cy="11622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1"/>
          <p:cNvSpPr txBox="1"/>
          <p:nvPr>
            <p:ph idx="1" type="body"/>
          </p:nvPr>
        </p:nvSpPr>
        <p:spPr>
          <a:xfrm>
            <a:off x="3575050" y="273050"/>
            <a:ext cx="5111700" cy="5853000"/>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132" name="Google Shape;132;p21"/>
          <p:cNvSpPr txBox="1"/>
          <p:nvPr>
            <p:ph idx="2" type="body"/>
          </p:nvPr>
        </p:nvSpPr>
        <p:spPr>
          <a:xfrm>
            <a:off x="457200" y="1435100"/>
            <a:ext cx="3008400" cy="46911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33" name="Google Shape;133;p21"/>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4" name="Google Shape;134;p21"/>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5" name="Google Shape;135;p21"/>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p22"/>
          <p:cNvSpPr txBox="1"/>
          <p:nvPr>
            <p:ph type="title"/>
          </p:nvPr>
        </p:nvSpPr>
        <p:spPr>
          <a:xfrm>
            <a:off x="1792288" y="4800600"/>
            <a:ext cx="5486400" cy="56670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8" name="Google Shape;138;p22"/>
          <p:cNvSpPr/>
          <p:nvPr>
            <p:ph idx="2" type="pic"/>
          </p:nvPr>
        </p:nvSpPr>
        <p:spPr>
          <a:xfrm>
            <a:off x="1792288" y="612775"/>
            <a:ext cx="5486400" cy="4114800"/>
          </a:xfrm>
          <a:prstGeom prst="rect">
            <a:avLst/>
          </a:prstGeom>
          <a:noFill/>
          <a:ln>
            <a:noFill/>
          </a:ln>
        </p:spPr>
      </p:sp>
      <p:sp>
        <p:nvSpPr>
          <p:cNvPr id="139" name="Google Shape;139;p22"/>
          <p:cNvSpPr txBox="1"/>
          <p:nvPr>
            <p:ph idx="1" type="body"/>
          </p:nvPr>
        </p:nvSpPr>
        <p:spPr>
          <a:xfrm>
            <a:off x="1792288" y="5367338"/>
            <a:ext cx="5486400" cy="80490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140" name="Google Shape;140;p22"/>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1" name="Google Shape;141;p22"/>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22"/>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5" name="Google Shape;145;p23"/>
          <p:cNvSpPr txBox="1"/>
          <p:nvPr>
            <p:ph idx="1" type="body"/>
          </p:nvPr>
        </p:nvSpPr>
        <p:spPr>
          <a:xfrm rot="5400000">
            <a:off x="2308951" y="-251550"/>
            <a:ext cx="4526100"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6" name="Google Shape;146;p2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7" name="Google Shape;147;p2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p23"/>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p24"/>
          <p:cNvSpPr txBox="1"/>
          <p:nvPr>
            <p:ph type="title"/>
          </p:nvPr>
        </p:nvSpPr>
        <p:spPr>
          <a:xfrm rot="5400000">
            <a:off x="4732351" y="2171689"/>
            <a:ext cx="5851500"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1" name="Google Shape;151;p24"/>
          <p:cNvSpPr txBox="1"/>
          <p:nvPr>
            <p:ph idx="1" type="body"/>
          </p:nvPr>
        </p:nvSpPr>
        <p:spPr>
          <a:xfrm rot="5400000">
            <a:off x="541350" y="190487"/>
            <a:ext cx="5851500"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52" name="Google Shape;152;p24"/>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3" name="Google Shape;153;p24"/>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4" name="Google Shape;154;p24"/>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2" name="Google Shape;82;p13"/>
          <p:cNvSpPr txBox="1"/>
          <p:nvPr>
            <p:ph idx="1" type="body"/>
          </p:nvPr>
        </p:nvSpPr>
        <p:spPr>
          <a:xfrm>
            <a:off x="457200" y="1600200"/>
            <a:ext cx="8229600" cy="4526100"/>
          </a:xfrm>
          <a:prstGeom prst="rect">
            <a:avLst/>
          </a:prstGeom>
          <a:noFill/>
          <a:ln>
            <a:noFill/>
          </a:ln>
        </p:spPr>
        <p:txBody>
          <a:bodyPr anchorCtr="0" anchor="t" bIns="45700" lIns="91425" spcFirstLastPara="1" rIns="91425" wrap="square" tIns="45700">
            <a:normAutofit/>
          </a:bodyPr>
          <a:lstStyle>
            <a:lvl1pPr indent="-431800" lvl="0" marL="457200" marR="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3" name="Google Shape;83;p13"/>
          <p:cNvSpPr txBox="1"/>
          <p:nvPr>
            <p:ph idx="10" type="dt"/>
          </p:nvPr>
        </p:nvSpPr>
        <p:spPr>
          <a:xfrm>
            <a:off x="457200" y="6356350"/>
            <a:ext cx="2133600" cy="365100"/>
          </a:xfrm>
          <a:prstGeom prst="rect">
            <a:avLst/>
          </a:prstGeom>
          <a:noFill/>
          <a:ln>
            <a:noFill/>
          </a:ln>
        </p:spPr>
        <p:txBody>
          <a:bodyPr anchorCtr="0" anchor="ctr" bIns="45700" lIns="91425" spcFirstLastPara="1" rIns="91425" wrap="square" tIns="45700">
            <a:noAutofit/>
          </a:bodyPr>
          <a:lstStyle>
            <a:lvl1pPr lvl="0" marR="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4" name="Google Shape;84;p13"/>
          <p:cNvSpPr txBox="1"/>
          <p:nvPr>
            <p:ph idx="11" type="ftr"/>
          </p:nvPr>
        </p:nvSpPr>
        <p:spPr>
          <a:xfrm>
            <a:off x="3124200" y="6356350"/>
            <a:ext cx="2895600" cy="365100"/>
          </a:xfrm>
          <a:prstGeom prst="rect">
            <a:avLst/>
          </a:prstGeom>
          <a:noFill/>
          <a:ln>
            <a:noFill/>
          </a:ln>
        </p:spPr>
        <p:txBody>
          <a:bodyPr anchorCtr="0" anchor="ctr" bIns="45700" lIns="91425" spcFirstLastPara="1" rIns="91425" wrap="square" tIns="45700">
            <a:noAutofit/>
          </a:bodyPr>
          <a:lstStyle>
            <a:lvl1pPr lvl="0" marR="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5" name="Google Shape;85;p13"/>
          <p:cNvSpPr txBox="1"/>
          <p:nvPr>
            <p:ph idx="12" type="sldNum"/>
          </p:nvPr>
        </p:nvSpPr>
        <p:spPr>
          <a:xfrm>
            <a:off x="9825900" y="6356350"/>
            <a:ext cx="2133600" cy="365100"/>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it-IT"/>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6.png"/><Relationship Id="rId5"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4.png"/><Relationship Id="rId5" Type="http://schemas.openxmlformats.org/officeDocument/2006/relationships/image" Target="../media/image13.png"/><Relationship Id="rId6" Type="http://schemas.openxmlformats.org/officeDocument/2006/relationships/image" Target="../media/image5.png"/><Relationship Id="rId7" Type="http://schemas.openxmlformats.org/officeDocument/2006/relationships/image" Target="../media/image11.png"/><Relationship Id="rId8"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1.png"/><Relationship Id="rId7"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12.png"/><Relationship Id="rId5"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15.png"/><Relationship Id="rId9" Type="http://schemas.openxmlformats.org/officeDocument/2006/relationships/image" Target="../media/image23.gif"/><Relationship Id="rId5" Type="http://schemas.openxmlformats.org/officeDocument/2006/relationships/image" Target="../media/image18.png"/><Relationship Id="rId6" Type="http://schemas.openxmlformats.org/officeDocument/2006/relationships/image" Target="../media/image12.png"/><Relationship Id="rId7" Type="http://schemas.openxmlformats.org/officeDocument/2006/relationships/image" Target="../media/image10.png"/><Relationship Id="rId8" Type="http://schemas.openxmlformats.org/officeDocument/2006/relationships/image" Target="../media/image17.png"/></Relationships>
</file>

<file path=ppt/slides/_rels/slide9.xml.rels><?xml version="1.0" encoding="UTF-8" standalone="yes"?><Relationships xmlns="http://schemas.openxmlformats.org/package/2006/relationships"><Relationship Id="rId11" Type="http://schemas.openxmlformats.org/officeDocument/2006/relationships/image" Target="../media/image10.png"/><Relationship Id="rId10" Type="http://schemas.openxmlformats.org/officeDocument/2006/relationships/image" Target="../media/image12.png"/><Relationship Id="rId13" Type="http://schemas.openxmlformats.org/officeDocument/2006/relationships/image" Target="../media/image17.png"/><Relationship Id="rId12" Type="http://schemas.openxmlformats.org/officeDocument/2006/relationships/image" Target="../media/image23.gif"/><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image" Target="../media/image27.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2.png"/><Relationship Id="rId8" Type="http://schemas.openxmlformats.org/officeDocument/2006/relationships/image" Target="../media/image34.gif"/></Relationships>
</file>

<file path=ppt/slides/_rels/slide10.xml.rels><?xml version="1.0" encoding="UTF-8" standalone="yes"?><Relationships xmlns="http://schemas.openxmlformats.org/package/2006/relationships"><Relationship Id="rId11" Type="http://schemas.openxmlformats.org/officeDocument/2006/relationships/image" Target="../media/image27.png"/><Relationship Id="rId10" Type="http://schemas.openxmlformats.org/officeDocument/2006/relationships/image" Target="../media/image34.gif"/><Relationship Id="rId13" Type="http://schemas.openxmlformats.org/officeDocument/2006/relationships/image" Target="../media/image10.png"/><Relationship Id="rId12" Type="http://schemas.openxmlformats.org/officeDocument/2006/relationships/image" Target="../media/image12.png"/><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20.png"/><Relationship Id="rId9" Type="http://schemas.openxmlformats.org/officeDocument/2006/relationships/image" Target="../media/image18.png"/><Relationship Id="rId15" Type="http://schemas.openxmlformats.org/officeDocument/2006/relationships/image" Target="../media/image17.png"/><Relationship Id="rId14" Type="http://schemas.openxmlformats.org/officeDocument/2006/relationships/image" Target="../media/image23.gif"/><Relationship Id="rId5" Type="http://schemas.openxmlformats.org/officeDocument/2006/relationships/image" Target="../media/image22.png"/><Relationship Id="rId6" Type="http://schemas.openxmlformats.org/officeDocument/2006/relationships/image" Target="../media/image32.gif"/><Relationship Id="rId7" Type="http://schemas.openxmlformats.org/officeDocument/2006/relationships/image" Target="../media/image25.png"/><Relationship Id="rId8"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29.png"/><Relationship Id="rId5" Type="http://schemas.openxmlformats.org/officeDocument/2006/relationships/image" Target="../media/image2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30.png"/><Relationship Id="rId5" Type="http://schemas.openxmlformats.org/officeDocument/2006/relationships/image" Target="../media/image8.png"/><Relationship Id="rId6" Type="http://schemas.openxmlformats.org/officeDocument/2006/relationships/image" Target="../media/image37.gi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8.png"/><Relationship Id="rId5" Type="http://schemas.openxmlformats.org/officeDocument/2006/relationships/image" Target="../media/image26.gif"/><Relationship Id="rId6" Type="http://schemas.openxmlformats.org/officeDocument/2006/relationships/image" Target="../media/image30.png"/><Relationship Id="rId7"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3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image16.png"/><Relationship Id="rId4" Type="http://schemas.openxmlformats.org/officeDocument/2006/relationships/image" Target="../media/image33.png"/><Relationship Id="rId5"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image16.png"/><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6.png"/><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5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16.png"/><Relationship Id="rId4" Type="http://schemas.openxmlformats.org/officeDocument/2006/relationships/image" Target="../media/image43.png"/><Relationship Id="rId5" Type="http://schemas.openxmlformats.org/officeDocument/2006/relationships/image" Target="../media/image4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3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 Id="rId3" Type="http://schemas.openxmlformats.org/officeDocument/2006/relationships/image" Target="../media/image16.png"/><Relationship Id="rId4" Type="http://schemas.openxmlformats.org/officeDocument/2006/relationships/image" Target="../media/image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8.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 Id="rId3" Type="http://schemas.openxmlformats.org/officeDocument/2006/relationships/image" Target="../media/image16.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4.xml"/><Relationship Id="rId3" Type="http://schemas.openxmlformats.org/officeDocument/2006/relationships/image" Target="../media/image16.png"/><Relationship Id="rId4" Type="http://schemas.openxmlformats.org/officeDocument/2006/relationships/image" Target="../media/image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 Id="rId3" Type="http://schemas.openxmlformats.org/officeDocument/2006/relationships/image" Target="../media/image1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 Id="rId3" Type="http://schemas.openxmlformats.org/officeDocument/2006/relationships/image" Target="../media/image16.png"/><Relationship Id="rId4"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 Id="rId3" Type="http://schemas.openxmlformats.org/officeDocument/2006/relationships/image" Target="../media/image16.png"/><Relationship Id="rId4" Type="http://schemas.openxmlformats.org/officeDocument/2006/relationships/image" Target="../media/image4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16.png"/><Relationship Id="rId4" Type="http://schemas.openxmlformats.org/officeDocument/2006/relationships/image" Target="../media/image64.png"/><Relationship Id="rId5" Type="http://schemas.openxmlformats.org/officeDocument/2006/relationships/image" Target="../media/image45.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 Id="rId3" Type="http://schemas.openxmlformats.org/officeDocument/2006/relationships/image" Target="../media/image16.png"/><Relationship Id="rId4" Type="http://schemas.openxmlformats.org/officeDocument/2006/relationships/image" Target="../media/image44.png"/><Relationship Id="rId5" Type="http://schemas.openxmlformats.org/officeDocument/2006/relationships/image" Target="../media/image69.png"/><Relationship Id="rId6" Type="http://schemas.openxmlformats.org/officeDocument/2006/relationships/image" Target="../media/image4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1.xml"/><Relationship Id="rId3" Type="http://schemas.openxmlformats.org/officeDocument/2006/relationships/image" Target="../media/image16.png"/><Relationship Id="rId4" Type="http://schemas.openxmlformats.org/officeDocument/2006/relationships/image" Target="../media/image50.png"/><Relationship Id="rId5" Type="http://schemas.openxmlformats.org/officeDocument/2006/relationships/image" Target="../media/image8.png"/><Relationship Id="rId6" Type="http://schemas.openxmlformats.org/officeDocument/2006/relationships/image" Target="../media/image42.png"/><Relationship Id="rId7" Type="http://schemas.openxmlformats.org/officeDocument/2006/relationships/image" Target="../media/image5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 Id="rId3" Type="http://schemas.openxmlformats.org/officeDocument/2006/relationships/image" Target="../media/image16.png"/><Relationship Id="rId4" Type="http://schemas.openxmlformats.org/officeDocument/2006/relationships/image" Target="../media/image57.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 Id="rId3" Type="http://schemas.openxmlformats.org/officeDocument/2006/relationships/image" Target="../media/image16.png"/><Relationship Id="rId4" Type="http://schemas.openxmlformats.org/officeDocument/2006/relationships/image" Target="../media/image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 Id="rId3" Type="http://schemas.openxmlformats.org/officeDocument/2006/relationships/image" Target="../media/image16.png"/><Relationship Id="rId4" Type="http://schemas.openxmlformats.org/officeDocument/2006/relationships/image" Target="../media/image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6.png"/><Relationship Id="rId4" Type="http://schemas.openxmlformats.org/officeDocument/2006/relationships/image" Target="../media/image51.png"/><Relationship Id="rId5" Type="http://schemas.openxmlformats.org/officeDocument/2006/relationships/image" Target="../media/image4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6.png"/><Relationship Id="rId4" Type="http://schemas.openxmlformats.org/officeDocument/2006/relationships/image" Target="../media/image46.png"/><Relationship Id="rId5" Type="http://schemas.openxmlformats.org/officeDocument/2006/relationships/image" Target="../media/image51.png"/><Relationship Id="rId6" Type="http://schemas.openxmlformats.org/officeDocument/2006/relationships/image" Target="../media/image56.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 Id="rId3" Type="http://schemas.openxmlformats.org/officeDocument/2006/relationships/image" Target="../media/image16.png"/><Relationship Id="rId4" Type="http://schemas.openxmlformats.org/officeDocument/2006/relationships/image" Target="../media/image51.png"/><Relationship Id="rId5" Type="http://schemas.openxmlformats.org/officeDocument/2006/relationships/image" Target="../media/image53.png"/><Relationship Id="rId6" Type="http://schemas.openxmlformats.org/officeDocument/2006/relationships/image" Target="../media/image6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 Id="rId3" Type="http://schemas.openxmlformats.org/officeDocument/2006/relationships/image" Target="../media/image16.png"/><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52.png"/><Relationship Id="rId7" Type="http://schemas.openxmlformats.org/officeDocument/2006/relationships/image" Target="../media/image59.png"/><Relationship Id="rId8" Type="http://schemas.openxmlformats.org/officeDocument/2006/relationships/image" Target="../media/image58.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 Id="rId3" Type="http://schemas.openxmlformats.org/officeDocument/2006/relationships/image" Target="../media/image16.png"/><Relationship Id="rId4" Type="http://schemas.openxmlformats.org/officeDocument/2006/relationships/image" Target="../media/image63.png"/><Relationship Id="rId9" Type="http://schemas.openxmlformats.org/officeDocument/2006/relationships/image" Target="../media/image66.png"/><Relationship Id="rId5" Type="http://schemas.openxmlformats.org/officeDocument/2006/relationships/image" Target="../media/image52.png"/><Relationship Id="rId6" Type="http://schemas.openxmlformats.org/officeDocument/2006/relationships/image" Target="../media/image59.png"/><Relationship Id="rId7" Type="http://schemas.openxmlformats.org/officeDocument/2006/relationships/image" Target="../media/image58.png"/><Relationship Id="rId8" Type="http://schemas.openxmlformats.org/officeDocument/2006/relationships/image" Target="../media/image60.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 Id="rId3" Type="http://schemas.openxmlformats.org/officeDocument/2006/relationships/image" Target="../media/image16.png"/><Relationship Id="rId4" Type="http://schemas.openxmlformats.org/officeDocument/2006/relationships/image" Target="../media/image8.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 Id="rId3" Type="http://schemas.openxmlformats.org/officeDocument/2006/relationships/image" Target="../media/image16.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 Id="rId3" Type="http://schemas.openxmlformats.org/officeDocument/2006/relationships/image" Target="../media/image16.png"/><Relationship Id="rId4" Type="http://schemas.openxmlformats.org/officeDocument/2006/relationships/image" Target="../media/image65.png"/><Relationship Id="rId5" Type="http://schemas.openxmlformats.org/officeDocument/2006/relationships/image" Target="../media/image4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 Id="rId3" Type="http://schemas.openxmlformats.org/officeDocument/2006/relationships/image" Target="../media/image16.png"/><Relationship Id="rId4" Type="http://schemas.openxmlformats.org/officeDocument/2006/relationships/image" Target="../media/image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 Id="rId3" Type="http://schemas.openxmlformats.org/officeDocument/2006/relationships/image" Target="../media/image16.png"/><Relationship Id="rId4" Type="http://schemas.openxmlformats.org/officeDocument/2006/relationships/image" Target="../media/image6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 Id="rId3" Type="http://schemas.openxmlformats.org/officeDocument/2006/relationships/image" Target="../media/image16.png"/><Relationship Id="rId4" Type="http://schemas.openxmlformats.org/officeDocument/2006/relationships/image" Target="../media/image70.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 Id="rId3" Type="http://schemas.openxmlformats.org/officeDocument/2006/relationships/image" Target="../media/image16.png"/><Relationship Id="rId4" Type="http://schemas.openxmlformats.org/officeDocument/2006/relationships/image" Target="../media/image67.png"/><Relationship Id="rId5" Type="http://schemas.openxmlformats.org/officeDocument/2006/relationships/image" Target="../media/image7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1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58" name="Shape 158"/>
        <p:cNvGrpSpPr/>
        <p:nvPr/>
      </p:nvGrpSpPr>
      <p:grpSpPr>
        <a:xfrm>
          <a:off x="0" y="0"/>
          <a:ext cx="0" cy="0"/>
          <a:chOff x="0" y="0"/>
          <a:chExt cx="0" cy="0"/>
        </a:xfrm>
      </p:grpSpPr>
      <p:sp>
        <p:nvSpPr>
          <p:cNvPr id="159" name="Google Shape;159;p25"/>
          <p:cNvSpPr txBox="1"/>
          <p:nvPr/>
        </p:nvSpPr>
        <p:spPr>
          <a:xfrm>
            <a:off x="1152525" y="2300436"/>
            <a:ext cx="9001200" cy="831300"/>
          </a:xfrm>
          <a:prstGeom prst="rect">
            <a:avLst/>
          </a:prstGeom>
          <a:noFill/>
          <a:ln>
            <a:noFill/>
          </a:ln>
        </p:spPr>
        <p:txBody>
          <a:bodyPr anchorCtr="0" anchor="t" bIns="0" lIns="0" spcFirstLastPara="1" rIns="0" wrap="square" tIns="0">
            <a:spAutoFit/>
          </a:bodyPr>
          <a:lstStyle/>
          <a:p>
            <a:pPr indent="0" lvl="0" marL="0" marR="0" rtl="0" algn="l">
              <a:lnSpc>
                <a:spcPct val="129981"/>
              </a:lnSpc>
              <a:spcBef>
                <a:spcPts val="0"/>
              </a:spcBef>
              <a:spcAft>
                <a:spcPts val="0"/>
              </a:spcAft>
              <a:buClr>
                <a:srgbClr val="000000"/>
              </a:buClr>
              <a:buSzPts val="5400"/>
              <a:buFont typeface="Arial"/>
              <a:buNone/>
            </a:pPr>
            <a:r>
              <a:rPr b="1" lang="it-IT" sz="5400">
                <a:solidFill>
                  <a:srgbClr val="0F172A"/>
                </a:solidFill>
                <a:latin typeface="Outfit"/>
                <a:ea typeface="Outfit"/>
                <a:cs typeface="Outfit"/>
                <a:sym typeface="Outfit"/>
              </a:rPr>
              <a:t>Motion Estimation: </a:t>
            </a:r>
            <a:endParaRPr b="0" i="0" sz="1400" u="none" cap="none" strike="noStrike">
              <a:solidFill>
                <a:srgbClr val="000000"/>
              </a:solidFill>
              <a:latin typeface="Arial"/>
              <a:ea typeface="Arial"/>
              <a:cs typeface="Arial"/>
              <a:sym typeface="Arial"/>
            </a:endParaRPr>
          </a:p>
        </p:txBody>
      </p:sp>
      <p:sp>
        <p:nvSpPr>
          <p:cNvPr id="160" name="Google Shape;160;p25"/>
          <p:cNvSpPr txBox="1"/>
          <p:nvPr/>
        </p:nvSpPr>
        <p:spPr>
          <a:xfrm>
            <a:off x="1152525" y="4369150"/>
            <a:ext cx="8796900" cy="277200"/>
          </a:xfrm>
          <a:prstGeom prst="rect">
            <a:avLst/>
          </a:prstGeom>
          <a:noFill/>
          <a:ln>
            <a:noFill/>
          </a:ln>
        </p:spPr>
        <p:txBody>
          <a:bodyPr anchorCtr="0" anchor="t" bIns="0" lIns="0" spcFirstLastPara="1" rIns="0" wrap="square" tIns="0">
            <a:spAutoFit/>
          </a:bodyPr>
          <a:lstStyle/>
          <a:p>
            <a:pPr indent="0" lvl="0" marL="0" marR="0" rtl="0" algn="l">
              <a:lnSpc>
                <a:spcPct val="159944"/>
              </a:lnSpc>
              <a:spcBef>
                <a:spcPts val="0"/>
              </a:spcBef>
              <a:spcAft>
                <a:spcPts val="0"/>
              </a:spcAft>
              <a:buClr>
                <a:srgbClr val="000000"/>
              </a:buClr>
              <a:buSzPts val="1800"/>
              <a:buFont typeface="Arial"/>
              <a:buNone/>
            </a:pPr>
            <a:r>
              <a:rPr lang="it-IT" sz="1800">
                <a:solidFill>
                  <a:srgbClr val="475569"/>
                </a:solidFill>
                <a:latin typeface="Inter"/>
                <a:ea typeface="Inter"/>
                <a:cs typeface="Inter"/>
                <a:sym typeface="Inter"/>
              </a:rPr>
              <a:t>Development and analysis of CUDA solutions for the block matching problem.</a:t>
            </a:r>
            <a:endParaRPr b="0" i="0" sz="1400" u="none" cap="none" strike="noStrike">
              <a:solidFill>
                <a:srgbClr val="000000"/>
              </a:solidFill>
              <a:latin typeface="Arial"/>
              <a:ea typeface="Arial"/>
              <a:cs typeface="Arial"/>
              <a:sym typeface="Arial"/>
            </a:endParaRPr>
          </a:p>
        </p:txBody>
      </p:sp>
      <p:sp>
        <p:nvSpPr>
          <p:cNvPr id="161" name="Google Shape;161;p25"/>
          <p:cNvSpPr/>
          <p:nvPr/>
        </p:nvSpPr>
        <p:spPr>
          <a:xfrm>
            <a:off x="5324625" y="3131725"/>
            <a:ext cx="4829100" cy="990600"/>
          </a:xfrm>
          <a:prstGeom prst="roundRect">
            <a:avLst>
              <a:gd fmla="val 16667" name="adj"/>
            </a:avLst>
          </a:prstGeom>
          <a:solidFill>
            <a:srgbClr val="D5E9E3"/>
          </a:solidFill>
          <a:ln>
            <a:noFill/>
          </a:ln>
          <a:effectLst>
            <a:outerShdw blurRad="57150" rotWithShape="0" algn="bl" dir="5400000" dist="76200">
              <a:srgbClr val="000000">
                <a:alpha val="50000"/>
              </a:srgbClr>
            </a:outerShdw>
          </a:effectLst>
        </p:spPr>
        <p:txBody>
          <a:bodyPr anchorCtr="0" anchor="t" bIns="91425" lIns="91425" spcFirstLastPara="1" rIns="91425" wrap="square" tIns="91425">
            <a:noAutofit/>
          </a:bodyPr>
          <a:lstStyle/>
          <a:p>
            <a:pPr indent="0" lvl="0" marL="0" rtl="0" algn="ctr">
              <a:lnSpc>
                <a:spcPct val="129981"/>
              </a:lnSpc>
              <a:spcBef>
                <a:spcPts val="0"/>
              </a:spcBef>
              <a:spcAft>
                <a:spcPts val="0"/>
              </a:spcAft>
              <a:buClr>
                <a:schemeClr val="dk1"/>
              </a:buClr>
              <a:buSzPts val="5400"/>
              <a:buFont typeface="Arial"/>
              <a:buNone/>
            </a:pPr>
            <a:r>
              <a:rPr b="1" lang="it-IT" sz="4600">
                <a:solidFill>
                  <a:srgbClr val="10B981"/>
                </a:solidFill>
                <a:latin typeface="Outfit"/>
                <a:ea typeface="Outfit"/>
                <a:cs typeface="Outfit"/>
                <a:sym typeface="Outfit"/>
              </a:rPr>
              <a:t>Block Matching</a:t>
            </a:r>
            <a:endParaRPr b="1" sz="4600">
              <a:solidFill>
                <a:srgbClr val="10B981"/>
              </a:solidFill>
              <a:latin typeface="Outfit"/>
              <a:ea typeface="Outfit"/>
              <a:cs typeface="Outfit"/>
              <a:sym typeface="Outfit"/>
            </a:endParaRPr>
          </a:p>
          <a:p>
            <a:pPr indent="0" lvl="0" marL="0" rtl="0" algn="ctr">
              <a:spcBef>
                <a:spcPts val="0"/>
              </a:spcBef>
              <a:spcAft>
                <a:spcPts val="0"/>
              </a:spcAft>
              <a:buNone/>
            </a:pPr>
            <a:r>
              <a:t/>
            </a:r>
            <a:endParaRPr/>
          </a:p>
        </p:txBody>
      </p:sp>
      <p:sp>
        <p:nvSpPr>
          <p:cNvPr id="162" name="Google Shape;162;p25"/>
          <p:cNvSpPr/>
          <p:nvPr/>
        </p:nvSpPr>
        <p:spPr>
          <a:xfrm>
            <a:off x="1152525" y="1437225"/>
            <a:ext cx="2416500" cy="351600"/>
          </a:xfrm>
          <a:prstGeom prst="roundRect">
            <a:avLst>
              <a:gd fmla="val 50000" name="adj"/>
            </a:avLst>
          </a:prstGeom>
          <a:solidFill>
            <a:srgbClr val="E7F8F2"/>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b="1" lang="it-IT">
                <a:solidFill>
                  <a:srgbClr val="10B981"/>
                </a:solidFill>
                <a:latin typeface="Outfit"/>
                <a:ea typeface="Outfit"/>
                <a:cs typeface="Outfit"/>
                <a:sym typeface="Outfit"/>
              </a:rPr>
              <a:t>Accelerated Computing</a:t>
            </a:r>
            <a:endParaRPr b="1">
              <a:solidFill>
                <a:srgbClr val="10B981"/>
              </a:solidFill>
              <a:latin typeface="Outfit"/>
              <a:ea typeface="Outfit"/>
              <a:cs typeface="Outfit"/>
              <a:sym typeface="Outfit"/>
            </a:endParaRPr>
          </a:p>
        </p:txBody>
      </p:sp>
      <p:sp>
        <p:nvSpPr>
          <p:cNvPr id="163" name="Google Shape;163;p2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7" name="Shape 167"/>
        <p:cNvGrpSpPr/>
        <p:nvPr/>
      </p:nvGrpSpPr>
      <p:grpSpPr>
        <a:xfrm>
          <a:off x="0" y="0"/>
          <a:ext cx="0" cy="0"/>
          <a:chOff x="0" y="0"/>
          <a:chExt cx="0" cy="0"/>
        </a:xfrm>
      </p:grpSpPr>
      <p:sp>
        <p:nvSpPr>
          <p:cNvPr id="168" name="Google Shape;168;p26"/>
          <p:cNvSpPr txBox="1"/>
          <p:nvPr/>
        </p:nvSpPr>
        <p:spPr>
          <a:xfrm>
            <a:off x="3235642" y="3002309"/>
            <a:ext cx="57207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Clr>
                <a:srgbClr val="000000"/>
              </a:buClr>
              <a:buSzPts val="4800"/>
              <a:buFont typeface="Arial"/>
              <a:buNone/>
            </a:pPr>
            <a:r>
              <a:rPr b="1" lang="it-IT" sz="4800">
                <a:solidFill>
                  <a:srgbClr val="0F172A"/>
                </a:solidFill>
                <a:latin typeface="Outfit"/>
                <a:ea typeface="Outfit"/>
                <a:cs typeface="Outfit"/>
                <a:sym typeface="Outfit"/>
              </a:rPr>
              <a:t>Introduction</a:t>
            </a:r>
            <a:endParaRPr b="0" i="0" sz="1400" u="none" cap="none" strike="noStrike">
              <a:solidFill>
                <a:srgbClr val="000000"/>
              </a:solidFill>
              <a:latin typeface="Arial"/>
              <a:ea typeface="Arial"/>
              <a:cs typeface="Arial"/>
              <a:sym typeface="Arial"/>
            </a:endParaRPr>
          </a:p>
        </p:txBody>
      </p:sp>
      <p:sp>
        <p:nvSpPr>
          <p:cNvPr id="169" name="Google Shape;169;p26"/>
          <p:cNvSpPr txBox="1"/>
          <p:nvPr/>
        </p:nvSpPr>
        <p:spPr>
          <a:xfrm>
            <a:off x="3629025" y="3924300"/>
            <a:ext cx="49341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it-IT" sz="1350">
                <a:solidFill>
                  <a:srgbClr val="475569"/>
                </a:solidFill>
                <a:latin typeface="Inter"/>
                <a:ea typeface="Inter"/>
                <a:cs typeface="Inter"/>
                <a:sym typeface="Inter"/>
              </a:rPr>
              <a:t>Introduction to block matching</a:t>
            </a:r>
            <a:endParaRPr b="0" i="0" sz="1400" u="none" cap="none" strike="noStrike">
              <a:solidFill>
                <a:srgbClr val="000000"/>
              </a:solidFill>
              <a:latin typeface="Arial"/>
              <a:ea typeface="Arial"/>
              <a:cs typeface="Arial"/>
              <a:sym typeface="Arial"/>
            </a:endParaRPr>
          </a:p>
        </p:txBody>
      </p:sp>
      <p:sp>
        <p:nvSpPr>
          <p:cNvPr id="170" name="Google Shape;170;p26"/>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4" name="Shape 174"/>
        <p:cNvGrpSpPr/>
        <p:nvPr/>
      </p:nvGrpSpPr>
      <p:grpSpPr>
        <a:xfrm>
          <a:off x="0" y="0"/>
          <a:ext cx="0" cy="0"/>
          <a:chOff x="0" y="0"/>
          <a:chExt cx="0" cy="0"/>
        </a:xfrm>
      </p:grpSpPr>
      <p:sp>
        <p:nvSpPr>
          <p:cNvPr id="175" name="Google Shape;175;p27"/>
          <p:cNvSpPr txBox="1"/>
          <p:nvPr/>
        </p:nvSpPr>
        <p:spPr>
          <a:xfrm>
            <a:off x="771525" y="1630550"/>
            <a:ext cx="6130800" cy="37080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50"/>
              <a:buFont typeface="Arial"/>
              <a:buNone/>
            </a:pPr>
            <a:r>
              <a:rPr b="1" lang="it-IT" sz="1650">
                <a:solidFill>
                  <a:srgbClr val="475569"/>
                </a:solidFill>
                <a:latin typeface="Inter"/>
                <a:ea typeface="Inter"/>
                <a:cs typeface="Inter"/>
                <a:sym typeface="Inter"/>
              </a:rPr>
              <a:t>Motion Estimation</a:t>
            </a:r>
            <a:r>
              <a:rPr lang="it-IT" sz="1650">
                <a:solidFill>
                  <a:srgbClr val="475569"/>
                </a:solidFill>
                <a:latin typeface="Inter"/>
                <a:ea typeface="Inter"/>
                <a:cs typeface="Inter"/>
                <a:sym typeface="Inter"/>
              </a:rPr>
              <a:t> is a fundamental </a:t>
            </a:r>
            <a:r>
              <a:rPr lang="it-IT" sz="1650">
                <a:solidFill>
                  <a:srgbClr val="475569"/>
                </a:solidFill>
                <a:latin typeface="Inter"/>
                <a:ea typeface="Inter"/>
                <a:cs typeface="Inter"/>
                <a:sym typeface="Inter"/>
              </a:rPr>
              <a:t>technique</a:t>
            </a:r>
            <a:r>
              <a:rPr lang="it-IT" sz="1650">
                <a:solidFill>
                  <a:srgbClr val="475569"/>
                </a:solidFill>
                <a:latin typeface="Inter"/>
                <a:ea typeface="Inter"/>
                <a:cs typeface="Inter"/>
                <a:sym typeface="Inter"/>
              </a:rPr>
              <a:t> in video processing for tracking the movement of objects between consecutive frames </a:t>
            </a:r>
            <a:endParaRPr sz="1650">
              <a:solidFill>
                <a:srgbClr val="475569"/>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950"/>
              <a:buFont typeface="Arial"/>
              <a:buNone/>
            </a:pPr>
            <a:r>
              <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it-IT" sz="1650">
                <a:solidFill>
                  <a:srgbClr val="475569"/>
                </a:solidFill>
                <a:latin typeface="Inter"/>
                <a:ea typeface="Inter"/>
                <a:cs typeface="Inter"/>
                <a:sym typeface="Inter"/>
              </a:rPr>
              <a:t>Block Matching</a:t>
            </a:r>
            <a:r>
              <a:rPr lang="it-IT" sz="1650">
                <a:solidFill>
                  <a:srgbClr val="475569"/>
                </a:solidFill>
                <a:latin typeface="Inter"/>
                <a:ea typeface="Inter"/>
                <a:cs typeface="Inter"/>
                <a:sym typeface="Inter"/>
              </a:rPr>
              <a:t> is the standard and most commonly used algorithm to implement this technique. It works by dividing the current frame into blocks and searching for the most similar block in the reference frame (previous one) using Sum of Absolute Difference (SAD) metric.</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it-IT" sz="1650">
                <a:solidFill>
                  <a:srgbClr val="475569"/>
                </a:solidFill>
                <a:latin typeface="Inter"/>
                <a:ea typeface="Inter"/>
                <a:cs typeface="Inter"/>
                <a:sym typeface="Inter"/>
              </a:rPr>
              <a:t>Once the match is found, it is possible to generate the </a:t>
            </a:r>
            <a:r>
              <a:rPr b="1" lang="it-IT" sz="1650">
                <a:solidFill>
                  <a:srgbClr val="475569"/>
                </a:solidFill>
                <a:latin typeface="Inter"/>
                <a:ea typeface="Inter"/>
                <a:cs typeface="Inter"/>
                <a:sym typeface="Inter"/>
              </a:rPr>
              <a:t>Motion Vector</a:t>
            </a:r>
            <a:r>
              <a:rPr lang="it-IT" sz="1650">
                <a:solidFill>
                  <a:srgbClr val="475569"/>
                </a:solidFill>
                <a:latin typeface="Inter"/>
                <a:ea typeface="Inter"/>
                <a:cs typeface="Inter"/>
                <a:sym typeface="Inter"/>
              </a:rPr>
              <a:t>, a vector that describes the spatial displacement of the block occurring between the two frames.</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650">
              <a:solidFill>
                <a:srgbClr val="475569"/>
              </a:solidFill>
              <a:latin typeface="Inter"/>
              <a:ea typeface="Inter"/>
              <a:cs typeface="Inter"/>
              <a:sym typeface="Inter"/>
            </a:endParaRPr>
          </a:p>
        </p:txBody>
      </p:sp>
      <p:pic>
        <p:nvPicPr>
          <p:cNvPr descr="https://en.wikipedia.org/wiki/File:Block-matching_algorithm.png" id="176" name="Google Shape;176;p27" title="https://en.wikipedia.org/wiki/File:Block-matching_algorithm.png"/>
          <p:cNvPicPr preferRelativeResize="0"/>
          <p:nvPr/>
        </p:nvPicPr>
        <p:blipFill>
          <a:blip r:embed="rId4">
            <a:alphaModFix/>
          </a:blip>
          <a:stretch>
            <a:fillRect/>
          </a:stretch>
        </p:blipFill>
        <p:spPr>
          <a:xfrm>
            <a:off x="7190325" y="2011388"/>
            <a:ext cx="4762500" cy="2466975"/>
          </a:xfrm>
          <a:prstGeom prst="rect">
            <a:avLst/>
          </a:prstGeom>
          <a:noFill/>
          <a:ln>
            <a:noFill/>
          </a:ln>
        </p:spPr>
      </p:pic>
      <p:sp>
        <p:nvSpPr>
          <p:cNvPr id="177" name="Google Shape;177;p27"/>
          <p:cNvSpPr txBox="1"/>
          <p:nvPr/>
        </p:nvSpPr>
        <p:spPr>
          <a:xfrm>
            <a:off x="7571325" y="4932015"/>
            <a:ext cx="4200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Use case</a:t>
            </a:r>
            <a:endParaRPr/>
          </a:p>
        </p:txBody>
      </p:sp>
      <p:sp>
        <p:nvSpPr>
          <p:cNvPr id="178" name="Google Shape;178;p27"/>
          <p:cNvSpPr txBox="1"/>
          <p:nvPr/>
        </p:nvSpPr>
        <p:spPr>
          <a:xfrm>
            <a:off x="7571325" y="5349540"/>
            <a:ext cx="40005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In video compression (H.264), instead of saving the entire image pixel by pixel for each frame, only the motion vector and the residual error (encoded via the Sum of Absolute Difference) </a:t>
            </a:r>
            <a:endParaRPr sz="1200">
              <a:solidFill>
                <a:srgbClr val="475569"/>
              </a:solidFill>
              <a:latin typeface="Inter"/>
              <a:ea typeface="Inter"/>
              <a:cs typeface="Inter"/>
              <a:sym typeface="Inter"/>
            </a:endParaRPr>
          </a:p>
        </p:txBody>
      </p:sp>
      <p:sp>
        <p:nvSpPr>
          <p:cNvPr id="179" name="Google Shape;179;p27"/>
          <p:cNvSpPr txBox="1"/>
          <p:nvPr/>
        </p:nvSpPr>
        <p:spPr>
          <a:xfrm>
            <a:off x="7190325" y="4847425"/>
            <a:ext cx="3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 </a:t>
            </a:r>
            <a:endParaRPr/>
          </a:p>
        </p:txBody>
      </p:sp>
      <p:sp>
        <p:nvSpPr>
          <p:cNvPr id="180" name="Google Shape;180;p27"/>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Block Matching</a:t>
            </a:r>
            <a:endParaRPr b="0" sz="1400" u="none" cap="none" strike="noStrike">
              <a:solidFill>
                <a:srgbClr val="000000"/>
              </a:solidFill>
              <a:latin typeface="Arial"/>
              <a:ea typeface="Arial"/>
              <a:cs typeface="Arial"/>
              <a:sym typeface="Arial"/>
            </a:endParaRPr>
          </a:p>
        </p:txBody>
      </p:sp>
      <p:sp>
        <p:nvSpPr>
          <p:cNvPr id="181" name="Google Shape;181;p27"/>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2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86" name="Shape 186"/>
        <p:cNvGrpSpPr/>
        <p:nvPr/>
      </p:nvGrpSpPr>
      <p:grpSpPr>
        <a:xfrm>
          <a:off x="0" y="0"/>
          <a:ext cx="0" cy="0"/>
          <a:chOff x="0" y="0"/>
          <a:chExt cx="0" cy="0"/>
        </a:xfrm>
      </p:grpSpPr>
      <p:sp>
        <p:nvSpPr>
          <p:cNvPr id="187" name="Google Shape;187;p28"/>
          <p:cNvSpPr txBox="1"/>
          <p:nvPr/>
        </p:nvSpPr>
        <p:spPr>
          <a:xfrm>
            <a:off x="771525" y="1618925"/>
            <a:ext cx="6096600" cy="2031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The reference frame and current frame must be logically divided into blocks: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Block size</a:t>
            </a:r>
            <a:r>
              <a:rPr lang="it-IT" sz="1650">
                <a:solidFill>
                  <a:srgbClr val="475569"/>
                </a:solidFill>
                <a:latin typeface="Inter"/>
                <a:ea typeface="Inter"/>
                <a:cs typeface="Inter"/>
                <a:sym typeface="Inter"/>
              </a:rPr>
              <a:t>: the dimension (side length) of a square block.</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BlockX</a:t>
            </a:r>
            <a:r>
              <a:rPr lang="it-IT" sz="1650">
                <a:solidFill>
                  <a:srgbClr val="475569"/>
                </a:solidFill>
                <a:latin typeface="Inter"/>
                <a:ea typeface="Inter"/>
                <a:cs typeface="Inter"/>
                <a:sym typeface="Inter"/>
              </a:rPr>
              <a:t>: the number of blocks along the x-axis is given by the frame width (pixels) divided by block_size.</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BlockY</a:t>
            </a:r>
            <a:r>
              <a:rPr lang="it-IT" sz="1650">
                <a:solidFill>
                  <a:srgbClr val="475569"/>
                </a:solidFill>
                <a:latin typeface="Inter"/>
                <a:ea typeface="Inter"/>
                <a:cs typeface="Inter"/>
                <a:sym typeface="Inter"/>
              </a:rPr>
              <a:t>: the number of blocks on y-axis is given by the frame height (pixels) divided by block_size</a:t>
            </a:r>
            <a:endParaRPr sz="1650">
              <a:solidFill>
                <a:srgbClr val="475569"/>
              </a:solidFill>
              <a:latin typeface="Inter"/>
              <a:ea typeface="Inter"/>
              <a:cs typeface="Inter"/>
              <a:sym typeface="Inter"/>
            </a:endParaRPr>
          </a:p>
        </p:txBody>
      </p:sp>
      <p:pic>
        <p:nvPicPr>
          <p:cNvPr id="188" name="Google Shape;188;p28"/>
          <p:cNvPicPr preferRelativeResize="0"/>
          <p:nvPr/>
        </p:nvPicPr>
        <p:blipFill>
          <a:blip r:embed="rId4">
            <a:alphaModFix/>
          </a:blip>
          <a:stretch>
            <a:fillRect/>
          </a:stretch>
        </p:blipFill>
        <p:spPr>
          <a:xfrm>
            <a:off x="7407175" y="1583013"/>
            <a:ext cx="2157625" cy="2165798"/>
          </a:xfrm>
          <a:prstGeom prst="rect">
            <a:avLst/>
          </a:prstGeom>
          <a:noFill/>
          <a:ln>
            <a:noFill/>
          </a:ln>
        </p:spPr>
      </p:pic>
      <p:cxnSp>
        <p:nvCxnSpPr>
          <p:cNvPr id="189" name="Google Shape;189;p28"/>
          <p:cNvCxnSpPr/>
          <p:nvPr/>
        </p:nvCxnSpPr>
        <p:spPr>
          <a:xfrm>
            <a:off x="7865325" y="2574300"/>
            <a:ext cx="712500" cy="2085900"/>
          </a:xfrm>
          <a:prstGeom prst="straightConnector1">
            <a:avLst/>
          </a:prstGeom>
          <a:noFill/>
          <a:ln cap="flat" cmpd="sng" w="38100">
            <a:solidFill>
              <a:srgbClr val="FF0000"/>
            </a:solidFill>
            <a:prstDash val="solid"/>
            <a:round/>
            <a:headEnd len="med" w="med" type="stealth"/>
            <a:tailEnd len="med" w="med" type="none"/>
          </a:ln>
        </p:spPr>
      </p:cxnSp>
      <p:sp>
        <p:nvSpPr>
          <p:cNvPr id="190" name="Google Shape;190;p28"/>
          <p:cNvSpPr/>
          <p:nvPr/>
        </p:nvSpPr>
        <p:spPr>
          <a:xfrm>
            <a:off x="9995375" y="3198150"/>
            <a:ext cx="10887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x: </a:t>
            </a:r>
            <a:r>
              <a:rPr b="1" lang="it-IT" sz="1150">
                <a:solidFill>
                  <a:srgbClr val="475569"/>
                </a:solidFill>
                <a:latin typeface="Inter"/>
                <a:ea typeface="Inter"/>
                <a:cs typeface="Inter"/>
                <a:sym typeface="Inter"/>
              </a:rPr>
              <a:t>blockX-1</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y: blockY-1</a:t>
            </a:r>
            <a:endParaRPr sz="1150">
              <a:solidFill>
                <a:srgbClr val="475569"/>
              </a:solidFill>
              <a:latin typeface="Inter"/>
              <a:ea typeface="Inter"/>
              <a:cs typeface="Inter"/>
              <a:sym typeface="Inter"/>
            </a:endParaRPr>
          </a:p>
        </p:txBody>
      </p:sp>
      <p:cxnSp>
        <p:nvCxnSpPr>
          <p:cNvPr id="191" name="Google Shape;191;p28"/>
          <p:cNvCxnSpPr>
            <a:endCxn id="190" idx="1"/>
          </p:cNvCxnSpPr>
          <p:nvPr/>
        </p:nvCxnSpPr>
        <p:spPr>
          <a:xfrm flipH="1" rot="10800000">
            <a:off x="9411275" y="3429000"/>
            <a:ext cx="584100" cy="166800"/>
          </a:xfrm>
          <a:prstGeom prst="straightConnector1">
            <a:avLst/>
          </a:prstGeom>
          <a:noFill/>
          <a:ln cap="flat" cmpd="sng" w="38100">
            <a:solidFill>
              <a:srgbClr val="757575"/>
            </a:solidFill>
            <a:prstDash val="solid"/>
            <a:round/>
            <a:headEnd len="med" w="med" type="stealth"/>
            <a:tailEnd len="med" w="med" type="none"/>
          </a:ln>
        </p:spPr>
      </p:cxnSp>
      <p:sp>
        <p:nvSpPr>
          <p:cNvPr id="192" name="Google Shape;192;p28"/>
          <p:cNvSpPr/>
          <p:nvPr/>
        </p:nvSpPr>
        <p:spPr>
          <a:xfrm>
            <a:off x="5311400" y="4829600"/>
            <a:ext cx="1874100" cy="455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X: </a:t>
            </a:r>
            <a:r>
              <a:rPr b="1" lang="it-IT" sz="1150">
                <a:solidFill>
                  <a:srgbClr val="475569"/>
                </a:solidFill>
                <a:latin typeface="Inter"/>
                <a:ea typeface="Inter"/>
                <a:cs typeface="Inter"/>
                <a:sym typeface="Inter"/>
              </a:rPr>
              <a:t>3*block size</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Y:</a:t>
            </a:r>
            <a:r>
              <a:rPr lang="it-IT" sz="1150">
                <a:solidFill>
                  <a:srgbClr val="475569"/>
                </a:solidFill>
                <a:latin typeface="Inter"/>
                <a:ea typeface="Inter"/>
                <a:cs typeface="Inter"/>
                <a:sym typeface="Inter"/>
              </a:rPr>
              <a:t> </a:t>
            </a:r>
            <a:r>
              <a:rPr b="1" lang="it-IT" sz="1150">
                <a:solidFill>
                  <a:srgbClr val="475569"/>
                </a:solidFill>
                <a:latin typeface="Inter"/>
                <a:ea typeface="Inter"/>
                <a:cs typeface="Inter"/>
                <a:sym typeface="Inter"/>
              </a:rPr>
              <a:t>1*block size</a:t>
            </a:r>
            <a:endParaRPr b="1" sz="1150">
              <a:solidFill>
                <a:srgbClr val="475569"/>
              </a:solidFill>
              <a:latin typeface="Inter"/>
              <a:ea typeface="Inter"/>
              <a:cs typeface="Inter"/>
              <a:sym typeface="Inter"/>
            </a:endParaRPr>
          </a:p>
        </p:txBody>
      </p:sp>
      <p:pic>
        <p:nvPicPr>
          <p:cNvPr id="193" name="Google Shape;193;p28"/>
          <p:cNvPicPr preferRelativeResize="0"/>
          <p:nvPr/>
        </p:nvPicPr>
        <p:blipFill>
          <a:blip r:embed="rId5">
            <a:alphaModFix/>
          </a:blip>
          <a:stretch>
            <a:fillRect/>
          </a:stretch>
        </p:blipFill>
        <p:spPr>
          <a:xfrm>
            <a:off x="7620325" y="4568625"/>
            <a:ext cx="1731325" cy="1738000"/>
          </a:xfrm>
          <a:prstGeom prst="rect">
            <a:avLst/>
          </a:prstGeom>
          <a:noFill/>
          <a:ln>
            <a:noFill/>
          </a:ln>
        </p:spPr>
      </p:pic>
      <p:sp>
        <p:nvSpPr>
          <p:cNvPr id="194" name="Google Shape;194;p28"/>
          <p:cNvSpPr/>
          <p:nvPr/>
        </p:nvSpPr>
        <p:spPr>
          <a:xfrm>
            <a:off x="9564800" y="5844925"/>
            <a:ext cx="26271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X: (3*block size) + block size</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Y:</a:t>
            </a:r>
            <a:r>
              <a:rPr lang="it-IT" sz="1150">
                <a:solidFill>
                  <a:srgbClr val="475569"/>
                </a:solidFill>
                <a:latin typeface="Inter"/>
                <a:ea typeface="Inter"/>
                <a:cs typeface="Inter"/>
                <a:sym typeface="Inter"/>
              </a:rPr>
              <a:t> </a:t>
            </a:r>
            <a:r>
              <a:rPr b="1" lang="it-IT" sz="1150">
                <a:solidFill>
                  <a:srgbClr val="475569"/>
                </a:solidFill>
                <a:latin typeface="Inter"/>
                <a:ea typeface="Inter"/>
                <a:cs typeface="Inter"/>
                <a:sym typeface="Inter"/>
              </a:rPr>
              <a:t>(</a:t>
            </a:r>
            <a:r>
              <a:rPr b="1" lang="it-IT" sz="1150">
                <a:solidFill>
                  <a:srgbClr val="475569"/>
                </a:solidFill>
                <a:latin typeface="Inter"/>
                <a:ea typeface="Inter"/>
                <a:cs typeface="Inter"/>
                <a:sym typeface="Inter"/>
              </a:rPr>
              <a:t>1*block size) - block size</a:t>
            </a:r>
            <a:endParaRPr sz="1150">
              <a:solidFill>
                <a:srgbClr val="475569"/>
              </a:solidFill>
              <a:latin typeface="Inter"/>
              <a:ea typeface="Inter"/>
              <a:cs typeface="Inter"/>
              <a:sym typeface="Inter"/>
            </a:endParaRPr>
          </a:p>
        </p:txBody>
      </p:sp>
      <p:sp>
        <p:nvSpPr>
          <p:cNvPr id="195" name="Google Shape;195;p28"/>
          <p:cNvSpPr/>
          <p:nvPr/>
        </p:nvSpPr>
        <p:spPr>
          <a:xfrm>
            <a:off x="5019175" y="5844925"/>
            <a:ext cx="23880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X: (3*block size)</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Y:</a:t>
            </a:r>
            <a:r>
              <a:rPr lang="it-IT" sz="1150">
                <a:solidFill>
                  <a:srgbClr val="475569"/>
                </a:solidFill>
                <a:latin typeface="Inter"/>
                <a:ea typeface="Inter"/>
                <a:cs typeface="Inter"/>
                <a:sym typeface="Inter"/>
              </a:rPr>
              <a:t> </a:t>
            </a:r>
            <a:r>
              <a:rPr b="1" lang="it-IT" sz="1150">
                <a:solidFill>
                  <a:srgbClr val="475569"/>
                </a:solidFill>
                <a:latin typeface="Inter"/>
                <a:ea typeface="Inter"/>
                <a:cs typeface="Inter"/>
                <a:sym typeface="Inter"/>
              </a:rPr>
              <a:t>(1*block size) - block size</a:t>
            </a:r>
            <a:endParaRPr sz="1150">
              <a:solidFill>
                <a:srgbClr val="475569"/>
              </a:solidFill>
              <a:latin typeface="Inter"/>
              <a:ea typeface="Inter"/>
              <a:cs typeface="Inter"/>
              <a:sym typeface="Inter"/>
            </a:endParaRPr>
          </a:p>
        </p:txBody>
      </p:sp>
      <p:cxnSp>
        <p:nvCxnSpPr>
          <p:cNvPr id="196" name="Google Shape;196;p28"/>
          <p:cNvCxnSpPr>
            <a:stCxn id="192" idx="3"/>
          </p:cNvCxnSpPr>
          <p:nvPr/>
        </p:nvCxnSpPr>
        <p:spPr>
          <a:xfrm flipH="1" rot="10800000">
            <a:off x="7185500" y="4601750"/>
            <a:ext cx="463200" cy="455700"/>
          </a:xfrm>
          <a:prstGeom prst="straightConnector1">
            <a:avLst/>
          </a:prstGeom>
          <a:noFill/>
          <a:ln cap="flat" cmpd="sng" w="28575">
            <a:solidFill>
              <a:srgbClr val="757575"/>
            </a:solidFill>
            <a:prstDash val="solid"/>
            <a:round/>
            <a:headEnd len="med" w="med" type="none"/>
            <a:tailEnd len="med" w="med" type="stealth"/>
          </a:ln>
        </p:spPr>
      </p:cxnSp>
      <p:cxnSp>
        <p:nvCxnSpPr>
          <p:cNvPr id="197" name="Google Shape;197;p28"/>
          <p:cNvCxnSpPr>
            <a:stCxn id="198" idx="1"/>
          </p:cNvCxnSpPr>
          <p:nvPr/>
        </p:nvCxnSpPr>
        <p:spPr>
          <a:xfrm rot="10800000">
            <a:off x="9315800" y="4582475"/>
            <a:ext cx="249000" cy="361200"/>
          </a:xfrm>
          <a:prstGeom prst="straightConnector1">
            <a:avLst/>
          </a:prstGeom>
          <a:noFill/>
          <a:ln cap="flat" cmpd="sng" w="28575">
            <a:solidFill>
              <a:srgbClr val="757575"/>
            </a:solidFill>
            <a:prstDash val="solid"/>
            <a:round/>
            <a:headEnd len="med" w="med" type="none"/>
            <a:tailEnd len="med" w="med" type="stealth"/>
          </a:ln>
        </p:spPr>
      </p:cxnSp>
      <p:cxnSp>
        <p:nvCxnSpPr>
          <p:cNvPr id="199" name="Google Shape;199;p28"/>
          <p:cNvCxnSpPr>
            <a:stCxn id="194" idx="1"/>
          </p:cNvCxnSpPr>
          <p:nvPr/>
        </p:nvCxnSpPr>
        <p:spPr>
          <a:xfrm flipH="1">
            <a:off x="9321800" y="6075775"/>
            <a:ext cx="243000" cy="191100"/>
          </a:xfrm>
          <a:prstGeom prst="straightConnector1">
            <a:avLst/>
          </a:prstGeom>
          <a:noFill/>
          <a:ln cap="flat" cmpd="sng" w="28575">
            <a:solidFill>
              <a:srgbClr val="757575"/>
            </a:solidFill>
            <a:prstDash val="solid"/>
            <a:round/>
            <a:headEnd len="med" w="med" type="none"/>
            <a:tailEnd len="med" w="med" type="stealth"/>
          </a:ln>
        </p:spPr>
      </p:cxnSp>
      <p:cxnSp>
        <p:nvCxnSpPr>
          <p:cNvPr id="200" name="Google Shape;200;p28"/>
          <p:cNvCxnSpPr>
            <a:stCxn id="195" idx="3"/>
          </p:cNvCxnSpPr>
          <p:nvPr/>
        </p:nvCxnSpPr>
        <p:spPr>
          <a:xfrm>
            <a:off x="7407175" y="6075775"/>
            <a:ext cx="238800" cy="192900"/>
          </a:xfrm>
          <a:prstGeom prst="straightConnector1">
            <a:avLst/>
          </a:prstGeom>
          <a:noFill/>
          <a:ln cap="flat" cmpd="sng" w="28575">
            <a:solidFill>
              <a:srgbClr val="757575"/>
            </a:solidFill>
            <a:prstDash val="solid"/>
            <a:round/>
            <a:headEnd len="med" w="med" type="none"/>
            <a:tailEnd len="med" w="med" type="stealth"/>
          </a:ln>
        </p:spPr>
      </p:cxnSp>
      <p:sp>
        <p:nvSpPr>
          <p:cNvPr id="201" name="Google Shape;201;p28"/>
          <p:cNvSpPr/>
          <p:nvPr/>
        </p:nvSpPr>
        <p:spPr>
          <a:xfrm>
            <a:off x="7616588" y="3748800"/>
            <a:ext cx="1738800" cy="207600"/>
          </a:xfrm>
          <a:prstGeom prst="roundRect">
            <a:avLst>
              <a:gd fmla="val 50000" name="adj"/>
            </a:avLst>
          </a:prstGeom>
          <a:solidFill>
            <a:srgbClr val="D5E9E3"/>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Frame</a:t>
            </a:r>
            <a:endParaRPr sz="1000">
              <a:solidFill>
                <a:srgbClr val="0F172A"/>
              </a:solidFill>
              <a:latin typeface="Outfit"/>
              <a:ea typeface="Outfit"/>
              <a:cs typeface="Outfit"/>
              <a:sym typeface="Outfit"/>
            </a:endParaRPr>
          </a:p>
        </p:txBody>
      </p:sp>
      <p:sp>
        <p:nvSpPr>
          <p:cNvPr id="202" name="Google Shape;202;p28"/>
          <p:cNvSpPr/>
          <p:nvPr/>
        </p:nvSpPr>
        <p:spPr>
          <a:xfrm>
            <a:off x="7625875" y="6376525"/>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Block</a:t>
            </a:r>
            <a:endParaRPr sz="1000">
              <a:solidFill>
                <a:srgbClr val="0F172A"/>
              </a:solidFill>
              <a:latin typeface="Outfit"/>
              <a:ea typeface="Outfit"/>
              <a:cs typeface="Outfit"/>
              <a:sym typeface="Outfit"/>
            </a:endParaRPr>
          </a:p>
        </p:txBody>
      </p:sp>
      <p:sp>
        <p:nvSpPr>
          <p:cNvPr id="203" name="Google Shape;203;p28"/>
          <p:cNvSpPr txBox="1"/>
          <p:nvPr/>
        </p:nvSpPr>
        <p:spPr>
          <a:xfrm>
            <a:off x="771525" y="3874075"/>
            <a:ext cx="60033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A block is </a:t>
            </a:r>
            <a:r>
              <a:rPr lang="it-IT" sz="1650">
                <a:solidFill>
                  <a:srgbClr val="475569"/>
                </a:solidFill>
                <a:highlight>
                  <a:srgbClr val="FFD966"/>
                </a:highlight>
                <a:latin typeface="Inter"/>
                <a:ea typeface="Inter"/>
                <a:cs typeface="Inter"/>
                <a:sym typeface="Inter"/>
              </a:rPr>
              <a:t>identified by the coordinates x and y of its top-left pixel</a:t>
            </a:r>
            <a:r>
              <a:rPr lang="it-IT" sz="1650">
                <a:solidFill>
                  <a:srgbClr val="475569"/>
                </a:solidFill>
                <a:latin typeface="Inter"/>
                <a:ea typeface="Inter"/>
                <a:cs typeface="Inter"/>
                <a:sym typeface="Inter"/>
              </a:rPr>
              <a:t>. Starting from that point, it is possible to move within the square block for up to </a:t>
            </a:r>
            <a:r>
              <a:rPr lang="it-IT" sz="1650">
                <a:solidFill>
                  <a:srgbClr val="475569"/>
                </a:solidFill>
                <a:latin typeface="Inter"/>
                <a:ea typeface="Inter"/>
                <a:cs typeface="Inter"/>
                <a:sym typeface="Inter"/>
              </a:rPr>
              <a:t>block_size</a:t>
            </a:r>
            <a:r>
              <a:rPr lang="it-IT" sz="1650">
                <a:solidFill>
                  <a:srgbClr val="475569"/>
                </a:solidFill>
                <a:latin typeface="Inter"/>
                <a:ea typeface="Inter"/>
                <a:cs typeface="Inter"/>
                <a:sym typeface="Inter"/>
              </a:rPr>
              <a:t> pixels to the right and downward.</a:t>
            </a:r>
            <a:endParaRPr/>
          </a:p>
        </p:txBody>
      </p:sp>
      <p:sp>
        <p:nvSpPr>
          <p:cNvPr id="204" name="Google Shape;204;p28"/>
          <p:cNvSpPr txBox="1"/>
          <p:nvPr/>
        </p:nvSpPr>
        <p:spPr>
          <a:xfrm>
            <a:off x="3368500" y="4829600"/>
            <a:ext cx="18195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p:txBody>
      </p:sp>
      <p:cxnSp>
        <p:nvCxnSpPr>
          <p:cNvPr id="205" name="Google Shape;205;p28"/>
          <p:cNvCxnSpPr/>
          <p:nvPr/>
        </p:nvCxnSpPr>
        <p:spPr>
          <a:xfrm>
            <a:off x="6032500" y="4094425"/>
            <a:ext cx="1591800" cy="493200"/>
          </a:xfrm>
          <a:prstGeom prst="straightConnector1">
            <a:avLst/>
          </a:prstGeom>
          <a:noFill/>
          <a:ln cap="flat" cmpd="sng" w="28575">
            <a:solidFill>
              <a:srgbClr val="FFD966"/>
            </a:solidFill>
            <a:prstDash val="solid"/>
            <a:round/>
            <a:headEnd len="med" w="med" type="none"/>
            <a:tailEnd len="med" w="med" type="triangle"/>
          </a:ln>
        </p:spPr>
      </p:cxnSp>
      <p:cxnSp>
        <p:nvCxnSpPr>
          <p:cNvPr id="206" name="Google Shape;206;p28"/>
          <p:cNvCxnSpPr/>
          <p:nvPr/>
        </p:nvCxnSpPr>
        <p:spPr>
          <a:xfrm flipH="1" rot="10800000">
            <a:off x="6032500" y="2412525"/>
            <a:ext cx="1662000" cy="1635600"/>
          </a:xfrm>
          <a:prstGeom prst="straightConnector1">
            <a:avLst/>
          </a:prstGeom>
          <a:noFill/>
          <a:ln cap="flat" cmpd="sng" w="28575">
            <a:solidFill>
              <a:srgbClr val="FFD966"/>
            </a:solidFill>
            <a:prstDash val="solid"/>
            <a:round/>
            <a:headEnd len="med" w="med" type="none"/>
            <a:tailEnd len="med" w="med" type="triangle"/>
          </a:ln>
        </p:spPr>
      </p:cxnSp>
      <p:sp>
        <p:nvSpPr>
          <p:cNvPr id="207" name="Google Shape;207;p28"/>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Frame grid</a:t>
            </a:r>
            <a:endParaRPr b="0" sz="1400" u="none" cap="none" strike="noStrike">
              <a:solidFill>
                <a:srgbClr val="000000"/>
              </a:solidFill>
              <a:latin typeface="Arial"/>
              <a:ea typeface="Arial"/>
              <a:cs typeface="Arial"/>
              <a:sym typeface="Arial"/>
            </a:endParaRPr>
          </a:p>
        </p:txBody>
      </p:sp>
      <p:sp>
        <p:nvSpPr>
          <p:cNvPr id="208" name="Google Shape;208;p28"/>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9" name="Google Shape;209;p28"/>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210" name="Google Shape;210;p28"/>
          <p:cNvSpPr/>
          <p:nvPr/>
        </p:nvSpPr>
        <p:spPr>
          <a:xfrm>
            <a:off x="9503050" y="4681438"/>
            <a:ext cx="23880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X: (3*block size) + block size</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Y:</a:t>
            </a:r>
            <a:r>
              <a:rPr lang="it-IT" sz="1150">
                <a:solidFill>
                  <a:srgbClr val="475569"/>
                </a:solidFill>
                <a:latin typeface="Inter"/>
                <a:ea typeface="Inter"/>
                <a:cs typeface="Inter"/>
                <a:sym typeface="Inter"/>
              </a:rPr>
              <a:t> </a:t>
            </a:r>
            <a:r>
              <a:rPr b="1" lang="it-IT" sz="1150">
                <a:solidFill>
                  <a:srgbClr val="475569"/>
                </a:solidFill>
                <a:latin typeface="Inter"/>
                <a:ea typeface="Inter"/>
                <a:cs typeface="Inter"/>
                <a:sym typeface="Inter"/>
              </a:rPr>
              <a:t>1*block size</a:t>
            </a:r>
            <a:endParaRPr sz="1150">
              <a:solidFill>
                <a:srgbClr val="475569"/>
              </a:solidFill>
              <a:latin typeface="Inter"/>
              <a:ea typeface="Inter"/>
              <a:cs typeface="Inter"/>
              <a:sym typeface="Inter"/>
            </a:endParaRPr>
          </a:p>
        </p:txBody>
      </p:sp>
      <p:sp>
        <p:nvSpPr>
          <p:cNvPr id="211" name="Google Shape;211;p28"/>
          <p:cNvSpPr/>
          <p:nvPr/>
        </p:nvSpPr>
        <p:spPr>
          <a:xfrm>
            <a:off x="9995375" y="3956400"/>
            <a:ext cx="1874100" cy="5478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it-IT" sz="1150">
                <a:solidFill>
                  <a:srgbClr val="475569"/>
                </a:solidFill>
                <a:latin typeface="Inter"/>
                <a:ea typeface="Inter"/>
                <a:cs typeface="Inter"/>
                <a:sym typeface="Inter"/>
              </a:rPr>
              <a:t>1 pixel</a:t>
            </a:r>
            <a:endParaRPr b="1" sz="1150">
              <a:solidFill>
                <a:srgbClr val="475569"/>
              </a:solidFill>
              <a:latin typeface="Inter"/>
              <a:ea typeface="Inter"/>
              <a:cs typeface="Inter"/>
              <a:sym typeface="Inter"/>
            </a:endParaRPr>
          </a:p>
          <a:p>
            <a:pPr indent="0" lvl="0" marL="0" rtl="0" algn="ctr">
              <a:spcBef>
                <a:spcPts val="0"/>
              </a:spcBef>
              <a:spcAft>
                <a:spcPts val="0"/>
              </a:spcAft>
              <a:buNone/>
            </a:pPr>
            <a:r>
              <a:rPr b="1" lang="it-IT" sz="1150">
                <a:solidFill>
                  <a:srgbClr val="475569"/>
                </a:solidFill>
                <a:latin typeface="Inter"/>
                <a:ea typeface="Inter"/>
                <a:cs typeface="Inter"/>
                <a:sym typeface="Inter"/>
              </a:rPr>
              <a:t>256 grayscale levels</a:t>
            </a:r>
            <a:endParaRPr b="1" sz="1150">
              <a:solidFill>
                <a:srgbClr val="475569"/>
              </a:solidFill>
              <a:latin typeface="Inter"/>
              <a:ea typeface="Inter"/>
              <a:cs typeface="Inter"/>
              <a:sym typeface="Inter"/>
            </a:endParaRPr>
          </a:p>
          <a:p>
            <a:pPr indent="0" lvl="0" marL="0" rtl="0" algn="ctr">
              <a:spcBef>
                <a:spcPts val="0"/>
              </a:spcBef>
              <a:spcAft>
                <a:spcPts val="0"/>
              </a:spcAft>
              <a:buNone/>
            </a:pPr>
            <a:r>
              <a:rPr b="1" lang="it-IT" sz="1150">
                <a:solidFill>
                  <a:srgbClr val="475569"/>
                </a:solidFill>
                <a:latin typeface="Inter"/>
                <a:ea typeface="Inter"/>
                <a:cs typeface="Inter"/>
                <a:sym typeface="Inter"/>
              </a:rPr>
              <a:t>1 byte</a:t>
            </a:r>
            <a:endParaRPr sz="1150">
              <a:solidFill>
                <a:srgbClr val="475569"/>
              </a:solidFill>
              <a:latin typeface="Inter"/>
              <a:ea typeface="Inter"/>
              <a:cs typeface="Inter"/>
              <a:sym typeface="Inter"/>
            </a:endParaRPr>
          </a:p>
        </p:txBody>
      </p:sp>
      <p:cxnSp>
        <p:nvCxnSpPr>
          <p:cNvPr id="212" name="Google Shape;212;p28"/>
          <p:cNvCxnSpPr>
            <a:stCxn id="211" idx="1"/>
          </p:cNvCxnSpPr>
          <p:nvPr/>
        </p:nvCxnSpPr>
        <p:spPr>
          <a:xfrm flipH="1">
            <a:off x="8897075" y="4230300"/>
            <a:ext cx="1098300" cy="329400"/>
          </a:xfrm>
          <a:prstGeom prst="straightConnector1">
            <a:avLst/>
          </a:prstGeom>
          <a:noFill/>
          <a:ln cap="flat" cmpd="sng" w="28575">
            <a:solidFill>
              <a:srgbClr val="757575"/>
            </a:solidFill>
            <a:prstDash val="solid"/>
            <a:round/>
            <a:headEnd len="med" w="med"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6" name="Shape 216"/>
        <p:cNvGrpSpPr/>
        <p:nvPr/>
      </p:nvGrpSpPr>
      <p:grpSpPr>
        <a:xfrm>
          <a:off x="0" y="0"/>
          <a:ext cx="0" cy="0"/>
          <a:chOff x="0" y="0"/>
          <a:chExt cx="0" cy="0"/>
        </a:xfrm>
      </p:grpSpPr>
      <p:pic>
        <p:nvPicPr>
          <p:cNvPr id="217" name="Google Shape;217;p29"/>
          <p:cNvPicPr preferRelativeResize="0"/>
          <p:nvPr/>
        </p:nvPicPr>
        <p:blipFill rotWithShape="1">
          <a:blip r:embed="rId4">
            <a:alphaModFix/>
          </a:blip>
          <a:srcRect b="0" l="931" r="0" t="0"/>
          <a:stretch/>
        </p:blipFill>
        <p:spPr>
          <a:xfrm>
            <a:off x="8725600" y="3728513"/>
            <a:ext cx="1947250" cy="1958000"/>
          </a:xfrm>
          <a:prstGeom prst="rect">
            <a:avLst/>
          </a:prstGeom>
          <a:noFill/>
          <a:ln>
            <a:noFill/>
          </a:ln>
        </p:spPr>
      </p:pic>
      <p:sp>
        <p:nvSpPr>
          <p:cNvPr id="218" name="Google Shape;218;p29"/>
          <p:cNvSpPr txBox="1"/>
          <p:nvPr/>
        </p:nvSpPr>
        <p:spPr>
          <a:xfrm>
            <a:off x="771525" y="1370438"/>
            <a:ext cx="6130800" cy="22986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50"/>
              <a:buFont typeface="Arial"/>
              <a:buNone/>
            </a:pPr>
            <a:r>
              <a:rPr lang="it-IT" sz="1650">
                <a:solidFill>
                  <a:srgbClr val="475569"/>
                </a:solidFill>
                <a:latin typeface="Inter"/>
                <a:ea typeface="Inter"/>
                <a:cs typeface="Inter"/>
                <a:sym typeface="Inter"/>
              </a:rPr>
              <a:t>To find the differences between two blocks,</a:t>
            </a:r>
            <a:r>
              <a:rPr lang="it-IT" sz="1650">
                <a:solidFill>
                  <a:srgbClr val="0F172A"/>
                </a:solidFill>
                <a:latin typeface="Inter"/>
                <a:ea typeface="Inter"/>
                <a:cs typeface="Inter"/>
                <a:sym typeface="Inter"/>
              </a:rPr>
              <a:t> </a:t>
            </a:r>
            <a:r>
              <a:rPr lang="it-IT" sz="1650">
                <a:solidFill>
                  <a:srgbClr val="475569"/>
                </a:solidFill>
                <a:latin typeface="Inter"/>
                <a:ea typeface="Inter"/>
                <a:cs typeface="Inter"/>
                <a:sym typeface="Inter"/>
              </a:rPr>
              <a:t>the</a:t>
            </a:r>
            <a:r>
              <a:rPr lang="it-IT" sz="1650">
                <a:solidFill>
                  <a:srgbClr val="0F172A"/>
                </a:solidFill>
                <a:latin typeface="Inter"/>
                <a:ea typeface="Inter"/>
                <a:cs typeface="Inter"/>
                <a:sym typeface="Inter"/>
              </a:rPr>
              <a:t> </a:t>
            </a:r>
            <a:r>
              <a:rPr lang="it-IT" sz="1650">
                <a:solidFill>
                  <a:srgbClr val="0F172A"/>
                </a:solidFill>
                <a:latin typeface="Inter"/>
                <a:ea typeface="Inter"/>
                <a:cs typeface="Inter"/>
                <a:sym typeface="Inter"/>
              </a:rPr>
              <a:t>Sum Absolute Differences (SAD) </a:t>
            </a:r>
            <a:r>
              <a:rPr lang="it-IT" sz="1650">
                <a:solidFill>
                  <a:srgbClr val="475569"/>
                </a:solidFill>
                <a:latin typeface="Inter"/>
                <a:ea typeface="Inter"/>
                <a:cs typeface="Inter"/>
                <a:sym typeface="Inter"/>
              </a:rPr>
              <a:t>is used, which calculates the sum of the differences between each pixel of the block in the current frame and the corresponding pixel in the reference frame.</a:t>
            </a:r>
            <a:endParaRPr sz="1650">
              <a:solidFill>
                <a:srgbClr val="475569"/>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950"/>
              <a:buFont typeface="Arial"/>
              <a:buNone/>
            </a:pPr>
            <a:r>
              <a:t/>
            </a:r>
            <a:endParaRPr sz="1650">
              <a:solidFill>
                <a:srgbClr val="475569"/>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950"/>
              <a:buFont typeface="Arial"/>
              <a:buNone/>
            </a:pPr>
            <a:r>
              <a:rPr lang="it-IT" sz="1650">
                <a:solidFill>
                  <a:srgbClr val="475569"/>
                </a:solidFill>
                <a:latin typeface="Inter"/>
                <a:ea typeface="Inter"/>
                <a:cs typeface="Inter"/>
                <a:sym typeface="Inter"/>
              </a:rPr>
              <a:t>The block with the smallest SAD is considered the best match.</a:t>
            </a:r>
            <a:endParaRPr sz="1650">
              <a:solidFill>
                <a:srgbClr val="475569"/>
              </a:solidFill>
              <a:latin typeface="Inter"/>
              <a:ea typeface="Inter"/>
              <a:cs typeface="Inter"/>
              <a:sym typeface="Inter"/>
            </a:endParaRPr>
          </a:p>
        </p:txBody>
      </p:sp>
      <p:pic>
        <p:nvPicPr>
          <p:cNvPr id="219" name="Google Shape;219;p29"/>
          <p:cNvPicPr preferRelativeResize="0"/>
          <p:nvPr/>
        </p:nvPicPr>
        <p:blipFill>
          <a:blip r:embed="rId5">
            <a:alphaModFix/>
          </a:blip>
          <a:stretch>
            <a:fillRect/>
          </a:stretch>
        </p:blipFill>
        <p:spPr>
          <a:xfrm>
            <a:off x="789238" y="3591700"/>
            <a:ext cx="6059121" cy="609475"/>
          </a:xfrm>
          <a:prstGeom prst="rect">
            <a:avLst/>
          </a:prstGeom>
          <a:noFill/>
          <a:ln>
            <a:noFill/>
          </a:ln>
        </p:spPr>
      </p:pic>
      <p:pic>
        <p:nvPicPr>
          <p:cNvPr id="220" name="Google Shape;220;p29"/>
          <p:cNvPicPr preferRelativeResize="0"/>
          <p:nvPr/>
        </p:nvPicPr>
        <p:blipFill>
          <a:blip r:embed="rId6">
            <a:alphaModFix/>
          </a:blip>
          <a:stretch>
            <a:fillRect/>
          </a:stretch>
        </p:blipFill>
        <p:spPr>
          <a:xfrm>
            <a:off x="7448513" y="1620363"/>
            <a:ext cx="1992521" cy="1977075"/>
          </a:xfrm>
          <a:prstGeom prst="rect">
            <a:avLst/>
          </a:prstGeom>
          <a:noFill/>
          <a:ln>
            <a:noFill/>
          </a:ln>
        </p:spPr>
      </p:pic>
      <p:sp>
        <p:nvSpPr>
          <p:cNvPr id="221" name="Google Shape;221;p29"/>
          <p:cNvSpPr/>
          <p:nvPr/>
        </p:nvSpPr>
        <p:spPr>
          <a:xfrm>
            <a:off x="7575375" y="1338000"/>
            <a:ext cx="1738800" cy="207600"/>
          </a:xfrm>
          <a:prstGeom prst="roundRect">
            <a:avLst>
              <a:gd fmla="val 50000" name="adj"/>
            </a:avLst>
          </a:prstGeom>
          <a:solidFill>
            <a:srgbClr val="D5E9E3"/>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Reference frame</a:t>
            </a:r>
            <a:endParaRPr sz="1000">
              <a:solidFill>
                <a:srgbClr val="0F172A"/>
              </a:solidFill>
              <a:latin typeface="Outfit"/>
              <a:ea typeface="Outfit"/>
              <a:cs typeface="Outfit"/>
              <a:sym typeface="Outfit"/>
            </a:endParaRPr>
          </a:p>
        </p:txBody>
      </p:sp>
      <p:pic>
        <p:nvPicPr>
          <p:cNvPr id="222" name="Google Shape;222;p29"/>
          <p:cNvPicPr preferRelativeResize="0"/>
          <p:nvPr/>
        </p:nvPicPr>
        <p:blipFill>
          <a:blip r:embed="rId7">
            <a:alphaModFix/>
          </a:blip>
          <a:stretch>
            <a:fillRect/>
          </a:stretch>
        </p:blipFill>
        <p:spPr>
          <a:xfrm>
            <a:off x="9987225" y="1626113"/>
            <a:ext cx="1965600" cy="1965600"/>
          </a:xfrm>
          <a:prstGeom prst="rect">
            <a:avLst/>
          </a:prstGeom>
          <a:noFill/>
          <a:ln>
            <a:noFill/>
          </a:ln>
        </p:spPr>
      </p:pic>
      <p:sp>
        <p:nvSpPr>
          <p:cNvPr id="223" name="Google Shape;223;p29"/>
          <p:cNvSpPr/>
          <p:nvPr/>
        </p:nvSpPr>
        <p:spPr>
          <a:xfrm>
            <a:off x="10100625" y="1338000"/>
            <a:ext cx="1738800" cy="207600"/>
          </a:xfrm>
          <a:prstGeom prst="roundRect">
            <a:avLst>
              <a:gd fmla="val 50000" name="adj"/>
            </a:avLst>
          </a:prstGeom>
          <a:solidFill>
            <a:srgbClr val="D5E9E3"/>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Current frame</a:t>
            </a:r>
            <a:endParaRPr sz="1000">
              <a:solidFill>
                <a:srgbClr val="0F172A"/>
              </a:solidFill>
              <a:latin typeface="Outfit"/>
              <a:ea typeface="Outfit"/>
              <a:cs typeface="Outfit"/>
              <a:sym typeface="Outfit"/>
            </a:endParaRPr>
          </a:p>
        </p:txBody>
      </p:sp>
      <p:sp>
        <p:nvSpPr>
          <p:cNvPr id="224" name="Google Shape;224;p29"/>
          <p:cNvSpPr/>
          <p:nvPr/>
        </p:nvSpPr>
        <p:spPr>
          <a:xfrm>
            <a:off x="8829825" y="581757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D</a:t>
            </a:r>
            <a:r>
              <a:rPr lang="it-IT" sz="1000">
                <a:solidFill>
                  <a:srgbClr val="0F172A"/>
                </a:solidFill>
                <a:latin typeface="Outfit"/>
                <a:ea typeface="Outfit"/>
                <a:cs typeface="Outfit"/>
                <a:sym typeface="Outfit"/>
              </a:rPr>
              <a:t>ifference</a:t>
            </a:r>
            <a:r>
              <a:rPr lang="it-IT" sz="1000">
                <a:solidFill>
                  <a:srgbClr val="0F172A"/>
                </a:solidFill>
                <a:latin typeface="Outfit"/>
                <a:ea typeface="Outfit"/>
                <a:cs typeface="Outfit"/>
                <a:sym typeface="Outfit"/>
              </a:rPr>
              <a:t> between 2 </a:t>
            </a:r>
            <a:r>
              <a:rPr lang="it-IT" sz="1000">
                <a:solidFill>
                  <a:srgbClr val="0F172A"/>
                </a:solidFill>
                <a:latin typeface="Outfit"/>
                <a:ea typeface="Outfit"/>
                <a:cs typeface="Outfit"/>
                <a:sym typeface="Outfit"/>
              </a:rPr>
              <a:t>frames </a:t>
            </a:r>
            <a:endParaRPr sz="1000">
              <a:solidFill>
                <a:srgbClr val="0F172A"/>
              </a:solidFill>
              <a:latin typeface="Outfit"/>
              <a:ea typeface="Outfit"/>
              <a:cs typeface="Outfit"/>
              <a:sym typeface="Outfit"/>
            </a:endParaRPr>
          </a:p>
        </p:txBody>
      </p:sp>
      <p:grpSp>
        <p:nvGrpSpPr>
          <p:cNvPr id="225" name="Google Shape;225;p29"/>
          <p:cNvGrpSpPr/>
          <p:nvPr/>
        </p:nvGrpSpPr>
        <p:grpSpPr>
          <a:xfrm>
            <a:off x="753425" y="4201175"/>
            <a:ext cx="6059100" cy="2481730"/>
            <a:chOff x="292025" y="4133467"/>
            <a:chExt cx="6059100" cy="2446500"/>
          </a:xfrm>
        </p:grpSpPr>
        <p:sp>
          <p:nvSpPr>
            <p:cNvPr id="226" name="Google Shape;226;p29"/>
            <p:cNvSpPr/>
            <p:nvPr/>
          </p:nvSpPr>
          <p:spPr>
            <a:xfrm>
              <a:off x="292025" y="4133467"/>
              <a:ext cx="5945400" cy="2446500"/>
            </a:xfrm>
            <a:prstGeom prst="roundRect">
              <a:avLst>
                <a:gd fmla="val 6966"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nvGrpSpPr>
            <p:cNvPr id="227" name="Google Shape;227;p29"/>
            <p:cNvGrpSpPr/>
            <p:nvPr/>
          </p:nvGrpSpPr>
          <p:grpSpPr>
            <a:xfrm>
              <a:off x="397725" y="4156226"/>
              <a:ext cx="1672775" cy="159300"/>
              <a:chOff x="393675" y="4113751"/>
              <a:chExt cx="1672775" cy="159300"/>
            </a:xfrm>
          </p:grpSpPr>
          <p:pic>
            <p:nvPicPr>
              <p:cNvPr descr="image.png" id="228" name="Google Shape;228;p29"/>
              <p:cNvPicPr preferRelativeResize="0"/>
              <p:nvPr/>
            </p:nvPicPr>
            <p:blipFill rotWithShape="1">
              <a:blip r:embed="rId8">
                <a:alphaModFix/>
              </a:blip>
              <a:srcRect b="0" l="0" r="0" t="0"/>
              <a:stretch/>
            </p:blipFill>
            <p:spPr>
              <a:xfrm>
                <a:off x="393675" y="4126721"/>
                <a:ext cx="104775" cy="133350"/>
              </a:xfrm>
              <a:prstGeom prst="rect">
                <a:avLst/>
              </a:prstGeom>
              <a:noFill/>
              <a:ln>
                <a:noFill/>
              </a:ln>
            </p:spPr>
          </p:pic>
          <p:sp>
            <p:nvSpPr>
              <p:cNvPr id="229" name="Google Shape;229;p29"/>
              <p:cNvSpPr txBox="1"/>
              <p:nvPr/>
            </p:nvSpPr>
            <p:spPr>
              <a:xfrm>
                <a:off x="540950" y="4113751"/>
                <a:ext cx="1525500" cy="1593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lang="it-IT" sz="1050">
                    <a:solidFill>
                      <a:srgbClr val="666666"/>
                    </a:solidFill>
                    <a:latin typeface="Inter"/>
                    <a:ea typeface="Inter"/>
                    <a:cs typeface="Inter"/>
                    <a:sym typeface="Inter"/>
                  </a:rPr>
                  <a:t>SAD.cpp</a:t>
                </a:r>
                <a:endParaRPr sz="1050">
                  <a:solidFill>
                    <a:srgbClr val="666666"/>
                  </a:solidFill>
                  <a:latin typeface="Inter"/>
                  <a:ea typeface="Inter"/>
                  <a:cs typeface="Inter"/>
                  <a:sym typeface="Inter"/>
                </a:endParaRPr>
              </a:p>
            </p:txBody>
          </p:sp>
        </p:grpSp>
        <p:sp>
          <p:nvSpPr>
            <p:cNvPr id="230" name="Google Shape;230;p29"/>
            <p:cNvSpPr txBox="1"/>
            <p:nvPr/>
          </p:nvSpPr>
          <p:spPr>
            <a:xfrm>
              <a:off x="292025" y="4344479"/>
              <a:ext cx="6059100" cy="2066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it-IT" sz="1050">
                  <a:solidFill>
                    <a:srgbClr val="700080"/>
                  </a:solidFill>
                  <a:latin typeface="Roboto Mono"/>
                  <a:ea typeface="Roboto Mono"/>
                  <a:cs typeface="Roboto Mono"/>
                  <a:sym typeface="Roboto Mono"/>
                </a:rPr>
                <a:t>static</a:t>
              </a:r>
              <a:r>
                <a:rPr lang="it-IT" sz="1050">
                  <a:latin typeface="Roboto Mono"/>
                  <a:ea typeface="Roboto Mono"/>
                  <a:cs typeface="Roboto Mono"/>
                  <a:sym typeface="Roboto Mono"/>
                </a:rPr>
                <a:t> </a:t>
              </a:r>
              <a:r>
                <a:rPr b="1" lang="it-IT" sz="1050">
                  <a:solidFill>
                    <a:srgbClr val="700080"/>
                  </a:solidFill>
                  <a:latin typeface="Roboto Mono"/>
                  <a:ea typeface="Roboto Mono"/>
                  <a:cs typeface="Roboto Mono"/>
                  <a:sym typeface="Roboto Mono"/>
                </a:rPr>
                <a:t>inline</a:t>
              </a: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0000F0"/>
                  </a:solidFill>
                  <a:latin typeface="Roboto Mono"/>
                  <a:ea typeface="Roboto Mono"/>
                  <a:cs typeface="Roboto Mono"/>
                  <a:sym typeface="Roboto Mono"/>
                </a:rPr>
                <a:t>computeSAD</a:t>
              </a:r>
              <a:r>
                <a:rPr lang="it-IT" sz="1050">
                  <a:latin typeface="Roboto Mono"/>
                  <a:ea typeface="Roboto Mono"/>
                  <a:cs typeface="Roboto Mono"/>
                  <a:sym typeface="Roboto Mono"/>
                </a:rPr>
                <a:t>(</a:t>
              </a:r>
              <a:r>
                <a:rPr b="1" lang="it-IT" sz="1050">
                  <a:solidFill>
                    <a:srgbClr val="700080"/>
                  </a:solidFill>
                  <a:latin typeface="Roboto Mono"/>
                  <a:ea typeface="Roboto Mono"/>
                  <a:cs typeface="Roboto Mono"/>
                  <a:sym typeface="Roboto Mono"/>
                </a:rPr>
                <a:t>const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ImageGray</a:t>
              </a:r>
              <a:r>
                <a:rPr b="1" lang="it-IT" sz="1050">
                  <a:solidFill>
                    <a:srgbClr val="EE11FF"/>
                  </a:solidFill>
                  <a:latin typeface="Roboto Mono"/>
                  <a:ea typeface="Roboto Mono"/>
                  <a:cs typeface="Roboto Mono"/>
                  <a:sym typeface="Roboto Mono"/>
                </a:rPr>
                <a:t>&amp;</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curr</a:t>
              </a:r>
              <a:r>
                <a:rPr lang="it-IT" sz="1050">
                  <a:latin typeface="Roboto Mono"/>
                  <a:ea typeface="Roboto Mono"/>
                  <a:cs typeface="Roboto Mono"/>
                  <a:sym typeface="Roboto Mono"/>
                </a:rPr>
                <a:t>, </a:t>
              </a:r>
              <a:r>
                <a:rPr b="1" lang="it-IT" sz="1050">
                  <a:solidFill>
                    <a:srgbClr val="700080"/>
                  </a:solidFill>
                  <a:latin typeface="Roboto Mono"/>
                  <a:ea typeface="Roboto Mono"/>
                  <a:cs typeface="Roboto Mono"/>
                  <a:sym typeface="Roboto Mono"/>
                </a:rPr>
                <a:t>const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ImageGray</a:t>
              </a:r>
              <a:r>
                <a:rPr b="1" lang="it-IT" sz="1050">
                  <a:solidFill>
                    <a:srgbClr val="EE11FF"/>
                  </a:solidFill>
                  <a:latin typeface="Roboto Mono"/>
                  <a:ea typeface="Roboto Mono"/>
                  <a:cs typeface="Roboto Mono"/>
                  <a:sym typeface="Roboto Mono"/>
                </a:rPr>
                <a:t>&amp;</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ref</a:t>
              </a:r>
              <a:r>
                <a:rPr lang="it-IT"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x1</a:t>
              </a: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y1</a:t>
              </a: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x2</a:t>
              </a: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y2</a:t>
              </a: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blockSize</a:t>
              </a:r>
              <a:r>
                <a:rPr lang="it-IT" sz="1050">
                  <a:latin typeface="Roboto Mono"/>
                  <a:ea typeface="Roboto Mono"/>
                  <a:cs typeface="Roboto Mono"/>
                  <a:sym typeface="Roboto Mono"/>
                </a:rPr>
                <a:t>) {</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sad</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06040"/>
                  </a:solidFill>
                  <a:latin typeface="Roboto Mono"/>
                  <a:ea typeface="Roboto Mono"/>
                  <a:cs typeface="Roboto Mono"/>
                  <a:sym typeface="Roboto Mono"/>
                </a:rPr>
                <a:t>0</a:t>
              </a:r>
              <a:r>
                <a:rPr lang="it-IT"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b="1" lang="it-IT" sz="1050">
                  <a:solidFill>
                    <a:srgbClr val="700080"/>
                  </a:solidFill>
                  <a:latin typeface="Roboto Mono"/>
                  <a:ea typeface="Roboto Mono"/>
                  <a:cs typeface="Roboto Mono"/>
                  <a:sym typeface="Roboto Mono"/>
                </a:rPr>
                <a:t>for</a:t>
              </a:r>
              <a:r>
                <a:rPr lang="it-IT" sz="1050">
                  <a:latin typeface="Roboto Mono"/>
                  <a:ea typeface="Roboto Mono"/>
                  <a:cs typeface="Roboto Mono"/>
                  <a:sym typeface="Roboto Mono"/>
                </a:rPr>
                <a:t>(</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06040"/>
                  </a:solidFill>
                  <a:latin typeface="Roboto Mono"/>
                  <a:ea typeface="Roboto Mono"/>
                  <a:cs typeface="Roboto Mono"/>
                  <a:sym typeface="Roboto Mono"/>
                </a:rPr>
                <a:t>0</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&lt;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blockSize</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b="1" lang="it-IT" sz="1050">
                  <a:solidFill>
                    <a:srgbClr val="700080"/>
                  </a:solidFill>
                  <a:latin typeface="Roboto Mono"/>
                  <a:ea typeface="Roboto Mono"/>
                  <a:cs typeface="Roboto Mono"/>
                  <a:sym typeface="Roboto Mono"/>
                </a:rPr>
                <a:t>for</a:t>
              </a:r>
              <a:r>
                <a:rPr lang="it-IT" sz="1050">
                  <a:latin typeface="Roboto Mono"/>
                  <a:ea typeface="Roboto Mono"/>
                  <a:cs typeface="Roboto Mono"/>
                  <a:sym typeface="Roboto Mono"/>
                </a:rPr>
                <a:t>(</a:t>
              </a:r>
              <a:r>
                <a:rPr lang="it-IT" sz="1050">
                  <a:solidFill>
                    <a:srgbClr val="008050"/>
                  </a:solidFill>
                  <a:latin typeface="Roboto Mono"/>
                  <a:ea typeface="Roboto Mono"/>
                  <a:cs typeface="Roboto Mono"/>
                  <a:sym typeface="Roboto Mono"/>
                </a:rPr>
                <a:t>int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06040"/>
                  </a:solidFill>
                  <a:latin typeface="Roboto Mono"/>
                  <a:ea typeface="Roboto Mono"/>
                  <a:cs typeface="Roboto Mono"/>
                  <a:sym typeface="Roboto Mono"/>
                </a:rPr>
                <a:t>0</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&lt;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blockSize</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sad</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abs</a:t>
              </a:r>
              <a:r>
                <a:rPr lang="it-IT" sz="1050">
                  <a:latin typeface="Roboto Mono"/>
                  <a:ea typeface="Roboto Mono"/>
                  <a:cs typeface="Roboto Mono"/>
                  <a:sym typeface="Roboto Mono"/>
                </a:rPr>
                <a:t>(</a:t>
              </a:r>
              <a:r>
                <a:rPr lang="it-IT" sz="1050">
                  <a:solidFill>
                    <a:srgbClr val="1AB1CD"/>
                  </a:solidFill>
                  <a:latin typeface="Roboto Mono"/>
                  <a:ea typeface="Roboto Mono"/>
                  <a:cs typeface="Roboto Mono"/>
                  <a:sym typeface="Roboto Mono"/>
                </a:rPr>
                <a:t>curr</a:t>
              </a:r>
              <a:r>
                <a:rPr lang="it-IT" sz="1050">
                  <a:latin typeface="Roboto Mono"/>
                  <a:ea typeface="Roboto Mono"/>
                  <a:cs typeface="Roboto Mono"/>
                  <a:sym typeface="Roboto Mono"/>
                </a:rPr>
                <a:t>.</a:t>
              </a:r>
              <a:r>
                <a:rPr lang="it-IT" sz="1050">
                  <a:solidFill>
                    <a:srgbClr val="1AB1CD"/>
                  </a:solidFill>
                  <a:latin typeface="Roboto Mono"/>
                  <a:ea typeface="Roboto Mono"/>
                  <a:cs typeface="Roboto Mono"/>
                  <a:sym typeface="Roboto Mono"/>
                </a:rPr>
                <a:t>at</a:t>
              </a:r>
              <a:r>
                <a:rPr lang="it-IT" sz="1050">
                  <a:latin typeface="Roboto Mono"/>
                  <a:ea typeface="Roboto Mono"/>
                  <a:cs typeface="Roboto Mono"/>
                  <a:sym typeface="Roboto Mono"/>
                </a:rPr>
                <a:t>(</a:t>
              </a:r>
              <a:r>
                <a:rPr lang="it-IT" sz="1050">
                  <a:solidFill>
                    <a:srgbClr val="1AB1CD"/>
                  </a:solidFill>
                  <a:latin typeface="Roboto Mono"/>
                  <a:ea typeface="Roboto Mono"/>
                  <a:cs typeface="Roboto Mono"/>
                  <a:sym typeface="Roboto Mono"/>
                </a:rPr>
                <a:t>x1</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y1</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ref</a:t>
              </a:r>
              <a:r>
                <a:rPr lang="it-IT" sz="1050">
                  <a:latin typeface="Roboto Mono"/>
                  <a:ea typeface="Roboto Mono"/>
                  <a:cs typeface="Roboto Mono"/>
                  <a:sym typeface="Roboto Mono"/>
                </a:rPr>
                <a:t>.</a:t>
              </a:r>
              <a:r>
                <a:rPr lang="it-IT" sz="1050">
                  <a:solidFill>
                    <a:srgbClr val="1AB1CD"/>
                  </a:solidFill>
                  <a:latin typeface="Roboto Mono"/>
                  <a:ea typeface="Roboto Mono"/>
                  <a:cs typeface="Roboto Mono"/>
                  <a:sym typeface="Roboto Mono"/>
                </a:rPr>
                <a:t>at</a:t>
              </a:r>
              <a:r>
                <a:rPr lang="it-IT" sz="1050">
                  <a:latin typeface="Roboto Mono"/>
                  <a:ea typeface="Roboto Mono"/>
                  <a:cs typeface="Roboto Mono"/>
                  <a:sym typeface="Roboto Mono"/>
                </a:rPr>
                <a:t>(</a:t>
              </a:r>
              <a:r>
                <a:rPr lang="it-IT" sz="1050">
                  <a:solidFill>
                    <a:srgbClr val="1AB1CD"/>
                  </a:solidFill>
                  <a:latin typeface="Roboto Mono"/>
                  <a:ea typeface="Roboto Mono"/>
                  <a:cs typeface="Roboto Mono"/>
                  <a:sym typeface="Roboto Mono"/>
                </a:rPr>
                <a:t>x2</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x</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y2</a:t>
              </a:r>
              <a:r>
                <a:rPr lang="it-IT" sz="1050">
                  <a:latin typeface="Roboto Mono"/>
                  <a:ea typeface="Roboto Mono"/>
                  <a:cs typeface="Roboto Mono"/>
                  <a:sym typeface="Roboto Mono"/>
                </a:rPr>
                <a:t> </a:t>
              </a:r>
              <a:r>
                <a:rPr b="1" lang="it-IT" sz="1050">
                  <a:solidFill>
                    <a:srgbClr val="EE11FF"/>
                  </a:solidFill>
                  <a:latin typeface="Roboto Mono"/>
                  <a:ea typeface="Roboto Mono"/>
                  <a:cs typeface="Roboto Mono"/>
                  <a:sym typeface="Roboto Mono"/>
                </a:rPr>
                <a:t>+</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y</a:t>
              </a:r>
              <a:r>
                <a:rPr lang="it-IT"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lang="it-IT"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  </a:t>
              </a:r>
              <a:r>
                <a:rPr b="1" lang="it-IT" sz="1050">
                  <a:solidFill>
                    <a:srgbClr val="700080"/>
                  </a:solidFill>
                  <a:latin typeface="Roboto Mono"/>
                  <a:ea typeface="Roboto Mono"/>
                  <a:cs typeface="Roboto Mono"/>
                  <a:sym typeface="Roboto Mono"/>
                </a:rPr>
                <a:t>return</a:t>
              </a:r>
              <a:r>
                <a:rPr lang="it-IT" sz="1050">
                  <a:latin typeface="Roboto Mono"/>
                  <a:ea typeface="Roboto Mono"/>
                  <a:cs typeface="Roboto Mono"/>
                  <a:sym typeface="Roboto Mono"/>
                </a:rPr>
                <a:t> </a:t>
              </a:r>
              <a:r>
                <a:rPr lang="it-IT" sz="1050">
                  <a:solidFill>
                    <a:srgbClr val="1AB1CD"/>
                  </a:solidFill>
                  <a:latin typeface="Roboto Mono"/>
                  <a:ea typeface="Roboto Mono"/>
                  <a:cs typeface="Roboto Mono"/>
                  <a:sym typeface="Roboto Mono"/>
                </a:rPr>
                <a:t>sad</a:t>
              </a:r>
              <a:r>
                <a:rPr lang="it-IT" sz="1050">
                  <a:latin typeface="Roboto Mono"/>
                  <a:ea typeface="Roboto Mono"/>
                  <a:cs typeface="Roboto Mono"/>
                  <a:sym typeface="Roboto Mono"/>
                </a:rPr>
                <a:t>;</a:t>
              </a:r>
              <a:endParaRPr sz="1050">
                <a:latin typeface="Roboto Mono"/>
                <a:ea typeface="Roboto Mono"/>
                <a:cs typeface="Roboto Mono"/>
                <a:sym typeface="Roboto Mono"/>
              </a:endParaRPr>
            </a:p>
            <a:p>
              <a:pPr indent="0" lvl="0" marL="0" rtl="0" algn="l">
                <a:lnSpc>
                  <a:spcPct val="135714"/>
                </a:lnSpc>
                <a:spcBef>
                  <a:spcPts val="0"/>
                </a:spcBef>
                <a:spcAft>
                  <a:spcPts val="0"/>
                </a:spcAft>
                <a:buNone/>
              </a:pPr>
              <a:r>
                <a:rPr lang="it-IT" sz="1050">
                  <a:latin typeface="Roboto Mono"/>
                  <a:ea typeface="Roboto Mono"/>
                  <a:cs typeface="Roboto Mono"/>
                  <a:sym typeface="Roboto Mono"/>
                </a:rPr>
                <a:t>}</a:t>
              </a:r>
              <a:endParaRPr sz="1050">
                <a:latin typeface="Roboto Mono"/>
                <a:ea typeface="Roboto Mono"/>
                <a:cs typeface="Roboto Mono"/>
                <a:sym typeface="Roboto Mono"/>
              </a:endParaRPr>
            </a:p>
          </p:txBody>
        </p:sp>
      </p:grpSp>
      <p:cxnSp>
        <p:nvCxnSpPr>
          <p:cNvPr id="231" name="Google Shape;231;p29"/>
          <p:cNvCxnSpPr/>
          <p:nvPr/>
        </p:nvCxnSpPr>
        <p:spPr>
          <a:xfrm flipH="1" rot="10800000">
            <a:off x="753425" y="4411925"/>
            <a:ext cx="5961300" cy="3300"/>
          </a:xfrm>
          <a:prstGeom prst="straightConnector1">
            <a:avLst/>
          </a:prstGeom>
          <a:noFill/>
          <a:ln cap="flat" cmpd="sng" w="9525">
            <a:solidFill>
              <a:srgbClr val="B7B7B7"/>
            </a:solidFill>
            <a:prstDash val="solid"/>
            <a:round/>
            <a:headEnd len="med" w="med" type="none"/>
            <a:tailEnd len="med" w="med" type="none"/>
          </a:ln>
        </p:spPr>
      </p:cxnSp>
      <p:sp>
        <p:nvSpPr>
          <p:cNvPr id="232" name="Google Shape;232;p29"/>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Sum Absolute Difference (SAD)</a:t>
            </a:r>
            <a:endParaRPr b="0" sz="1400" u="none" cap="none" strike="noStrike">
              <a:solidFill>
                <a:srgbClr val="000000"/>
              </a:solidFill>
              <a:latin typeface="Arial"/>
              <a:ea typeface="Arial"/>
              <a:cs typeface="Arial"/>
              <a:sym typeface="Arial"/>
            </a:endParaRPr>
          </a:p>
        </p:txBody>
      </p:sp>
      <p:sp>
        <p:nvSpPr>
          <p:cNvPr id="233" name="Google Shape;233;p29"/>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4" name="Google Shape;234;p2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8" name="Shape 238"/>
        <p:cNvGrpSpPr/>
        <p:nvPr/>
      </p:nvGrpSpPr>
      <p:grpSpPr>
        <a:xfrm>
          <a:off x="0" y="0"/>
          <a:ext cx="0" cy="0"/>
          <a:chOff x="0" y="0"/>
          <a:chExt cx="0" cy="0"/>
        </a:xfrm>
      </p:grpSpPr>
      <p:sp>
        <p:nvSpPr>
          <p:cNvPr id="239" name="Google Shape;239;p30"/>
          <p:cNvSpPr txBox="1"/>
          <p:nvPr/>
        </p:nvSpPr>
        <p:spPr>
          <a:xfrm>
            <a:off x="771525" y="1334088"/>
            <a:ext cx="6130800" cy="27759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50"/>
              <a:buFont typeface="Arial"/>
              <a:buNone/>
            </a:pPr>
            <a:r>
              <a:rPr lang="it-IT" sz="1650">
                <a:solidFill>
                  <a:srgbClr val="0F172A"/>
                </a:solidFill>
                <a:latin typeface="Inter"/>
                <a:ea typeface="Inter"/>
                <a:cs typeface="Inter"/>
                <a:sym typeface="Inter"/>
              </a:rPr>
              <a:t>Motion Vector</a:t>
            </a:r>
            <a:r>
              <a:rPr lang="it-IT" sz="1650">
                <a:solidFill>
                  <a:srgbClr val="475569"/>
                </a:solidFill>
                <a:latin typeface="Inter"/>
                <a:ea typeface="Inter"/>
                <a:cs typeface="Inter"/>
                <a:sym typeface="Inter"/>
              </a:rPr>
              <a:t> describes the spatial displacement of a block between a reference frame and the current frame.</a:t>
            </a:r>
            <a:endParaRPr sz="1650">
              <a:solidFill>
                <a:srgbClr val="475569"/>
              </a:solidFill>
              <a:latin typeface="Inter"/>
              <a:ea typeface="Inter"/>
              <a:cs typeface="Inter"/>
              <a:sym typeface="Inter"/>
            </a:endParaRPr>
          </a:p>
          <a:p>
            <a:pPr indent="0" lvl="0" marL="0" marR="0" rtl="0" algn="l">
              <a:lnSpc>
                <a:spcPct val="115000"/>
              </a:lnSpc>
              <a:spcBef>
                <a:spcPts val="0"/>
              </a:spcBef>
              <a:spcAft>
                <a:spcPts val="0"/>
              </a:spcAft>
              <a:buClr>
                <a:srgbClr val="000000"/>
              </a:buClr>
              <a:buSzPts val="1950"/>
              <a:buFont typeface="Arial"/>
              <a:buNone/>
            </a:pPr>
            <a:r>
              <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lang="it-IT" sz="1650">
                <a:solidFill>
                  <a:srgbClr val="475569"/>
                </a:solidFill>
                <a:latin typeface="Inter"/>
                <a:ea typeface="Inter"/>
                <a:cs typeface="Inter"/>
                <a:sym typeface="Inter"/>
              </a:rPr>
              <a:t>Only the </a:t>
            </a:r>
            <a:r>
              <a:rPr lang="it-IT" sz="1650">
                <a:solidFill>
                  <a:srgbClr val="0F172A"/>
                </a:solidFill>
                <a:latin typeface="Inter"/>
                <a:ea typeface="Inter"/>
                <a:cs typeface="Inter"/>
                <a:sym typeface="Inter"/>
              </a:rPr>
              <a:t>displacement coordinates</a:t>
            </a:r>
            <a:r>
              <a:rPr lang="it-IT" sz="1650">
                <a:solidFill>
                  <a:srgbClr val="475569"/>
                </a:solidFill>
                <a:latin typeface="Inter"/>
                <a:ea typeface="Inter"/>
                <a:cs typeface="Inter"/>
                <a:sym typeface="Inter"/>
              </a:rPr>
              <a:t> (dx, dy) are stored.</a:t>
            </a:r>
            <a:endParaRPr sz="1100">
              <a:solidFill>
                <a:schemeClr val="dk1"/>
              </a:solidFill>
            </a:endParaRPr>
          </a:p>
          <a:p>
            <a:pPr indent="0" lvl="0" marL="0" rtl="0" algn="l">
              <a:spcBef>
                <a:spcPts val="1500"/>
              </a:spcBef>
              <a:spcAft>
                <a:spcPts val="0"/>
              </a:spcAft>
              <a:buClr>
                <a:schemeClr val="dk1"/>
              </a:buClr>
              <a:buSzPts val="1100"/>
              <a:buFont typeface="Arial"/>
              <a:buNone/>
            </a:pPr>
            <a:r>
              <a:t/>
            </a:r>
            <a:endParaRPr sz="1100">
              <a:solidFill>
                <a:schemeClr val="dk1"/>
              </a:solidFill>
            </a:endParaRPr>
          </a:p>
          <a:p>
            <a:pPr indent="0" lvl="0" marL="0" marR="0" rtl="0" algn="l">
              <a:lnSpc>
                <a:spcPct val="115000"/>
              </a:lnSpc>
              <a:spcBef>
                <a:spcPts val="1500"/>
              </a:spcBef>
              <a:spcAft>
                <a:spcPts val="0"/>
              </a:spcAft>
              <a:buClr>
                <a:srgbClr val="000000"/>
              </a:buClr>
              <a:buSzPts val="1950"/>
              <a:buFont typeface="Arial"/>
              <a:buNone/>
            </a:pPr>
            <a:r>
              <a:rPr lang="it-IT" sz="1650">
                <a:solidFill>
                  <a:srgbClr val="475569"/>
                </a:solidFill>
                <a:latin typeface="Inter"/>
                <a:ea typeface="Inter"/>
                <a:cs typeface="Inter"/>
                <a:sym typeface="Inter"/>
              </a:rPr>
              <a:t>If a current frame block matches multiple reference blocks with the same SAD value, the shortest motion vector is chosen (i.e., the closest block).</a:t>
            </a:r>
            <a:endParaRPr sz="1100">
              <a:solidFill>
                <a:schemeClr val="dk1"/>
              </a:solidFill>
            </a:endParaRPr>
          </a:p>
          <a:p>
            <a:pPr indent="0" lvl="0" marL="0" marR="0" rtl="0" algn="l">
              <a:lnSpc>
                <a:spcPct val="115000"/>
              </a:lnSpc>
              <a:spcBef>
                <a:spcPts val="0"/>
              </a:spcBef>
              <a:spcAft>
                <a:spcPts val="0"/>
              </a:spcAft>
              <a:buClr>
                <a:srgbClr val="000000"/>
              </a:buClr>
              <a:buSzPts val="1950"/>
              <a:buFont typeface="Arial"/>
              <a:buNone/>
            </a:pPr>
            <a:r>
              <a:t/>
            </a:r>
            <a:endParaRPr/>
          </a:p>
        </p:txBody>
      </p:sp>
      <p:sp>
        <p:nvSpPr>
          <p:cNvPr id="240" name="Google Shape;240;p30"/>
          <p:cNvSpPr/>
          <p:nvPr/>
        </p:nvSpPr>
        <p:spPr>
          <a:xfrm>
            <a:off x="10100625" y="1338000"/>
            <a:ext cx="1738800" cy="207600"/>
          </a:xfrm>
          <a:prstGeom prst="roundRect">
            <a:avLst>
              <a:gd fmla="val 50000" name="adj"/>
            </a:avLst>
          </a:prstGeom>
          <a:solidFill>
            <a:srgbClr val="D5E9E3"/>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Current Frame</a:t>
            </a:r>
            <a:endParaRPr sz="1000">
              <a:solidFill>
                <a:srgbClr val="0F172A"/>
              </a:solidFill>
              <a:latin typeface="Outfit"/>
              <a:ea typeface="Outfit"/>
              <a:cs typeface="Outfit"/>
              <a:sym typeface="Outfit"/>
            </a:endParaRPr>
          </a:p>
        </p:txBody>
      </p:sp>
      <p:sp>
        <p:nvSpPr>
          <p:cNvPr id="241" name="Google Shape;241;p30"/>
          <p:cNvSpPr/>
          <p:nvPr/>
        </p:nvSpPr>
        <p:spPr>
          <a:xfrm>
            <a:off x="7575375" y="1338000"/>
            <a:ext cx="1738800" cy="207600"/>
          </a:xfrm>
          <a:prstGeom prst="roundRect">
            <a:avLst>
              <a:gd fmla="val 50000" name="adj"/>
            </a:avLst>
          </a:prstGeom>
          <a:solidFill>
            <a:srgbClr val="D5E9E3"/>
          </a:solidFill>
          <a:ln>
            <a:noFill/>
          </a:ln>
          <a:effectLst>
            <a:outerShdw blurRad="171450" rotWithShape="0" algn="bl" dir="54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Reference frame</a:t>
            </a:r>
            <a:endParaRPr sz="1000">
              <a:solidFill>
                <a:srgbClr val="0F172A"/>
              </a:solidFill>
              <a:latin typeface="Outfit"/>
              <a:ea typeface="Outfit"/>
              <a:cs typeface="Outfit"/>
              <a:sym typeface="Outfit"/>
            </a:endParaRPr>
          </a:p>
        </p:txBody>
      </p:sp>
      <p:sp>
        <p:nvSpPr>
          <p:cNvPr id="242" name="Google Shape;242;p30"/>
          <p:cNvSpPr/>
          <p:nvPr/>
        </p:nvSpPr>
        <p:spPr>
          <a:xfrm>
            <a:off x="8829825" y="5817575"/>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Motion Vectors</a:t>
            </a:r>
            <a:endParaRPr sz="1000">
              <a:solidFill>
                <a:srgbClr val="0F172A"/>
              </a:solidFill>
              <a:latin typeface="Outfit"/>
              <a:ea typeface="Outfit"/>
              <a:cs typeface="Outfit"/>
              <a:sym typeface="Outfit"/>
            </a:endParaRPr>
          </a:p>
        </p:txBody>
      </p:sp>
      <p:pic>
        <p:nvPicPr>
          <p:cNvPr id="243" name="Google Shape;243;p30"/>
          <p:cNvPicPr preferRelativeResize="0"/>
          <p:nvPr/>
        </p:nvPicPr>
        <p:blipFill>
          <a:blip r:embed="rId4">
            <a:alphaModFix/>
          </a:blip>
          <a:stretch>
            <a:fillRect/>
          </a:stretch>
        </p:blipFill>
        <p:spPr>
          <a:xfrm>
            <a:off x="7461975" y="1685223"/>
            <a:ext cx="1965600" cy="1934767"/>
          </a:xfrm>
          <a:prstGeom prst="rect">
            <a:avLst/>
          </a:prstGeom>
          <a:noFill/>
          <a:ln>
            <a:noFill/>
          </a:ln>
        </p:spPr>
      </p:pic>
      <p:pic>
        <p:nvPicPr>
          <p:cNvPr id="244" name="Google Shape;244;p30"/>
          <p:cNvPicPr preferRelativeResize="0"/>
          <p:nvPr/>
        </p:nvPicPr>
        <p:blipFill>
          <a:blip r:embed="rId5">
            <a:alphaModFix/>
          </a:blip>
          <a:stretch>
            <a:fillRect/>
          </a:stretch>
        </p:blipFill>
        <p:spPr>
          <a:xfrm>
            <a:off x="10002625" y="1685211"/>
            <a:ext cx="1934797" cy="1934797"/>
          </a:xfrm>
          <a:prstGeom prst="rect">
            <a:avLst/>
          </a:prstGeom>
          <a:noFill/>
          <a:ln>
            <a:noFill/>
          </a:ln>
        </p:spPr>
      </p:pic>
      <p:pic>
        <p:nvPicPr>
          <p:cNvPr id="245" name="Google Shape;245;p30"/>
          <p:cNvPicPr preferRelativeResize="0"/>
          <p:nvPr/>
        </p:nvPicPr>
        <p:blipFill>
          <a:blip r:embed="rId6">
            <a:alphaModFix/>
          </a:blip>
          <a:stretch>
            <a:fillRect/>
          </a:stretch>
        </p:blipFill>
        <p:spPr>
          <a:xfrm>
            <a:off x="8716425" y="3735999"/>
            <a:ext cx="1965600" cy="1965578"/>
          </a:xfrm>
          <a:prstGeom prst="rect">
            <a:avLst/>
          </a:prstGeom>
          <a:noFill/>
          <a:ln>
            <a:noFill/>
          </a:ln>
        </p:spPr>
      </p:pic>
      <p:graphicFrame>
        <p:nvGraphicFramePr>
          <p:cNvPr id="246" name="Google Shape;246;p30"/>
          <p:cNvGraphicFramePr/>
          <p:nvPr/>
        </p:nvGraphicFramePr>
        <p:xfrm>
          <a:off x="2323988" y="4295775"/>
          <a:ext cx="3000000" cy="3000000"/>
        </p:xfrm>
        <a:graphic>
          <a:graphicData uri="http://schemas.openxmlformats.org/drawingml/2006/table">
            <a:tbl>
              <a:tblPr bandRow="1" firstRow="1">
                <a:noFill/>
                <a:tableStyleId>{CCEB14D6-C457-44CB-B603-5D288C77221F}</a:tableStyleId>
              </a:tblPr>
              <a:tblGrid>
                <a:gridCol w="1222950"/>
                <a:gridCol w="1802900"/>
              </a:tblGrid>
              <a:tr h="352425">
                <a:tc>
                  <a:txBody>
                    <a:bodyPr/>
                    <a:lstStyle/>
                    <a:p>
                      <a:pPr indent="0" lvl="0" marL="0" marR="0" rtl="0" algn="l">
                        <a:spcBef>
                          <a:spcPts val="0"/>
                        </a:spcBef>
                        <a:spcAft>
                          <a:spcPts val="0"/>
                        </a:spcAft>
                        <a:buNone/>
                      </a:pPr>
                      <a:r>
                        <a:rPr b="0" i="0" lang="it-IT" sz="1125" u="none" cap="none" strike="noStrike">
                          <a:solidFill>
                            <a:srgbClr val="0F172A"/>
                          </a:solidFill>
                          <a:latin typeface="Outfit SemiBold"/>
                          <a:ea typeface="Outfit SemiBold"/>
                          <a:cs typeface="Outfit SemiBold"/>
                          <a:sym typeface="Outfit SemiBold"/>
                        </a:rPr>
                        <a:t>Current Frame</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c>
                  <a:txBody>
                    <a:bodyPr/>
                    <a:lstStyle/>
                    <a:p>
                      <a:pPr indent="0" lvl="0" marL="0" marR="0" rtl="0" algn="l">
                        <a:spcBef>
                          <a:spcPts val="0"/>
                        </a:spcBef>
                        <a:spcAft>
                          <a:spcPts val="0"/>
                        </a:spcAft>
                        <a:buNone/>
                      </a:pPr>
                      <a:r>
                        <a:rPr b="0" lang="it-IT" sz="1125">
                          <a:solidFill>
                            <a:srgbClr val="0F172A"/>
                          </a:solidFill>
                          <a:latin typeface="Outfit SemiBold"/>
                          <a:ea typeface="Outfit SemiBold"/>
                          <a:cs typeface="Outfit SemiBold"/>
                          <a:sym typeface="Outfit SemiBold"/>
                        </a:rPr>
                        <a:t>Coordinate Shift</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1F5F9"/>
                    </a:solidFill>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[0,0]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[2,0]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[0,1]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[1,1]</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[1,0]</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[6,6]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[-5,-5]</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tcPr>
                </a:tc>
              </a:tr>
              <a:tr h="352425">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[6,7]</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c>
                  <a:txBody>
                    <a:bodyPr/>
                    <a:lstStyle/>
                    <a:p>
                      <a:pPr indent="0" lvl="0" marL="0" marR="0" rtl="0" algn="l">
                        <a:spcBef>
                          <a:spcPts val="0"/>
                        </a:spcBef>
                        <a:spcAft>
                          <a:spcPts val="0"/>
                        </a:spcAft>
                        <a:buNone/>
                      </a:pPr>
                      <a:r>
                        <a:rPr b="0" i="0" lang="it-IT" sz="1125" u="none" cap="none" strike="noStrike">
                          <a:solidFill>
                            <a:srgbClr val="475569"/>
                          </a:solidFill>
                          <a:latin typeface="Fira Code"/>
                          <a:ea typeface="Fira Code"/>
                          <a:cs typeface="Fira Code"/>
                          <a:sym typeface="Fira Code"/>
                        </a:rPr>
                        <a:t>[-</a:t>
                      </a:r>
                      <a:r>
                        <a:rPr lang="it-IT" sz="1125">
                          <a:solidFill>
                            <a:srgbClr val="475569"/>
                          </a:solidFill>
                          <a:latin typeface="Fira Code"/>
                          <a:ea typeface="Fira Code"/>
                          <a:cs typeface="Fira Code"/>
                          <a:sym typeface="Fira Code"/>
                        </a:rPr>
                        <a:t>5</a:t>
                      </a:r>
                      <a:r>
                        <a:rPr b="0" i="0" lang="it-IT" sz="1125" u="none" cap="none" strike="noStrike">
                          <a:solidFill>
                            <a:srgbClr val="475569"/>
                          </a:solidFill>
                          <a:latin typeface="Fira Code"/>
                          <a:ea typeface="Fira Code"/>
                          <a:cs typeface="Fira Code"/>
                          <a:sym typeface="Fira Code"/>
                        </a:rPr>
                        <a:t>,-6]</a:t>
                      </a:r>
                      <a:endParaRPr/>
                    </a:p>
                  </a:txBody>
                  <a:tcPr marT="25400" marB="25400" marR="63500" marL="6350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FAFAFA"/>
                    </a:solidFill>
                  </a:tcPr>
                </a:tc>
              </a:tr>
            </a:tbl>
          </a:graphicData>
        </a:graphic>
      </p:graphicFrame>
      <p:sp>
        <p:nvSpPr>
          <p:cNvPr id="247" name="Google Shape;247;p30"/>
          <p:cNvSpPr/>
          <p:nvPr/>
        </p:nvSpPr>
        <p:spPr>
          <a:xfrm>
            <a:off x="2328749" y="4633912"/>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8" name="Google Shape;248;p30"/>
          <p:cNvSpPr/>
          <p:nvPr/>
        </p:nvSpPr>
        <p:spPr>
          <a:xfrm>
            <a:off x="4340307" y="4633900"/>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49" name="Google Shape;249;p30"/>
          <p:cNvSpPr/>
          <p:nvPr/>
        </p:nvSpPr>
        <p:spPr>
          <a:xfrm>
            <a:off x="2328749" y="4986337"/>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0" name="Google Shape;250;p30"/>
          <p:cNvSpPr/>
          <p:nvPr/>
        </p:nvSpPr>
        <p:spPr>
          <a:xfrm>
            <a:off x="4340307" y="4986325"/>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1" name="Google Shape;251;p30"/>
          <p:cNvSpPr/>
          <p:nvPr/>
        </p:nvSpPr>
        <p:spPr>
          <a:xfrm>
            <a:off x="2328749" y="5338762"/>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2" name="Google Shape;252;p30"/>
          <p:cNvSpPr/>
          <p:nvPr/>
        </p:nvSpPr>
        <p:spPr>
          <a:xfrm>
            <a:off x="4340307" y="5338750"/>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3" name="Google Shape;253;p30"/>
          <p:cNvSpPr/>
          <p:nvPr/>
        </p:nvSpPr>
        <p:spPr>
          <a:xfrm>
            <a:off x="2328749" y="5691187"/>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4" name="Google Shape;254;p30"/>
          <p:cNvSpPr/>
          <p:nvPr/>
        </p:nvSpPr>
        <p:spPr>
          <a:xfrm>
            <a:off x="4340307" y="5691175"/>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5" name="Google Shape;255;p30"/>
          <p:cNvSpPr/>
          <p:nvPr/>
        </p:nvSpPr>
        <p:spPr>
          <a:xfrm>
            <a:off x="2328749" y="6043612"/>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6" name="Google Shape;256;p30"/>
          <p:cNvSpPr/>
          <p:nvPr/>
        </p:nvSpPr>
        <p:spPr>
          <a:xfrm>
            <a:off x="4340307" y="6043600"/>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7" name="Google Shape;257;p30"/>
          <p:cNvSpPr/>
          <p:nvPr/>
        </p:nvSpPr>
        <p:spPr>
          <a:xfrm>
            <a:off x="2328749" y="6396037"/>
            <a:ext cx="2011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8" name="Google Shape;258;p30"/>
          <p:cNvSpPr/>
          <p:nvPr/>
        </p:nvSpPr>
        <p:spPr>
          <a:xfrm>
            <a:off x="4340307" y="6396025"/>
            <a:ext cx="1009500" cy="9600"/>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000000"/>
              </a:solidFill>
              <a:latin typeface="Calibri"/>
              <a:ea typeface="Calibri"/>
              <a:cs typeface="Calibri"/>
              <a:sym typeface="Calibri"/>
            </a:endParaRPr>
          </a:p>
        </p:txBody>
      </p:sp>
      <p:sp>
        <p:nvSpPr>
          <p:cNvPr id="259" name="Google Shape;259;p30"/>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Motion Vector (MV)</a:t>
            </a:r>
            <a:endParaRPr b="0" sz="1400" u="none" cap="none" strike="noStrike">
              <a:solidFill>
                <a:srgbClr val="000000"/>
              </a:solidFill>
              <a:latin typeface="Arial"/>
              <a:ea typeface="Arial"/>
              <a:cs typeface="Arial"/>
              <a:sym typeface="Arial"/>
            </a:endParaRPr>
          </a:p>
        </p:txBody>
      </p:sp>
      <p:sp>
        <p:nvSpPr>
          <p:cNvPr id="260" name="Google Shape;260;p30"/>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1" name="Google Shape;261;p3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descr="&lt;math-flow&gt;{&quot;id&quot;:&quot;9ac890e5-01a5-4555-b251-8812ea7b5a34&quot;,&quot;latex&quot;:&quot;\\[\n\\left\\lbrack dx,dy\\right\\rbrack=reference\\_coordinates-current\\_coordinates\n\\]&quot;,&quot;action&quot;:&quot;insert&quot;,&quot;timestamp&quot;:1784581187529,&quot;scale&quot;:90,&quot;bgColor&quot;:&quot;transparent&quot;,&quot;version&quot;:2}&lt;/math-flow&gt;" id="262" name="Google Shape;262;p30"/>
          <p:cNvPicPr preferRelativeResize="0"/>
          <p:nvPr/>
        </p:nvPicPr>
        <p:blipFill>
          <a:blip r:embed="rId7">
            <a:alphaModFix/>
          </a:blip>
          <a:stretch>
            <a:fillRect/>
          </a:stretch>
        </p:blipFill>
        <p:spPr>
          <a:xfrm>
            <a:off x="756125" y="2697775"/>
            <a:ext cx="5894746" cy="2394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6" name="Shape 266"/>
        <p:cNvGrpSpPr/>
        <p:nvPr/>
      </p:nvGrpSpPr>
      <p:grpSpPr>
        <a:xfrm>
          <a:off x="0" y="0"/>
          <a:ext cx="0" cy="0"/>
          <a:chOff x="0" y="0"/>
          <a:chExt cx="0" cy="0"/>
        </a:xfrm>
      </p:grpSpPr>
      <p:grpSp>
        <p:nvGrpSpPr>
          <p:cNvPr id="267" name="Google Shape;267;p31"/>
          <p:cNvGrpSpPr/>
          <p:nvPr/>
        </p:nvGrpSpPr>
        <p:grpSpPr>
          <a:xfrm>
            <a:off x="771527" y="2632625"/>
            <a:ext cx="3359200" cy="3713950"/>
            <a:chOff x="771450" y="2601675"/>
            <a:chExt cx="3359200" cy="3775875"/>
          </a:xfrm>
        </p:grpSpPr>
        <p:pic>
          <p:nvPicPr>
            <p:cNvPr descr="image.png" id="268" name="Google Shape;268;p31"/>
            <p:cNvPicPr preferRelativeResize="0"/>
            <p:nvPr/>
          </p:nvPicPr>
          <p:blipFill rotWithShape="1">
            <a:blip r:embed="rId4">
              <a:alphaModFix/>
            </a:blip>
            <a:srcRect b="0" l="0" r="0" t="0"/>
            <a:stretch/>
          </p:blipFill>
          <p:spPr>
            <a:xfrm>
              <a:off x="771450" y="2601675"/>
              <a:ext cx="3359200" cy="3775875"/>
            </a:xfrm>
            <a:prstGeom prst="rect">
              <a:avLst/>
            </a:prstGeom>
            <a:noFill/>
            <a:ln>
              <a:noFill/>
            </a:ln>
          </p:spPr>
        </p:pic>
        <p:sp>
          <p:nvSpPr>
            <p:cNvPr id="269" name="Google Shape;269;p31"/>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270" name="Google Shape;270;p31"/>
            <p:cNvPicPr preferRelativeResize="0"/>
            <p:nvPr/>
          </p:nvPicPr>
          <p:blipFill>
            <a:blip r:embed="rId5">
              <a:alphaModFix/>
            </a:blip>
            <a:stretch>
              <a:fillRect/>
            </a:stretch>
          </p:blipFill>
          <p:spPr>
            <a:xfrm>
              <a:off x="1066725" y="3024518"/>
              <a:ext cx="366950" cy="366950"/>
            </a:xfrm>
            <a:prstGeom prst="rect">
              <a:avLst/>
            </a:prstGeom>
            <a:noFill/>
            <a:ln>
              <a:noFill/>
            </a:ln>
          </p:spPr>
        </p:pic>
      </p:grpSp>
      <p:grpSp>
        <p:nvGrpSpPr>
          <p:cNvPr id="271" name="Google Shape;271;p31"/>
          <p:cNvGrpSpPr/>
          <p:nvPr/>
        </p:nvGrpSpPr>
        <p:grpSpPr>
          <a:xfrm>
            <a:off x="1066802" y="3048533"/>
            <a:ext cx="2907000" cy="785116"/>
            <a:chOff x="1066725" y="3024518"/>
            <a:chExt cx="2907000" cy="798207"/>
          </a:xfrm>
        </p:grpSpPr>
        <p:sp>
          <p:nvSpPr>
            <p:cNvPr id="272" name="Google Shape;272;p31"/>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273" name="Google Shape;273;p31"/>
            <p:cNvPicPr preferRelativeResize="0"/>
            <p:nvPr/>
          </p:nvPicPr>
          <p:blipFill>
            <a:blip r:embed="rId5">
              <a:alphaModFix/>
            </a:blip>
            <a:stretch>
              <a:fillRect/>
            </a:stretch>
          </p:blipFill>
          <p:spPr>
            <a:xfrm>
              <a:off x="1066725" y="3024518"/>
              <a:ext cx="366950" cy="366950"/>
            </a:xfrm>
            <a:prstGeom prst="rect">
              <a:avLst/>
            </a:prstGeom>
            <a:noFill/>
            <a:ln>
              <a:noFill/>
            </a:ln>
          </p:spPr>
        </p:pic>
      </p:grpSp>
      <p:sp>
        <p:nvSpPr>
          <p:cNvPr id="274" name="Google Shape;274;p31"/>
          <p:cNvSpPr txBox="1"/>
          <p:nvPr/>
        </p:nvSpPr>
        <p:spPr>
          <a:xfrm>
            <a:off x="1047489" y="4082572"/>
            <a:ext cx="2807100" cy="18009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lang="it-IT" sz="1300">
                <a:solidFill>
                  <a:srgbClr val="475569"/>
                </a:solidFill>
                <a:latin typeface="Inter"/>
                <a:ea typeface="Inter"/>
                <a:cs typeface="Inter"/>
                <a:sym typeface="Inter"/>
              </a:rPr>
              <a:t>Every block of the current frame is compared with all blocks present in the entire reference frame. It guarantees the best possible match but has a high computational cost.</a:t>
            </a:r>
            <a:endParaRPr sz="1300">
              <a:solidFill>
                <a:srgbClr val="475569"/>
              </a:solidFill>
              <a:latin typeface="Inter"/>
              <a:ea typeface="Inter"/>
              <a:cs typeface="Inter"/>
              <a:sym typeface="Inter"/>
            </a:endParaRPr>
          </a:p>
          <a:p>
            <a:pPr indent="0" lvl="0" marL="0" marR="0" rtl="0" algn="l">
              <a:lnSpc>
                <a:spcPct val="160000"/>
              </a:lnSpc>
              <a:spcBef>
                <a:spcPts val="0"/>
              </a:spcBef>
              <a:spcAft>
                <a:spcPts val="0"/>
              </a:spcAft>
              <a:buClr>
                <a:srgbClr val="000000"/>
              </a:buClr>
              <a:buSzPts val="1350"/>
              <a:buFont typeface="Arial"/>
              <a:buNone/>
            </a:pPr>
            <a:r>
              <a:t/>
            </a:r>
            <a:endParaRPr sz="1300">
              <a:solidFill>
                <a:srgbClr val="475569"/>
              </a:solidFill>
              <a:latin typeface="Inter"/>
              <a:ea typeface="Inter"/>
              <a:cs typeface="Inter"/>
              <a:sym typeface="Inter"/>
            </a:endParaRPr>
          </a:p>
        </p:txBody>
      </p:sp>
      <p:sp>
        <p:nvSpPr>
          <p:cNvPr id="275" name="Google Shape;275;p31"/>
          <p:cNvSpPr txBox="1"/>
          <p:nvPr/>
        </p:nvSpPr>
        <p:spPr>
          <a:xfrm>
            <a:off x="771525" y="1334100"/>
            <a:ext cx="10329300" cy="496500"/>
          </a:xfrm>
          <a:prstGeom prst="rect">
            <a:avLst/>
          </a:prstGeom>
          <a:noFill/>
          <a:ln>
            <a:noFill/>
          </a:ln>
        </p:spPr>
        <p:txBody>
          <a:bodyPr anchorCtr="0" anchor="t" bIns="0" lIns="0" spcFirstLastPara="1" rIns="0" wrap="square" tIns="0">
            <a:spAutoFit/>
          </a:bodyPr>
          <a:lstStyle/>
          <a:p>
            <a:pPr indent="0" lvl="0" marL="0" marR="0" rtl="0" algn="l">
              <a:lnSpc>
                <a:spcPct val="115000"/>
              </a:lnSpc>
              <a:spcBef>
                <a:spcPts val="0"/>
              </a:spcBef>
              <a:spcAft>
                <a:spcPts val="0"/>
              </a:spcAft>
              <a:buClr>
                <a:srgbClr val="000000"/>
              </a:buClr>
              <a:buSzPts val="1950"/>
              <a:buFont typeface="Arial"/>
              <a:buNone/>
            </a:pPr>
            <a:r>
              <a:rPr lang="it-IT" sz="1500">
                <a:solidFill>
                  <a:srgbClr val="475569"/>
                </a:solidFill>
                <a:latin typeface="Inter"/>
                <a:ea typeface="Inter"/>
                <a:cs typeface="Inter"/>
                <a:sym typeface="Inter"/>
              </a:rPr>
              <a:t>Choosing the subset of blocks in the reference frame to compare with the current frame defines the different Block Matching strategies, balancing accuracy and computational cost.</a:t>
            </a:r>
            <a:endParaRPr sz="1500">
              <a:solidFill>
                <a:srgbClr val="475569"/>
              </a:solidFill>
              <a:latin typeface="Inter"/>
              <a:ea typeface="Inter"/>
              <a:cs typeface="Inter"/>
              <a:sym typeface="Inter"/>
            </a:endParaRPr>
          </a:p>
        </p:txBody>
      </p:sp>
      <p:sp>
        <p:nvSpPr>
          <p:cNvPr id="276" name="Google Shape;276;p31"/>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Available strategies</a:t>
            </a:r>
            <a:endParaRPr b="0" sz="1400" u="none" cap="none" strike="noStrike">
              <a:solidFill>
                <a:srgbClr val="000000"/>
              </a:solidFill>
              <a:latin typeface="Arial"/>
              <a:ea typeface="Arial"/>
              <a:cs typeface="Arial"/>
              <a:sym typeface="Arial"/>
            </a:endParaRPr>
          </a:p>
        </p:txBody>
      </p:sp>
      <p:sp>
        <p:nvSpPr>
          <p:cNvPr id="277" name="Google Shape;277;p31"/>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3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2" presetSubtype="4">
                                  <p:stCondLst>
                                    <p:cond delay="0"/>
                                  </p:stCondLst>
                                  <p:childTnLst>
                                    <p:set>
                                      <p:cBhvr>
                                        <p:cTn dur="1" fill="hold">
                                          <p:stCondLst>
                                            <p:cond delay="0"/>
                                          </p:stCondLst>
                                        </p:cTn>
                                        <p:tgtEl>
                                          <p:spTgt spid="274"/>
                                        </p:tgtEl>
                                        <p:attrNameLst>
                                          <p:attrName>style.visibility</p:attrName>
                                        </p:attrNameLst>
                                      </p:cBhvr>
                                      <p:to>
                                        <p:strVal val="visible"/>
                                      </p:to>
                                    </p:set>
                                    <p:anim calcmode="lin" valueType="num">
                                      <p:cBhvr additive="base">
                                        <p:cTn dur="500"/>
                                        <p:tgtEl>
                                          <p:spTgt spid="27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67"/>
                                        </p:tgtEl>
                                        <p:attrNameLst>
                                          <p:attrName>style.visibility</p:attrName>
                                        </p:attrNameLst>
                                      </p:cBhvr>
                                      <p:to>
                                        <p:strVal val="visible"/>
                                      </p:to>
                                    </p:set>
                                    <p:anim calcmode="lin" valueType="num">
                                      <p:cBhvr additive="base">
                                        <p:cTn dur="500"/>
                                        <p:tgtEl>
                                          <p:spTgt spid="267"/>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71"/>
                                        </p:tgtEl>
                                        <p:attrNameLst>
                                          <p:attrName>style.visibility</p:attrName>
                                        </p:attrNameLst>
                                      </p:cBhvr>
                                      <p:to>
                                        <p:strVal val="visible"/>
                                      </p:to>
                                    </p:set>
                                    <p:anim calcmode="lin" valueType="num">
                                      <p:cBhvr additive="base">
                                        <p:cTn dur="500"/>
                                        <p:tgtEl>
                                          <p:spTgt spid="271"/>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grpSp>
        <p:nvGrpSpPr>
          <p:cNvPr id="283" name="Google Shape;283;p32"/>
          <p:cNvGrpSpPr/>
          <p:nvPr/>
        </p:nvGrpSpPr>
        <p:grpSpPr>
          <a:xfrm>
            <a:off x="4416400" y="2601675"/>
            <a:ext cx="3359200" cy="3775875"/>
            <a:chOff x="4416400" y="2601675"/>
            <a:chExt cx="3359200" cy="3775875"/>
          </a:xfrm>
        </p:grpSpPr>
        <p:pic>
          <p:nvPicPr>
            <p:cNvPr descr="image.png" id="284" name="Google Shape;284;p32"/>
            <p:cNvPicPr preferRelativeResize="0"/>
            <p:nvPr/>
          </p:nvPicPr>
          <p:blipFill rotWithShape="1">
            <a:blip r:embed="rId4">
              <a:alphaModFix/>
            </a:blip>
            <a:srcRect b="0" l="0" r="0" t="0"/>
            <a:stretch/>
          </p:blipFill>
          <p:spPr>
            <a:xfrm>
              <a:off x="4416400" y="2601675"/>
              <a:ext cx="3359200" cy="3775875"/>
            </a:xfrm>
            <a:prstGeom prst="rect">
              <a:avLst/>
            </a:prstGeom>
            <a:noFill/>
            <a:ln>
              <a:noFill/>
            </a:ln>
          </p:spPr>
        </p:pic>
        <p:pic>
          <p:nvPicPr>
            <p:cNvPr descr="image.png" id="285" name="Google Shape;285;p32"/>
            <p:cNvPicPr preferRelativeResize="0"/>
            <p:nvPr/>
          </p:nvPicPr>
          <p:blipFill rotWithShape="1">
            <a:blip r:embed="rId5">
              <a:alphaModFix/>
            </a:blip>
            <a:srcRect b="0" l="0" r="0" t="0"/>
            <a:stretch/>
          </p:blipFill>
          <p:spPr>
            <a:xfrm>
              <a:off x="4711675" y="2953306"/>
              <a:ext cx="325" cy="330"/>
            </a:xfrm>
            <a:prstGeom prst="rect">
              <a:avLst/>
            </a:prstGeom>
            <a:solidFill>
              <a:srgbClr val="000000">
                <a:alpha val="0"/>
              </a:srgbClr>
            </a:solidFill>
            <a:ln>
              <a:noFill/>
            </a:ln>
          </p:spPr>
        </p:pic>
        <p:sp>
          <p:nvSpPr>
            <p:cNvPr id="286" name="Google Shape;286;p32"/>
            <p:cNvSpPr txBox="1"/>
            <p:nvPr/>
          </p:nvSpPr>
          <p:spPr>
            <a:xfrm>
              <a:off x="4711674" y="3588737"/>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Range Search</a:t>
              </a:r>
              <a:endParaRPr b="0" i="0" sz="1400" u="none" cap="none" strike="noStrike">
                <a:solidFill>
                  <a:srgbClr val="000000"/>
                </a:solidFill>
                <a:latin typeface="Arial"/>
                <a:ea typeface="Arial"/>
                <a:cs typeface="Arial"/>
                <a:sym typeface="Arial"/>
              </a:endParaRPr>
            </a:p>
          </p:txBody>
        </p:sp>
      </p:grpSp>
      <p:grpSp>
        <p:nvGrpSpPr>
          <p:cNvPr id="287" name="Google Shape;287;p32"/>
          <p:cNvGrpSpPr/>
          <p:nvPr/>
        </p:nvGrpSpPr>
        <p:grpSpPr>
          <a:xfrm>
            <a:off x="771649" y="2632625"/>
            <a:ext cx="3359200" cy="3713950"/>
            <a:chOff x="771450" y="2601675"/>
            <a:chExt cx="3359200" cy="3775875"/>
          </a:xfrm>
        </p:grpSpPr>
        <p:pic>
          <p:nvPicPr>
            <p:cNvPr descr="image.png" id="288" name="Google Shape;288;p32"/>
            <p:cNvPicPr preferRelativeResize="0"/>
            <p:nvPr/>
          </p:nvPicPr>
          <p:blipFill rotWithShape="1">
            <a:blip r:embed="rId6">
              <a:alphaModFix/>
            </a:blip>
            <a:srcRect b="0" l="0" r="0" t="0"/>
            <a:stretch/>
          </p:blipFill>
          <p:spPr>
            <a:xfrm>
              <a:off x="771450" y="2601675"/>
              <a:ext cx="3359200" cy="3775875"/>
            </a:xfrm>
            <a:prstGeom prst="rect">
              <a:avLst/>
            </a:prstGeom>
            <a:noFill/>
            <a:ln>
              <a:noFill/>
            </a:ln>
          </p:spPr>
        </p:pic>
        <p:sp>
          <p:nvSpPr>
            <p:cNvPr id="289" name="Google Shape;289;p32"/>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290" name="Google Shape;290;p32"/>
            <p:cNvPicPr preferRelativeResize="0"/>
            <p:nvPr/>
          </p:nvPicPr>
          <p:blipFill>
            <a:blip r:embed="rId7">
              <a:alphaModFix/>
            </a:blip>
            <a:stretch>
              <a:fillRect/>
            </a:stretch>
          </p:blipFill>
          <p:spPr>
            <a:xfrm>
              <a:off x="1066725" y="3024518"/>
              <a:ext cx="366950" cy="366950"/>
            </a:xfrm>
            <a:prstGeom prst="rect">
              <a:avLst/>
            </a:prstGeom>
            <a:noFill/>
            <a:ln>
              <a:noFill/>
            </a:ln>
          </p:spPr>
        </p:pic>
      </p:grpSp>
      <p:sp>
        <p:nvSpPr>
          <p:cNvPr id="291" name="Google Shape;291;p32"/>
          <p:cNvSpPr txBox="1"/>
          <p:nvPr/>
        </p:nvSpPr>
        <p:spPr>
          <a:xfrm>
            <a:off x="771525" y="1334100"/>
            <a:ext cx="10329300" cy="49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950"/>
              <a:buFont typeface="Arial"/>
              <a:buNone/>
            </a:pPr>
            <a:r>
              <a:rPr lang="it-IT" sz="1500">
                <a:solidFill>
                  <a:srgbClr val="475569"/>
                </a:solidFill>
                <a:latin typeface="Inter"/>
                <a:ea typeface="Inter"/>
                <a:cs typeface="Inter"/>
                <a:sym typeface="Inter"/>
              </a:rPr>
              <a:t>Choosing the subset of blocks in the reference frame to compare with the current frame defines the different Block Matching strategies, balancing accuracy and computational cost.</a:t>
            </a:r>
            <a:endParaRPr sz="1500">
              <a:solidFill>
                <a:srgbClr val="475569"/>
              </a:solidFill>
              <a:latin typeface="Inter"/>
              <a:ea typeface="Inter"/>
              <a:cs typeface="Inter"/>
              <a:sym typeface="Inter"/>
            </a:endParaRPr>
          </a:p>
        </p:txBody>
      </p:sp>
      <p:sp>
        <p:nvSpPr>
          <p:cNvPr id="292" name="Google Shape;292;p32"/>
          <p:cNvSpPr txBox="1"/>
          <p:nvPr/>
        </p:nvSpPr>
        <p:spPr>
          <a:xfrm>
            <a:off x="4711650" y="4112161"/>
            <a:ext cx="2768700" cy="1114800"/>
          </a:xfrm>
          <a:prstGeom prst="rect">
            <a:avLst/>
          </a:prstGeom>
          <a:noFill/>
          <a:ln>
            <a:noFill/>
          </a:ln>
        </p:spPr>
        <p:txBody>
          <a:bodyPr anchorCtr="0" anchor="t" bIns="0" lIns="0" spcFirstLastPara="1" rIns="0" wrap="square" tIns="0">
            <a:spAutoFit/>
          </a:bodyPr>
          <a:lstStyle/>
          <a:p>
            <a:pPr indent="0" lvl="0" marL="0" marR="0" rtl="0" algn="l">
              <a:lnSpc>
                <a:spcPct val="160000"/>
              </a:lnSpc>
              <a:spcBef>
                <a:spcPts val="0"/>
              </a:spcBef>
              <a:spcAft>
                <a:spcPts val="0"/>
              </a:spcAft>
              <a:buClr>
                <a:srgbClr val="000000"/>
              </a:buClr>
              <a:buSzPts val="1350"/>
              <a:buFont typeface="Arial"/>
              <a:buNone/>
            </a:pPr>
            <a:r>
              <a:rPr lang="it-IT" sz="1249">
                <a:solidFill>
                  <a:srgbClr val="475569"/>
                </a:solidFill>
                <a:latin typeface="Inter"/>
                <a:ea typeface="Inter"/>
                <a:cs typeface="Inter"/>
                <a:sym typeface="Inter"/>
              </a:rPr>
              <a:t>Each block in the current frame is compared only with the blocks within a restricted search area defined by the search range.</a:t>
            </a:r>
            <a:endParaRPr b="0" sz="1400" u="none" cap="none" strike="noStrike">
              <a:solidFill>
                <a:srgbClr val="000000"/>
              </a:solidFill>
              <a:latin typeface="Arial"/>
              <a:ea typeface="Arial"/>
              <a:cs typeface="Arial"/>
              <a:sym typeface="Arial"/>
            </a:endParaRPr>
          </a:p>
        </p:txBody>
      </p:sp>
      <p:sp>
        <p:nvSpPr>
          <p:cNvPr id="293" name="Google Shape;293;p32"/>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Available strategies</a:t>
            </a:r>
            <a:endParaRPr b="0" sz="1400" u="none" cap="none" strike="noStrike">
              <a:solidFill>
                <a:srgbClr val="000000"/>
              </a:solidFill>
              <a:latin typeface="Arial"/>
              <a:ea typeface="Arial"/>
              <a:cs typeface="Arial"/>
              <a:sym typeface="Arial"/>
            </a:endParaRPr>
          </a:p>
        </p:txBody>
      </p:sp>
      <p:sp>
        <p:nvSpPr>
          <p:cNvPr id="294" name="Google Shape;294;p32"/>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32"/>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id="296" name="Google Shape;296;p32"/>
          <p:cNvPicPr preferRelativeResize="0"/>
          <p:nvPr/>
        </p:nvPicPr>
        <p:blipFill>
          <a:blip r:embed="rId8">
            <a:alphaModFix/>
          </a:blip>
          <a:stretch>
            <a:fillRect/>
          </a:stretch>
        </p:blipFill>
        <p:spPr>
          <a:xfrm>
            <a:off x="3152541" y="5932698"/>
            <a:ext cx="925184" cy="360950"/>
          </a:xfrm>
          <a:prstGeom prst="rect">
            <a:avLst/>
          </a:prstGeom>
          <a:noFill/>
          <a:ln>
            <a:noFill/>
          </a:ln>
        </p:spPr>
      </p:pic>
      <p:pic>
        <p:nvPicPr>
          <p:cNvPr id="297" name="Google Shape;297;p32"/>
          <p:cNvPicPr preferRelativeResize="0"/>
          <p:nvPr/>
        </p:nvPicPr>
        <p:blipFill>
          <a:blip r:embed="rId9">
            <a:alphaModFix/>
          </a:blip>
          <a:stretch>
            <a:fillRect/>
          </a:stretch>
        </p:blipFill>
        <p:spPr>
          <a:xfrm>
            <a:off x="1446650" y="3923900"/>
            <a:ext cx="2008800" cy="2008800"/>
          </a:xfrm>
          <a:prstGeom prst="rect">
            <a:avLst/>
          </a:prstGeom>
          <a:noFill/>
          <a:ln>
            <a:noFill/>
          </a:ln>
        </p:spPr>
      </p:pic>
      <p:grpSp>
        <p:nvGrpSpPr>
          <p:cNvPr id="298" name="Google Shape;298;p32"/>
          <p:cNvGrpSpPr/>
          <p:nvPr/>
        </p:nvGrpSpPr>
        <p:grpSpPr>
          <a:xfrm>
            <a:off x="1066924" y="3048533"/>
            <a:ext cx="2907000" cy="785116"/>
            <a:chOff x="1066725" y="3024518"/>
            <a:chExt cx="2907000" cy="798207"/>
          </a:xfrm>
        </p:grpSpPr>
        <p:sp>
          <p:nvSpPr>
            <p:cNvPr id="299" name="Google Shape;299;p32"/>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300" name="Google Shape;300;p32"/>
            <p:cNvPicPr preferRelativeResize="0"/>
            <p:nvPr/>
          </p:nvPicPr>
          <p:blipFill>
            <a:blip r:embed="rId7">
              <a:alphaModFix/>
            </a:blip>
            <a:stretch>
              <a:fillRect/>
            </a:stretch>
          </p:blipFill>
          <p:spPr>
            <a:xfrm>
              <a:off x="1066725" y="3024518"/>
              <a:ext cx="366950" cy="366950"/>
            </a:xfrm>
            <a:prstGeom prst="rect">
              <a:avLst/>
            </a:prstGeom>
            <a:noFill/>
            <a:ln>
              <a:noFill/>
            </a:ln>
          </p:spPr>
        </p:pic>
      </p:grpSp>
      <p:grpSp>
        <p:nvGrpSpPr>
          <p:cNvPr id="301" name="Google Shape;301;p32"/>
          <p:cNvGrpSpPr/>
          <p:nvPr/>
        </p:nvGrpSpPr>
        <p:grpSpPr>
          <a:xfrm>
            <a:off x="4711674" y="2953306"/>
            <a:ext cx="2907000" cy="912631"/>
            <a:chOff x="4711674" y="2953306"/>
            <a:chExt cx="2907000" cy="912631"/>
          </a:xfrm>
        </p:grpSpPr>
        <p:pic>
          <p:nvPicPr>
            <p:cNvPr descr="image.png" id="302" name="Google Shape;302;p32"/>
            <p:cNvPicPr preferRelativeResize="0"/>
            <p:nvPr/>
          </p:nvPicPr>
          <p:blipFill rotWithShape="1">
            <a:blip r:embed="rId5">
              <a:alphaModFix/>
            </a:blip>
            <a:srcRect b="0" l="0" r="0" t="0"/>
            <a:stretch/>
          </p:blipFill>
          <p:spPr>
            <a:xfrm>
              <a:off x="4711675" y="2953306"/>
              <a:ext cx="325" cy="330"/>
            </a:xfrm>
            <a:prstGeom prst="rect">
              <a:avLst/>
            </a:prstGeom>
            <a:solidFill>
              <a:srgbClr val="000000">
                <a:alpha val="0"/>
              </a:srgbClr>
            </a:solidFill>
            <a:ln>
              <a:noFill/>
            </a:ln>
          </p:spPr>
        </p:pic>
        <p:sp>
          <p:nvSpPr>
            <p:cNvPr id="303" name="Google Shape;303;p32"/>
            <p:cNvSpPr txBox="1"/>
            <p:nvPr/>
          </p:nvSpPr>
          <p:spPr>
            <a:xfrm>
              <a:off x="4711674" y="3588737"/>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Range Search</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92"/>
                                        </p:tgtEl>
                                        <p:attrNameLst>
                                          <p:attrName>style.visibility</p:attrName>
                                        </p:attrNameLst>
                                      </p:cBhvr>
                                      <p:to>
                                        <p:strVal val="visible"/>
                                      </p:to>
                                    </p:set>
                                    <p:anim calcmode="lin" valueType="num">
                                      <p:cBhvr additive="base">
                                        <p:cTn dur="500"/>
                                        <p:tgtEl>
                                          <p:spTgt spid="292"/>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01"/>
                                        </p:tgtEl>
                                        <p:attrNameLst>
                                          <p:attrName>style.visibility</p:attrName>
                                        </p:attrNameLst>
                                      </p:cBhvr>
                                      <p:to>
                                        <p:strVal val="visible"/>
                                      </p:to>
                                    </p:set>
                                    <p:anim calcmode="lin" valueType="num">
                                      <p:cBhvr additive="base">
                                        <p:cTn dur="500"/>
                                        <p:tgtEl>
                                          <p:spTgt spid="301"/>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283"/>
                                        </p:tgtEl>
                                        <p:attrNameLst>
                                          <p:attrName>style.visibility</p:attrName>
                                        </p:attrNameLst>
                                      </p:cBhvr>
                                      <p:to>
                                        <p:strVal val="visible"/>
                                      </p:to>
                                    </p:set>
                                    <p:anim calcmode="lin" valueType="num">
                                      <p:cBhvr additive="base">
                                        <p:cTn dur="500"/>
                                        <p:tgtEl>
                                          <p:spTgt spid="28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7" name="Shape 307"/>
        <p:cNvGrpSpPr/>
        <p:nvPr/>
      </p:nvGrpSpPr>
      <p:grpSpPr>
        <a:xfrm>
          <a:off x="0" y="0"/>
          <a:ext cx="0" cy="0"/>
          <a:chOff x="0" y="0"/>
          <a:chExt cx="0" cy="0"/>
        </a:xfrm>
      </p:grpSpPr>
      <p:sp>
        <p:nvSpPr>
          <p:cNvPr id="308" name="Google Shape;308;p33"/>
          <p:cNvSpPr txBox="1"/>
          <p:nvPr/>
        </p:nvSpPr>
        <p:spPr>
          <a:xfrm>
            <a:off x="771525" y="1334100"/>
            <a:ext cx="10329300" cy="49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950"/>
              <a:buFont typeface="Arial"/>
              <a:buNone/>
            </a:pPr>
            <a:r>
              <a:rPr lang="it-IT" sz="1500">
                <a:solidFill>
                  <a:srgbClr val="475569"/>
                </a:solidFill>
                <a:latin typeface="Inter"/>
                <a:ea typeface="Inter"/>
                <a:cs typeface="Inter"/>
                <a:sym typeface="Inter"/>
              </a:rPr>
              <a:t>Choosing the subset of blocks in the reference frame to compare with the current frame defines the different Block Matching strategies, balancing accuracy and computational cost.</a:t>
            </a:r>
            <a:endParaRPr sz="1500">
              <a:solidFill>
                <a:srgbClr val="475569"/>
              </a:solidFill>
              <a:latin typeface="Inter"/>
              <a:ea typeface="Inter"/>
              <a:cs typeface="Inter"/>
              <a:sym typeface="Inter"/>
            </a:endParaRPr>
          </a:p>
        </p:txBody>
      </p:sp>
      <p:pic>
        <p:nvPicPr>
          <p:cNvPr descr="image.png" id="309" name="Google Shape;309;p33"/>
          <p:cNvPicPr preferRelativeResize="0"/>
          <p:nvPr/>
        </p:nvPicPr>
        <p:blipFill rotWithShape="1">
          <a:blip r:embed="rId4">
            <a:alphaModFix/>
          </a:blip>
          <a:srcRect b="0" l="0" r="0" t="0"/>
          <a:stretch/>
        </p:blipFill>
        <p:spPr>
          <a:xfrm>
            <a:off x="8061350" y="2601675"/>
            <a:ext cx="3359200" cy="3775875"/>
          </a:xfrm>
          <a:prstGeom prst="rect">
            <a:avLst/>
          </a:prstGeom>
          <a:noFill/>
          <a:ln>
            <a:noFill/>
          </a:ln>
        </p:spPr>
      </p:pic>
      <p:grpSp>
        <p:nvGrpSpPr>
          <p:cNvPr id="310" name="Google Shape;310;p33"/>
          <p:cNvGrpSpPr/>
          <p:nvPr/>
        </p:nvGrpSpPr>
        <p:grpSpPr>
          <a:xfrm>
            <a:off x="4416400" y="2601675"/>
            <a:ext cx="3359200" cy="3775875"/>
            <a:chOff x="4416400" y="2601675"/>
            <a:chExt cx="3359200" cy="3775875"/>
          </a:xfrm>
        </p:grpSpPr>
        <p:pic>
          <p:nvPicPr>
            <p:cNvPr descr="image.png" id="311" name="Google Shape;311;p33"/>
            <p:cNvPicPr preferRelativeResize="0"/>
            <p:nvPr/>
          </p:nvPicPr>
          <p:blipFill rotWithShape="1">
            <a:blip r:embed="rId5">
              <a:alphaModFix/>
            </a:blip>
            <a:srcRect b="0" l="0" r="0" t="0"/>
            <a:stretch/>
          </p:blipFill>
          <p:spPr>
            <a:xfrm>
              <a:off x="4416400" y="2601675"/>
              <a:ext cx="3359200" cy="3775875"/>
            </a:xfrm>
            <a:prstGeom prst="rect">
              <a:avLst/>
            </a:prstGeom>
            <a:noFill/>
            <a:ln>
              <a:noFill/>
            </a:ln>
          </p:spPr>
        </p:pic>
        <p:pic>
          <p:nvPicPr>
            <p:cNvPr descr="image.png" id="312" name="Google Shape;312;p33"/>
            <p:cNvPicPr preferRelativeResize="0"/>
            <p:nvPr/>
          </p:nvPicPr>
          <p:blipFill rotWithShape="1">
            <a:blip r:embed="rId6">
              <a:alphaModFix/>
            </a:blip>
            <a:srcRect b="0" l="0" r="0" t="0"/>
            <a:stretch/>
          </p:blipFill>
          <p:spPr>
            <a:xfrm>
              <a:off x="4711675" y="2953306"/>
              <a:ext cx="325" cy="330"/>
            </a:xfrm>
            <a:prstGeom prst="rect">
              <a:avLst/>
            </a:prstGeom>
            <a:solidFill>
              <a:srgbClr val="000000">
                <a:alpha val="0"/>
              </a:srgbClr>
            </a:solidFill>
            <a:ln>
              <a:noFill/>
            </a:ln>
          </p:spPr>
        </p:pic>
        <p:sp>
          <p:nvSpPr>
            <p:cNvPr id="313" name="Google Shape;313;p33"/>
            <p:cNvSpPr txBox="1"/>
            <p:nvPr/>
          </p:nvSpPr>
          <p:spPr>
            <a:xfrm>
              <a:off x="4711674" y="3588737"/>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Range Search</a:t>
              </a:r>
              <a:endParaRPr b="0" i="0" sz="1400" u="none" cap="none" strike="noStrike">
                <a:solidFill>
                  <a:srgbClr val="000000"/>
                </a:solidFill>
                <a:latin typeface="Arial"/>
                <a:ea typeface="Arial"/>
                <a:cs typeface="Arial"/>
                <a:sym typeface="Arial"/>
              </a:endParaRPr>
            </a:p>
          </p:txBody>
        </p:sp>
      </p:grpSp>
      <p:pic>
        <p:nvPicPr>
          <p:cNvPr descr="image.png" id="314" name="Google Shape;314;p33"/>
          <p:cNvPicPr preferRelativeResize="0"/>
          <p:nvPr/>
        </p:nvPicPr>
        <p:blipFill rotWithShape="1">
          <a:blip r:embed="rId7">
            <a:alphaModFix/>
          </a:blip>
          <a:srcRect b="0" l="0" r="0" t="0"/>
          <a:stretch/>
        </p:blipFill>
        <p:spPr>
          <a:xfrm>
            <a:off x="8356625" y="2953306"/>
            <a:ext cx="325" cy="330"/>
          </a:xfrm>
          <a:prstGeom prst="rect">
            <a:avLst/>
          </a:prstGeom>
          <a:solidFill>
            <a:srgbClr val="000000">
              <a:alpha val="0"/>
            </a:srgbClr>
          </a:solidFill>
          <a:ln>
            <a:noFill/>
          </a:ln>
        </p:spPr>
      </p:pic>
      <p:sp>
        <p:nvSpPr>
          <p:cNvPr id="315" name="Google Shape;315;p33"/>
          <p:cNvSpPr txBox="1"/>
          <p:nvPr/>
        </p:nvSpPr>
        <p:spPr>
          <a:xfrm>
            <a:off x="8356624" y="3634075"/>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Logarithmic</a:t>
            </a:r>
            <a:r>
              <a:rPr b="1" lang="it-IT" sz="1800">
                <a:solidFill>
                  <a:srgbClr val="0F172A"/>
                </a:solidFill>
                <a:latin typeface="Outfit"/>
                <a:ea typeface="Outfit"/>
                <a:cs typeface="Outfit"/>
                <a:sym typeface="Outfit"/>
              </a:rPr>
              <a:t> search</a:t>
            </a:r>
            <a:endParaRPr b="0" i="0" sz="1400" u="none" cap="none" strike="noStrike">
              <a:solidFill>
                <a:srgbClr val="000000"/>
              </a:solidFill>
              <a:latin typeface="Arial"/>
              <a:ea typeface="Arial"/>
              <a:cs typeface="Arial"/>
              <a:sym typeface="Arial"/>
            </a:endParaRPr>
          </a:p>
        </p:txBody>
      </p:sp>
      <p:sp>
        <p:nvSpPr>
          <p:cNvPr id="316" name="Google Shape;316;p33"/>
          <p:cNvSpPr txBox="1"/>
          <p:nvPr/>
        </p:nvSpPr>
        <p:spPr>
          <a:xfrm>
            <a:off x="8356625" y="4112150"/>
            <a:ext cx="2907000" cy="1999200"/>
          </a:xfrm>
          <a:prstGeom prst="rect">
            <a:avLst/>
          </a:prstGeom>
          <a:solidFill>
            <a:srgbClr val="000000">
              <a:alpha val="0"/>
            </a:srgbClr>
          </a:solidFill>
          <a:ln>
            <a:noFill/>
          </a:ln>
        </p:spPr>
        <p:txBody>
          <a:bodyPr anchorCtr="0" anchor="t" bIns="0" lIns="0" spcFirstLastPara="1" rIns="0" wrap="square" tIns="0">
            <a:spAutoFit/>
          </a:bodyPr>
          <a:lstStyle/>
          <a:p>
            <a:pPr indent="0" lvl="0" marL="0" rtl="0" algn="l">
              <a:spcBef>
                <a:spcPts val="0"/>
              </a:spcBef>
              <a:spcAft>
                <a:spcPts val="0"/>
              </a:spcAft>
              <a:buNone/>
            </a:pPr>
            <a:r>
              <a:rPr lang="it-IT" sz="1249">
                <a:solidFill>
                  <a:srgbClr val="475569"/>
                </a:solidFill>
                <a:latin typeface="Inter"/>
                <a:ea typeface="Inter"/>
                <a:cs typeface="Inter"/>
                <a:sym typeface="Inter"/>
              </a:rPr>
              <a:t>Given a distance d, the block is compared with 9 grid points: the center (x,y) and the 8 directions at distance d (x±d, y±d), (x±d, y), (x, y±d). </a:t>
            </a:r>
            <a:endParaRPr b="0" i="0" sz="1249">
              <a:solidFill>
                <a:srgbClr val="475569"/>
              </a:solidFill>
              <a:latin typeface="Inter"/>
              <a:ea typeface="Inter"/>
              <a:cs typeface="Inter"/>
              <a:sym typeface="Inter"/>
            </a:endParaRPr>
          </a:p>
          <a:p>
            <a:pPr indent="0" lvl="0" marL="0" rtl="0" algn="l">
              <a:spcBef>
                <a:spcPts val="600"/>
              </a:spcBef>
              <a:spcAft>
                <a:spcPts val="0"/>
              </a:spcAft>
              <a:buNone/>
            </a:pPr>
            <a:r>
              <a:rPr lang="it-IT" sz="1249">
                <a:solidFill>
                  <a:srgbClr val="475569"/>
                </a:solidFill>
                <a:latin typeface="Inter"/>
                <a:ea typeface="Inter"/>
                <a:cs typeface="Inter"/>
                <a:sym typeface="Inter"/>
              </a:rPr>
              <a:t>The process iterates, halving d until d=1 (unless a zero-SAD value is found earlier), restarting each time from the block with the smallest SAD found in the previous step.</a:t>
            </a:r>
            <a:endParaRPr b="0" i="0" sz="1249">
              <a:solidFill>
                <a:srgbClr val="475569"/>
              </a:solidFill>
              <a:latin typeface="Inter"/>
              <a:ea typeface="Inter"/>
              <a:cs typeface="Inter"/>
              <a:sym typeface="Inter"/>
            </a:endParaRPr>
          </a:p>
        </p:txBody>
      </p:sp>
      <p:pic>
        <p:nvPicPr>
          <p:cNvPr id="317" name="Google Shape;317;p33" title="range_search.gif"/>
          <p:cNvPicPr preferRelativeResize="0"/>
          <p:nvPr/>
        </p:nvPicPr>
        <p:blipFill>
          <a:blip r:embed="rId8">
            <a:alphaModFix/>
          </a:blip>
          <a:stretch>
            <a:fillRect/>
          </a:stretch>
        </p:blipFill>
        <p:spPr>
          <a:xfrm>
            <a:off x="5091612" y="3923900"/>
            <a:ext cx="2008800" cy="2008800"/>
          </a:xfrm>
          <a:prstGeom prst="rect">
            <a:avLst/>
          </a:prstGeom>
          <a:noFill/>
          <a:ln>
            <a:noFill/>
          </a:ln>
        </p:spPr>
      </p:pic>
      <p:sp>
        <p:nvSpPr>
          <p:cNvPr id="318" name="Google Shape;318;p33"/>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Available strategies</a:t>
            </a:r>
            <a:endParaRPr b="0" sz="1400" u="none" cap="none" strike="noStrike">
              <a:solidFill>
                <a:srgbClr val="000000"/>
              </a:solidFill>
              <a:latin typeface="Arial"/>
              <a:ea typeface="Arial"/>
              <a:cs typeface="Arial"/>
              <a:sym typeface="Arial"/>
            </a:endParaRPr>
          </a:p>
        </p:txBody>
      </p:sp>
      <p:sp>
        <p:nvSpPr>
          <p:cNvPr id="319" name="Google Shape;319;p33"/>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0" name="Google Shape;320;p33"/>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id="321" name="Google Shape;321;p33"/>
          <p:cNvPicPr preferRelativeResize="0"/>
          <p:nvPr/>
        </p:nvPicPr>
        <p:blipFill>
          <a:blip r:embed="rId9">
            <a:alphaModFix/>
          </a:blip>
          <a:stretch>
            <a:fillRect/>
          </a:stretch>
        </p:blipFill>
        <p:spPr>
          <a:xfrm>
            <a:off x="6643350" y="5989550"/>
            <a:ext cx="1079327" cy="277199"/>
          </a:xfrm>
          <a:prstGeom prst="rect">
            <a:avLst/>
          </a:prstGeom>
          <a:noFill/>
          <a:ln>
            <a:noFill/>
          </a:ln>
        </p:spPr>
      </p:pic>
      <p:grpSp>
        <p:nvGrpSpPr>
          <p:cNvPr id="322" name="Google Shape;322;p33"/>
          <p:cNvGrpSpPr/>
          <p:nvPr/>
        </p:nvGrpSpPr>
        <p:grpSpPr>
          <a:xfrm>
            <a:off x="771450" y="2632627"/>
            <a:ext cx="3359200" cy="3713950"/>
            <a:chOff x="771450" y="2601675"/>
            <a:chExt cx="3359200" cy="3775875"/>
          </a:xfrm>
        </p:grpSpPr>
        <p:pic>
          <p:nvPicPr>
            <p:cNvPr descr="image.png" id="323" name="Google Shape;323;p33"/>
            <p:cNvPicPr preferRelativeResize="0"/>
            <p:nvPr/>
          </p:nvPicPr>
          <p:blipFill rotWithShape="1">
            <a:blip r:embed="rId10">
              <a:alphaModFix/>
            </a:blip>
            <a:srcRect b="0" l="0" r="0" t="0"/>
            <a:stretch/>
          </p:blipFill>
          <p:spPr>
            <a:xfrm>
              <a:off x="771450" y="2601675"/>
              <a:ext cx="3359200" cy="3775875"/>
            </a:xfrm>
            <a:prstGeom prst="rect">
              <a:avLst/>
            </a:prstGeom>
            <a:noFill/>
            <a:ln>
              <a:noFill/>
            </a:ln>
          </p:spPr>
        </p:pic>
        <p:sp>
          <p:nvSpPr>
            <p:cNvPr id="324" name="Google Shape;324;p33"/>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325" name="Google Shape;325;p33"/>
            <p:cNvPicPr preferRelativeResize="0"/>
            <p:nvPr/>
          </p:nvPicPr>
          <p:blipFill>
            <a:blip r:embed="rId11">
              <a:alphaModFix/>
            </a:blip>
            <a:stretch>
              <a:fillRect/>
            </a:stretch>
          </p:blipFill>
          <p:spPr>
            <a:xfrm>
              <a:off x="1066725" y="3024518"/>
              <a:ext cx="366950" cy="366950"/>
            </a:xfrm>
            <a:prstGeom prst="rect">
              <a:avLst/>
            </a:prstGeom>
            <a:noFill/>
            <a:ln>
              <a:noFill/>
            </a:ln>
          </p:spPr>
        </p:pic>
      </p:grpSp>
      <p:pic>
        <p:nvPicPr>
          <p:cNvPr id="326" name="Google Shape;326;p33"/>
          <p:cNvPicPr preferRelativeResize="0"/>
          <p:nvPr/>
        </p:nvPicPr>
        <p:blipFill>
          <a:blip r:embed="rId12">
            <a:alphaModFix/>
          </a:blip>
          <a:stretch>
            <a:fillRect/>
          </a:stretch>
        </p:blipFill>
        <p:spPr>
          <a:xfrm>
            <a:off x="1446650" y="3923900"/>
            <a:ext cx="2008800" cy="2008800"/>
          </a:xfrm>
          <a:prstGeom prst="rect">
            <a:avLst/>
          </a:prstGeom>
          <a:noFill/>
          <a:ln>
            <a:noFill/>
          </a:ln>
        </p:spPr>
      </p:pic>
      <p:pic>
        <p:nvPicPr>
          <p:cNvPr id="327" name="Google Shape;327;p33"/>
          <p:cNvPicPr preferRelativeResize="0"/>
          <p:nvPr/>
        </p:nvPicPr>
        <p:blipFill>
          <a:blip r:embed="rId13">
            <a:alphaModFix/>
          </a:blip>
          <a:stretch>
            <a:fillRect/>
          </a:stretch>
        </p:blipFill>
        <p:spPr>
          <a:xfrm>
            <a:off x="3177774" y="5971000"/>
            <a:ext cx="805668" cy="31432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09"/>
                                        </p:tgtEl>
                                        <p:attrNameLst>
                                          <p:attrName>style.visibility</p:attrName>
                                        </p:attrNameLst>
                                      </p:cBhvr>
                                      <p:to>
                                        <p:strVal val="visible"/>
                                      </p:to>
                                    </p:set>
                                    <p:anim calcmode="lin" valueType="num">
                                      <p:cBhvr additive="base">
                                        <p:cTn dur="500"/>
                                        <p:tgtEl>
                                          <p:spTgt spid="309"/>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4"/>
                                        </p:tgtEl>
                                        <p:attrNameLst>
                                          <p:attrName>style.visibility</p:attrName>
                                        </p:attrNameLst>
                                      </p:cBhvr>
                                      <p:to>
                                        <p:strVal val="visible"/>
                                      </p:to>
                                    </p:set>
                                    <p:anim calcmode="lin" valueType="num">
                                      <p:cBhvr additive="base">
                                        <p:cTn dur="500"/>
                                        <p:tgtEl>
                                          <p:spTgt spid="31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5"/>
                                        </p:tgtEl>
                                        <p:attrNameLst>
                                          <p:attrName>style.visibility</p:attrName>
                                        </p:attrNameLst>
                                      </p:cBhvr>
                                      <p:to>
                                        <p:strVal val="visible"/>
                                      </p:to>
                                    </p:set>
                                    <p:anim calcmode="lin" valueType="num">
                                      <p:cBhvr additive="base">
                                        <p:cTn dur="500"/>
                                        <p:tgtEl>
                                          <p:spTgt spid="315"/>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4">
                                  <p:stCondLst>
                                    <p:cond delay="0"/>
                                  </p:stCondLst>
                                  <p:childTnLst>
                                    <p:set>
                                      <p:cBhvr>
                                        <p:cTn dur="1" fill="hold">
                                          <p:stCondLst>
                                            <p:cond delay="0"/>
                                          </p:stCondLst>
                                        </p:cTn>
                                        <p:tgtEl>
                                          <p:spTgt spid="316"/>
                                        </p:tgtEl>
                                        <p:attrNameLst>
                                          <p:attrName>style.visibility</p:attrName>
                                        </p:attrNameLst>
                                      </p:cBhvr>
                                      <p:to>
                                        <p:strVal val="visible"/>
                                      </p:to>
                                    </p:set>
                                    <p:anim calcmode="lin" valueType="num">
                                      <p:cBhvr additive="base">
                                        <p:cTn dur="500"/>
                                        <p:tgtEl>
                                          <p:spTgt spid="31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1" name="Shape 331"/>
        <p:cNvGrpSpPr/>
        <p:nvPr/>
      </p:nvGrpSpPr>
      <p:grpSpPr>
        <a:xfrm>
          <a:off x="0" y="0"/>
          <a:ext cx="0" cy="0"/>
          <a:chOff x="0" y="0"/>
          <a:chExt cx="0" cy="0"/>
        </a:xfrm>
      </p:grpSpPr>
      <p:sp>
        <p:nvSpPr>
          <p:cNvPr id="332" name="Google Shape;332;p34"/>
          <p:cNvSpPr txBox="1"/>
          <p:nvPr/>
        </p:nvSpPr>
        <p:spPr>
          <a:xfrm>
            <a:off x="771525" y="1334100"/>
            <a:ext cx="10329300" cy="4965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0"/>
              </a:spcBef>
              <a:spcAft>
                <a:spcPts val="0"/>
              </a:spcAft>
              <a:buClr>
                <a:schemeClr val="dk1"/>
              </a:buClr>
              <a:buSzPts val="1950"/>
              <a:buFont typeface="Arial"/>
              <a:buNone/>
            </a:pPr>
            <a:r>
              <a:rPr lang="it-IT" sz="1500">
                <a:solidFill>
                  <a:srgbClr val="475569"/>
                </a:solidFill>
                <a:latin typeface="Inter"/>
                <a:ea typeface="Inter"/>
                <a:cs typeface="Inter"/>
                <a:sym typeface="Inter"/>
              </a:rPr>
              <a:t>Choosing the subset of blocks in the reference frame to compare with the current frame defines the different Block Matching strategies, balancing accuracy and computational cost.</a:t>
            </a:r>
            <a:endParaRPr sz="1650">
              <a:solidFill>
                <a:srgbClr val="475569"/>
              </a:solidFill>
              <a:latin typeface="Inter"/>
              <a:ea typeface="Inter"/>
              <a:cs typeface="Inter"/>
              <a:sym typeface="Inter"/>
            </a:endParaRPr>
          </a:p>
        </p:txBody>
      </p:sp>
      <p:pic>
        <p:nvPicPr>
          <p:cNvPr descr="image.png" id="333" name="Google Shape;333;p34"/>
          <p:cNvPicPr preferRelativeResize="0"/>
          <p:nvPr/>
        </p:nvPicPr>
        <p:blipFill rotWithShape="1">
          <a:blip r:embed="rId4">
            <a:alphaModFix/>
          </a:blip>
          <a:srcRect b="0" l="0" r="0" t="0"/>
          <a:stretch/>
        </p:blipFill>
        <p:spPr>
          <a:xfrm>
            <a:off x="8061350" y="2601675"/>
            <a:ext cx="3359200" cy="3775875"/>
          </a:xfrm>
          <a:prstGeom prst="rect">
            <a:avLst/>
          </a:prstGeom>
          <a:noFill/>
          <a:ln>
            <a:noFill/>
          </a:ln>
        </p:spPr>
      </p:pic>
      <p:pic>
        <p:nvPicPr>
          <p:cNvPr descr="image.png" id="334" name="Google Shape;334;p34"/>
          <p:cNvPicPr preferRelativeResize="0"/>
          <p:nvPr/>
        </p:nvPicPr>
        <p:blipFill rotWithShape="1">
          <a:blip r:embed="rId5">
            <a:alphaModFix/>
          </a:blip>
          <a:srcRect b="0" l="0" r="0" t="0"/>
          <a:stretch/>
        </p:blipFill>
        <p:spPr>
          <a:xfrm>
            <a:off x="8356625" y="2953306"/>
            <a:ext cx="325" cy="330"/>
          </a:xfrm>
          <a:prstGeom prst="rect">
            <a:avLst/>
          </a:prstGeom>
          <a:solidFill>
            <a:srgbClr val="000000">
              <a:alpha val="0"/>
            </a:srgbClr>
          </a:solidFill>
          <a:ln>
            <a:noFill/>
          </a:ln>
        </p:spPr>
      </p:pic>
      <p:sp>
        <p:nvSpPr>
          <p:cNvPr id="335" name="Google Shape;335;p34"/>
          <p:cNvSpPr txBox="1"/>
          <p:nvPr/>
        </p:nvSpPr>
        <p:spPr>
          <a:xfrm>
            <a:off x="8356624" y="3634075"/>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Logarithmic search</a:t>
            </a:r>
            <a:endParaRPr b="0" i="0" sz="1400" u="none" cap="none" strike="noStrike">
              <a:solidFill>
                <a:srgbClr val="000000"/>
              </a:solidFill>
              <a:latin typeface="Arial"/>
              <a:ea typeface="Arial"/>
              <a:cs typeface="Arial"/>
              <a:sym typeface="Arial"/>
            </a:endParaRPr>
          </a:p>
        </p:txBody>
      </p:sp>
      <p:pic>
        <p:nvPicPr>
          <p:cNvPr id="336" name="Google Shape;336;p34" title="logarithmic_search.gif"/>
          <p:cNvPicPr preferRelativeResize="0"/>
          <p:nvPr/>
        </p:nvPicPr>
        <p:blipFill>
          <a:blip r:embed="rId6">
            <a:alphaModFix/>
          </a:blip>
          <a:stretch>
            <a:fillRect/>
          </a:stretch>
        </p:blipFill>
        <p:spPr>
          <a:xfrm>
            <a:off x="8805725" y="3967363"/>
            <a:ext cx="2008800" cy="2008800"/>
          </a:xfrm>
          <a:prstGeom prst="rect">
            <a:avLst/>
          </a:prstGeom>
          <a:noFill/>
          <a:ln>
            <a:noFill/>
          </a:ln>
        </p:spPr>
      </p:pic>
      <p:sp>
        <p:nvSpPr>
          <p:cNvPr id="337" name="Google Shape;337;p34"/>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Available</a:t>
            </a:r>
            <a:r>
              <a:rPr lang="it-IT" sz="3000">
                <a:solidFill>
                  <a:srgbClr val="0F172A"/>
                </a:solidFill>
                <a:latin typeface="Outfit SemiBold"/>
                <a:ea typeface="Outfit SemiBold"/>
                <a:cs typeface="Outfit SemiBold"/>
                <a:sym typeface="Outfit SemiBold"/>
              </a:rPr>
              <a:t> strategies</a:t>
            </a:r>
            <a:endParaRPr b="0" sz="1400" u="none" cap="none" strike="noStrike">
              <a:solidFill>
                <a:srgbClr val="000000"/>
              </a:solidFill>
              <a:latin typeface="Arial"/>
              <a:ea typeface="Arial"/>
              <a:cs typeface="Arial"/>
              <a:sym typeface="Arial"/>
            </a:endParaRPr>
          </a:p>
        </p:txBody>
      </p:sp>
      <p:sp>
        <p:nvSpPr>
          <p:cNvPr id="338" name="Google Shape;338;p34"/>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p34"/>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id="340" name="Google Shape;340;p34"/>
          <p:cNvPicPr preferRelativeResize="0"/>
          <p:nvPr/>
        </p:nvPicPr>
        <p:blipFill>
          <a:blip r:embed="rId7">
            <a:alphaModFix/>
          </a:blip>
          <a:stretch>
            <a:fillRect/>
          </a:stretch>
        </p:blipFill>
        <p:spPr>
          <a:xfrm>
            <a:off x="10101725" y="6032250"/>
            <a:ext cx="1200150" cy="314325"/>
          </a:xfrm>
          <a:prstGeom prst="rect">
            <a:avLst/>
          </a:prstGeom>
          <a:noFill/>
          <a:ln>
            <a:noFill/>
          </a:ln>
        </p:spPr>
      </p:pic>
      <p:grpSp>
        <p:nvGrpSpPr>
          <p:cNvPr id="341" name="Google Shape;341;p34"/>
          <p:cNvGrpSpPr/>
          <p:nvPr/>
        </p:nvGrpSpPr>
        <p:grpSpPr>
          <a:xfrm>
            <a:off x="4416400" y="2601675"/>
            <a:ext cx="3359200" cy="3775875"/>
            <a:chOff x="4416400" y="2601675"/>
            <a:chExt cx="3359200" cy="3775875"/>
          </a:xfrm>
        </p:grpSpPr>
        <p:pic>
          <p:nvPicPr>
            <p:cNvPr descr="image.png" id="342" name="Google Shape;342;p34"/>
            <p:cNvPicPr preferRelativeResize="0"/>
            <p:nvPr/>
          </p:nvPicPr>
          <p:blipFill rotWithShape="1">
            <a:blip r:embed="rId8">
              <a:alphaModFix/>
            </a:blip>
            <a:srcRect b="0" l="0" r="0" t="0"/>
            <a:stretch/>
          </p:blipFill>
          <p:spPr>
            <a:xfrm>
              <a:off x="4416400" y="2601675"/>
              <a:ext cx="3359200" cy="3775875"/>
            </a:xfrm>
            <a:prstGeom prst="rect">
              <a:avLst/>
            </a:prstGeom>
            <a:noFill/>
            <a:ln>
              <a:noFill/>
            </a:ln>
          </p:spPr>
        </p:pic>
        <p:pic>
          <p:nvPicPr>
            <p:cNvPr descr="image.png" id="343" name="Google Shape;343;p34"/>
            <p:cNvPicPr preferRelativeResize="0"/>
            <p:nvPr/>
          </p:nvPicPr>
          <p:blipFill rotWithShape="1">
            <a:blip r:embed="rId9">
              <a:alphaModFix/>
            </a:blip>
            <a:srcRect b="0" l="0" r="0" t="0"/>
            <a:stretch/>
          </p:blipFill>
          <p:spPr>
            <a:xfrm>
              <a:off x="4711675" y="2953306"/>
              <a:ext cx="325" cy="330"/>
            </a:xfrm>
            <a:prstGeom prst="rect">
              <a:avLst/>
            </a:prstGeom>
            <a:solidFill>
              <a:srgbClr val="000000">
                <a:alpha val="0"/>
              </a:srgbClr>
            </a:solidFill>
            <a:ln>
              <a:noFill/>
            </a:ln>
          </p:spPr>
        </p:pic>
        <p:sp>
          <p:nvSpPr>
            <p:cNvPr id="344" name="Google Shape;344;p34"/>
            <p:cNvSpPr txBox="1"/>
            <p:nvPr/>
          </p:nvSpPr>
          <p:spPr>
            <a:xfrm>
              <a:off x="4711674" y="3588737"/>
              <a:ext cx="2907000" cy="27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Range Search</a:t>
              </a:r>
              <a:endParaRPr b="0" i="0" sz="1400" u="none" cap="none" strike="noStrike">
                <a:solidFill>
                  <a:srgbClr val="000000"/>
                </a:solidFill>
                <a:latin typeface="Arial"/>
                <a:ea typeface="Arial"/>
                <a:cs typeface="Arial"/>
                <a:sym typeface="Arial"/>
              </a:endParaRPr>
            </a:p>
          </p:txBody>
        </p:sp>
      </p:grpSp>
      <p:pic>
        <p:nvPicPr>
          <p:cNvPr id="345" name="Google Shape;345;p34" title="range_search.gif"/>
          <p:cNvPicPr preferRelativeResize="0"/>
          <p:nvPr/>
        </p:nvPicPr>
        <p:blipFill>
          <a:blip r:embed="rId10">
            <a:alphaModFix/>
          </a:blip>
          <a:stretch>
            <a:fillRect/>
          </a:stretch>
        </p:blipFill>
        <p:spPr>
          <a:xfrm>
            <a:off x="5091612" y="3923900"/>
            <a:ext cx="2008800" cy="2008800"/>
          </a:xfrm>
          <a:prstGeom prst="rect">
            <a:avLst/>
          </a:prstGeom>
          <a:noFill/>
          <a:ln>
            <a:noFill/>
          </a:ln>
        </p:spPr>
      </p:pic>
      <p:pic>
        <p:nvPicPr>
          <p:cNvPr id="346" name="Google Shape;346;p34"/>
          <p:cNvPicPr preferRelativeResize="0"/>
          <p:nvPr/>
        </p:nvPicPr>
        <p:blipFill>
          <a:blip r:embed="rId11">
            <a:alphaModFix/>
          </a:blip>
          <a:stretch>
            <a:fillRect/>
          </a:stretch>
        </p:blipFill>
        <p:spPr>
          <a:xfrm>
            <a:off x="6643350" y="5989550"/>
            <a:ext cx="1079327" cy="277199"/>
          </a:xfrm>
          <a:prstGeom prst="rect">
            <a:avLst/>
          </a:prstGeom>
          <a:noFill/>
          <a:ln>
            <a:noFill/>
          </a:ln>
        </p:spPr>
      </p:pic>
      <p:grpSp>
        <p:nvGrpSpPr>
          <p:cNvPr id="347" name="Google Shape;347;p34"/>
          <p:cNvGrpSpPr/>
          <p:nvPr/>
        </p:nvGrpSpPr>
        <p:grpSpPr>
          <a:xfrm>
            <a:off x="771450" y="2632627"/>
            <a:ext cx="3359200" cy="3713950"/>
            <a:chOff x="771450" y="2601675"/>
            <a:chExt cx="3359200" cy="3775875"/>
          </a:xfrm>
        </p:grpSpPr>
        <p:pic>
          <p:nvPicPr>
            <p:cNvPr descr="image.png" id="348" name="Google Shape;348;p34"/>
            <p:cNvPicPr preferRelativeResize="0"/>
            <p:nvPr/>
          </p:nvPicPr>
          <p:blipFill rotWithShape="1">
            <a:blip r:embed="rId12">
              <a:alphaModFix/>
            </a:blip>
            <a:srcRect b="0" l="0" r="0" t="0"/>
            <a:stretch/>
          </p:blipFill>
          <p:spPr>
            <a:xfrm>
              <a:off x="771450" y="2601675"/>
              <a:ext cx="3359200" cy="3775875"/>
            </a:xfrm>
            <a:prstGeom prst="rect">
              <a:avLst/>
            </a:prstGeom>
            <a:noFill/>
            <a:ln>
              <a:noFill/>
            </a:ln>
          </p:spPr>
        </p:pic>
        <p:sp>
          <p:nvSpPr>
            <p:cNvPr id="349" name="Google Shape;349;p34"/>
            <p:cNvSpPr txBox="1"/>
            <p:nvPr/>
          </p:nvSpPr>
          <p:spPr>
            <a:xfrm>
              <a:off x="1066725" y="3541025"/>
              <a:ext cx="2907000" cy="2817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1800"/>
                <a:buFont typeface="Arial"/>
                <a:buNone/>
              </a:pPr>
              <a:r>
                <a:rPr b="1" lang="it-IT" sz="1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pic>
          <p:nvPicPr>
            <p:cNvPr id="350" name="Google Shape;350;p34"/>
            <p:cNvPicPr preferRelativeResize="0"/>
            <p:nvPr/>
          </p:nvPicPr>
          <p:blipFill>
            <a:blip r:embed="rId13">
              <a:alphaModFix/>
            </a:blip>
            <a:stretch>
              <a:fillRect/>
            </a:stretch>
          </p:blipFill>
          <p:spPr>
            <a:xfrm>
              <a:off x="1066725" y="3024518"/>
              <a:ext cx="366950" cy="366950"/>
            </a:xfrm>
            <a:prstGeom prst="rect">
              <a:avLst/>
            </a:prstGeom>
            <a:noFill/>
            <a:ln>
              <a:noFill/>
            </a:ln>
          </p:spPr>
        </p:pic>
      </p:grpSp>
      <p:pic>
        <p:nvPicPr>
          <p:cNvPr id="351" name="Google Shape;351;p34"/>
          <p:cNvPicPr preferRelativeResize="0"/>
          <p:nvPr/>
        </p:nvPicPr>
        <p:blipFill>
          <a:blip r:embed="rId14">
            <a:alphaModFix/>
          </a:blip>
          <a:stretch>
            <a:fillRect/>
          </a:stretch>
        </p:blipFill>
        <p:spPr>
          <a:xfrm>
            <a:off x="1446650" y="3923900"/>
            <a:ext cx="2008800" cy="2008800"/>
          </a:xfrm>
          <a:prstGeom prst="rect">
            <a:avLst/>
          </a:prstGeom>
          <a:noFill/>
          <a:ln>
            <a:noFill/>
          </a:ln>
        </p:spPr>
      </p:pic>
      <p:pic>
        <p:nvPicPr>
          <p:cNvPr id="352" name="Google Shape;352;p34"/>
          <p:cNvPicPr preferRelativeResize="0"/>
          <p:nvPr/>
        </p:nvPicPr>
        <p:blipFill>
          <a:blip r:embed="rId15">
            <a:alphaModFix/>
          </a:blip>
          <a:stretch>
            <a:fillRect/>
          </a:stretch>
        </p:blipFill>
        <p:spPr>
          <a:xfrm>
            <a:off x="3177774" y="5971000"/>
            <a:ext cx="805668" cy="314325"/>
          </a:xfrm>
          <a:prstGeom prst="rect">
            <a:avLst/>
          </a:prstGeom>
          <a:noFill/>
          <a:ln>
            <a:noFill/>
          </a:ln>
        </p:spPr>
      </p:pic>
    </p:spTree>
  </p:cSld>
  <p:clrMapOvr>
    <a:masterClrMapping/>
  </p:clrMapOvr>
  <p:transition spd="med">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6" name="Shape 356"/>
        <p:cNvGrpSpPr/>
        <p:nvPr/>
      </p:nvGrpSpPr>
      <p:grpSpPr>
        <a:xfrm>
          <a:off x="0" y="0"/>
          <a:ext cx="0" cy="0"/>
          <a:chOff x="0" y="0"/>
          <a:chExt cx="0" cy="0"/>
        </a:xfrm>
      </p:grpSpPr>
      <p:sp>
        <p:nvSpPr>
          <p:cNvPr id="357" name="Google Shape;357;p35"/>
          <p:cNvSpPr txBox="1"/>
          <p:nvPr/>
        </p:nvSpPr>
        <p:spPr>
          <a:xfrm>
            <a:off x="3235642" y="3002309"/>
            <a:ext cx="57207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Clr>
                <a:srgbClr val="000000"/>
              </a:buClr>
              <a:buSzPts val="4800"/>
              <a:buFont typeface="Arial"/>
              <a:buNone/>
            </a:pPr>
            <a:r>
              <a:rPr b="1" lang="it-IT" sz="4800">
                <a:solidFill>
                  <a:srgbClr val="0F172A"/>
                </a:solidFill>
                <a:latin typeface="Outfit"/>
                <a:ea typeface="Outfit"/>
                <a:cs typeface="Outfit"/>
                <a:sym typeface="Outfit"/>
              </a:rPr>
              <a:t>Full Search</a:t>
            </a:r>
            <a:endParaRPr b="0" i="0" sz="1400" u="none" cap="none" strike="noStrike">
              <a:solidFill>
                <a:srgbClr val="000000"/>
              </a:solidFill>
              <a:latin typeface="Arial"/>
              <a:ea typeface="Arial"/>
              <a:cs typeface="Arial"/>
              <a:sym typeface="Arial"/>
            </a:endParaRPr>
          </a:p>
        </p:txBody>
      </p:sp>
      <p:sp>
        <p:nvSpPr>
          <p:cNvPr id="358" name="Google Shape;358;p35"/>
          <p:cNvSpPr txBox="1"/>
          <p:nvPr/>
        </p:nvSpPr>
        <p:spPr>
          <a:xfrm>
            <a:off x="3629025" y="3924300"/>
            <a:ext cx="49341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it-IT" sz="1350">
                <a:solidFill>
                  <a:srgbClr val="475569"/>
                </a:solidFill>
                <a:latin typeface="Inter"/>
                <a:ea typeface="Inter"/>
                <a:cs typeface="Inter"/>
                <a:sym typeface="Inter"/>
              </a:rPr>
              <a:t>Implementations of full search algorithm</a:t>
            </a:r>
            <a:endParaRPr b="0" i="0" sz="1400" u="none" cap="none" strike="noStrike">
              <a:solidFill>
                <a:srgbClr val="000000"/>
              </a:solidFill>
              <a:latin typeface="Arial"/>
              <a:ea typeface="Arial"/>
              <a:cs typeface="Arial"/>
              <a:sym typeface="Arial"/>
            </a:endParaRPr>
          </a:p>
        </p:txBody>
      </p:sp>
      <p:sp>
        <p:nvSpPr>
          <p:cNvPr id="359" name="Google Shape;359;p35"/>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3" name="Shape 363"/>
        <p:cNvGrpSpPr/>
        <p:nvPr/>
      </p:nvGrpSpPr>
      <p:grpSpPr>
        <a:xfrm>
          <a:off x="0" y="0"/>
          <a:ext cx="0" cy="0"/>
          <a:chOff x="0" y="0"/>
          <a:chExt cx="0" cy="0"/>
        </a:xfrm>
      </p:grpSpPr>
      <p:sp>
        <p:nvSpPr>
          <p:cNvPr id="364" name="Google Shape;364;p36"/>
          <p:cNvSpPr txBox="1"/>
          <p:nvPr/>
        </p:nvSpPr>
        <p:spPr>
          <a:xfrm>
            <a:off x="771525" y="1496825"/>
            <a:ext cx="5636100" cy="177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Sequential implementation:</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Logically divide the current frame into blocks. </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For each block, compute the SAD with every candidate block in the reference frame.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Select the candidate with the lowest SAD (ties broken by the shortest motion vector).</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Repeat for every block in the current frame.</a:t>
            </a:r>
            <a:endParaRPr sz="1650">
              <a:solidFill>
                <a:srgbClr val="475569"/>
              </a:solidFill>
              <a:latin typeface="Inter"/>
              <a:ea typeface="Inter"/>
              <a:cs typeface="Inter"/>
              <a:sym typeface="Inter"/>
            </a:endParaRPr>
          </a:p>
        </p:txBody>
      </p:sp>
      <p:sp>
        <p:nvSpPr>
          <p:cNvPr id="365" name="Google Shape;365;p36"/>
          <p:cNvSpPr txBox="1"/>
          <p:nvPr/>
        </p:nvSpPr>
        <p:spPr>
          <a:xfrm>
            <a:off x="1381125" y="4093740"/>
            <a:ext cx="4200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Parallelization &amp; Execution Dependency</a:t>
            </a:r>
            <a:endParaRPr b="1" sz="1500">
              <a:solidFill>
                <a:srgbClr val="0F172A"/>
              </a:solidFill>
              <a:latin typeface="Outfit"/>
              <a:ea typeface="Outfit"/>
              <a:cs typeface="Outfit"/>
              <a:sym typeface="Outfit"/>
            </a:endParaRPr>
          </a:p>
        </p:txBody>
      </p:sp>
      <p:sp>
        <p:nvSpPr>
          <p:cNvPr id="366" name="Google Shape;366;p36"/>
          <p:cNvSpPr txBox="1"/>
          <p:nvPr/>
        </p:nvSpPr>
        <p:spPr>
          <a:xfrm>
            <a:off x="1381125" y="4511275"/>
            <a:ext cx="4773600" cy="1400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SzPts val="1100"/>
              <a:buFont typeface="Arial"/>
              <a:buNone/>
            </a:pPr>
            <a:r>
              <a:rPr lang="it-IT" sz="1300">
                <a:solidFill>
                  <a:srgbClr val="475569"/>
                </a:solidFill>
                <a:latin typeface="Inter"/>
                <a:ea typeface="Inter"/>
                <a:cs typeface="Inter"/>
                <a:sym typeface="Inter"/>
              </a:rPr>
              <a:t>Finding the motion vector for different blocks of the current frame is completely independent. However, this CPU implementation processes them sequentially, without exploiting this parallelism.</a:t>
            </a:r>
            <a:endParaRPr sz="1300">
              <a:solidFill>
                <a:srgbClr val="475569"/>
              </a:solidFill>
              <a:latin typeface="Inter"/>
              <a:ea typeface="Inter"/>
              <a:cs typeface="Inter"/>
              <a:sym typeface="Inter"/>
            </a:endParaRPr>
          </a:p>
          <a:p>
            <a:pPr indent="0" lvl="0" marL="0" marR="0" rtl="0" algn="l">
              <a:lnSpc>
                <a:spcPct val="150000"/>
              </a:lnSpc>
              <a:spcBef>
                <a:spcPts val="0"/>
              </a:spcBef>
              <a:spcAft>
                <a:spcPts val="0"/>
              </a:spcAft>
              <a:buClr>
                <a:srgbClr val="000000"/>
              </a:buClr>
              <a:buFont typeface="Arial"/>
              <a:buNone/>
            </a:pPr>
            <a:r>
              <a:t/>
            </a:r>
            <a:endParaRPr sz="1300">
              <a:solidFill>
                <a:srgbClr val="475569"/>
              </a:solidFill>
              <a:latin typeface="Inter"/>
              <a:ea typeface="Inter"/>
              <a:cs typeface="Inter"/>
              <a:sym typeface="Inter"/>
            </a:endParaRPr>
          </a:p>
        </p:txBody>
      </p:sp>
      <p:sp>
        <p:nvSpPr>
          <p:cNvPr id="367" name="Google Shape;367;p36"/>
          <p:cNvSpPr txBox="1"/>
          <p:nvPr/>
        </p:nvSpPr>
        <p:spPr>
          <a:xfrm>
            <a:off x="1000125" y="4009150"/>
            <a:ext cx="3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sp>
        <p:nvSpPr>
          <p:cNvPr id="368" name="Google Shape;368;p36"/>
          <p:cNvSpPr/>
          <p:nvPr/>
        </p:nvSpPr>
        <p:spPr>
          <a:xfrm>
            <a:off x="6656350" y="1350675"/>
            <a:ext cx="4773600" cy="4213200"/>
          </a:xfrm>
          <a:prstGeom prst="roundRect">
            <a:avLst>
              <a:gd fmla="val 2511"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9" name="Google Shape;369;p36"/>
          <p:cNvSpPr txBox="1"/>
          <p:nvPr/>
        </p:nvSpPr>
        <p:spPr>
          <a:xfrm>
            <a:off x="6590950" y="1548800"/>
            <a:ext cx="4975200" cy="4172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900">
                <a:solidFill>
                  <a:srgbClr val="A05000"/>
                </a:solidFill>
                <a:latin typeface="Roboto Mono"/>
                <a:ea typeface="Roboto Mono"/>
                <a:cs typeface="Roboto Mono"/>
                <a:sym typeface="Roboto Mono"/>
              </a:rPr>
              <a:t>// Iterate over every block in the current frame</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900">
                <a:solidFill>
                  <a:srgbClr val="700080"/>
                </a:solidFill>
                <a:latin typeface="Roboto Mono"/>
                <a:ea typeface="Roboto Mono"/>
                <a:cs typeface="Roboto Mono"/>
                <a:sym typeface="Roboto Mono"/>
              </a:rPr>
              <a:t>for</a:t>
            </a: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blocksY</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b="1" lang="it-IT" sz="900">
                <a:solidFill>
                  <a:srgbClr val="700080"/>
                </a:solidFill>
                <a:latin typeface="Roboto Mono"/>
                <a:ea typeface="Roboto Mono"/>
                <a:cs typeface="Roboto Mono"/>
                <a:sym typeface="Roboto Mono"/>
              </a:rPr>
              <a:t>for</a:t>
            </a: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blocksX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INT_MAX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MotionVector</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 </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i="1" lang="it-IT" sz="900">
                <a:solidFill>
                  <a:srgbClr val="A05000"/>
                </a:solidFill>
                <a:latin typeface="Roboto Mono"/>
                <a:ea typeface="Roboto Mono"/>
                <a:cs typeface="Roboto Mono"/>
                <a:sym typeface="Roboto Mono"/>
              </a:rPr>
              <a:t>// Scan every candidate block in the reference frame (full search)</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i="1" lang="it-IT" sz="900">
                <a:solidFill>
                  <a:srgbClr val="A05000"/>
                </a:solidFill>
                <a:latin typeface="Roboto Mono"/>
                <a:ea typeface="Roboto Mono"/>
                <a:cs typeface="Roboto Mono"/>
                <a:sym typeface="Roboto Mono"/>
              </a:rPr>
              <a:t>// No RAW dependency: candidates are independent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b="1" lang="it-IT" sz="900">
                <a:solidFill>
                  <a:srgbClr val="700080"/>
                </a:solidFill>
                <a:latin typeface="Roboto Mono"/>
                <a:ea typeface="Roboto Mono"/>
                <a:cs typeface="Roboto Mono"/>
                <a:sym typeface="Roboto Mono"/>
              </a:rPr>
              <a:t>for</a:t>
            </a: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blocksY</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b="1" lang="it-IT" sz="900">
                <a:solidFill>
                  <a:srgbClr val="700080"/>
                </a:solidFill>
                <a:latin typeface="Roboto Mono"/>
                <a:ea typeface="Roboto Mono"/>
                <a:cs typeface="Roboto Mono"/>
                <a:sym typeface="Roboto Mono"/>
              </a:rPr>
              <a:t>for</a:t>
            </a: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06040"/>
                </a:solidFill>
                <a:latin typeface="Roboto Mono"/>
                <a:ea typeface="Roboto Mono"/>
                <a:cs typeface="Roboto Mono"/>
                <a:sym typeface="Roboto Mono"/>
              </a:rPr>
              <a:t>0</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blocksX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computeSAD</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curr</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i="1" lang="it-IT" sz="900">
                <a:solidFill>
                  <a:srgbClr val="A05000"/>
                </a:solidFill>
                <a:latin typeface="Roboto Mono"/>
                <a:ea typeface="Roboto Mono"/>
                <a:cs typeface="Roboto Mono"/>
                <a:sym typeface="Roboto Mono"/>
              </a:rPr>
              <a:t>// tie-break on distance: choose the spatially closest candidate</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dist</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008050"/>
                </a:solidFill>
                <a:latin typeface="Roboto Mono"/>
                <a:ea typeface="Roboto Mono"/>
                <a:cs typeface="Roboto Mono"/>
                <a:sym typeface="Roboto Mono"/>
              </a:rPr>
              <a:t>int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bestDist</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dx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dx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dy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dy</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b="1" lang="it-IT" sz="900">
                <a:solidFill>
                  <a:srgbClr val="700080"/>
                </a:solidFill>
                <a:latin typeface="Roboto Mono"/>
                <a:ea typeface="Roboto Mono"/>
                <a:cs typeface="Roboto Mono"/>
                <a:sym typeface="Roboto Mono"/>
              </a:rPr>
              <a:t>if</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&amp;&amp;</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dist</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&lt;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bestDist</a:t>
            </a: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bestSAD</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sad</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refX</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refY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mv</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bx</a:t>
            </a:r>
            <a:r>
              <a:rPr lang="it-IT" sz="900">
                <a:latin typeface="Roboto Mono"/>
                <a:ea typeface="Roboto Mono"/>
                <a:cs typeface="Roboto Mono"/>
                <a:sym typeface="Roboto Mono"/>
              </a:rPr>
              <a:t>][</a:t>
            </a:r>
            <a:r>
              <a:rPr lang="it-IT" sz="900">
                <a:solidFill>
                  <a:srgbClr val="1AB1CD"/>
                </a:solidFill>
                <a:latin typeface="Roboto Mono"/>
                <a:ea typeface="Roboto Mono"/>
                <a:cs typeface="Roboto Mono"/>
                <a:sym typeface="Roboto Mono"/>
              </a:rPr>
              <a:t>by</a:t>
            </a:r>
            <a:r>
              <a:rPr lang="it-IT" sz="900">
                <a:latin typeface="Roboto Mono"/>
                <a:ea typeface="Roboto Mono"/>
                <a:cs typeface="Roboto Mono"/>
                <a:sym typeface="Roboto Mono"/>
              </a:rPr>
              <a:t>] </a:t>
            </a:r>
            <a:r>
              <a:rPr b="1" lang="it-IT" sz="900">
                <a:solidFill>
                  <a:srgbClr val="EE11FF"/>
                </a:solidFill>
                <a:latin typeface="Roboto Mono"/>
                <a:ea typeface="Roboto Mono"/>
                <a:cs typeface="Roboto Mono"/>
                <a:sym typeface="Roboto Mono"/>
              </a:rPr>
              <a:t>=</a:t>
            </a:r>
            <a:r>
              <a:rPr lang="it-IT" sz="900">
                <a:latin typeface="Roboto Mono"/>
                <a:ea typeface="Roboto Mono"/>
                <a:cs typeface="Roboto Mono"/>
                <a:sym typeface="Roboto Mono"/>
              </a:rPr>
              <a:t> </a:t>
            </a:r>
            <a:r>
              <a:rPr lang="it-IT" sz="900">
                <a:solidFill>
                  <a:srgbClr val="1AB1CD"/>
                </a:solidFill>
                <a:latin typeface="Roboto Mono"/>
                <a:ea typeface="Roboto Mono"/>
                <a:cs typeface="Roboto Mono"/>
                <a:sym typeface="Roboto Mono"/>
              </a:rPr>
              <a:t>bestMV</a:t>
            </a:r>
            <a:r>
              <a:rPr lang="it-IT" sz="900">
                <a:latin typeface="Roboto Mono"/>
                <a:ea typeface="Roboto Mono"/>
                <a:cs typeface="Roboto Mono"/>
                <a:sym typeface="Roboto Mono"/>
              </a:rPr>
              <a:t>; </a:t>
            </a:r>
            <a:r>
              <a:rPr i="1" lang="it-IT" sz="900">
                <a:solidFill>
                  <a:srgbClr val="A05000"/>
                </a:solidFill>
                <a:latin typeface="Roboto Mono"/>
                <a:ea typeface="Roboto Mono"/>
                <a:cs typeface="Roboto Mono"/>
                <a:sym typeface="Roboto Mono"/>
              </a:rPr>
              <a:t>// store the optimal motion vector</a:t>
            </a:r>
            <a:endParaRPr sz="9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900">
                <a:latin typeface="Roboto Mono"/>
                <a:ea typeface="Roboto Mono"/>
                <a:cs typeface="Roboto Mono"/>
                <a:sym typeface="Roboto Mono"/>
              </a:rPr>
              <a:t> }</a:t>
            </a:r>
            <a:endParaRPr sz="900">
              <a:latin typeface="Roboto Mono"/>
              <a:ea typeface="Roboto Mono"/>
              <a:cs typeface="Roboto Mono"/>
              <a:sym typeface="Roboto Mono"/>
            </a:endParaRPr>
          </a:p>
          <a:p>
            <a:pPr indent="0" lvl="0" marL="0" rtl="0" algn="l">
              <a:lnSpc>
                <a:spcPct val="135714"/>
              </a:lnSpc>
              <a:spcBef>
                <a:spcPts val="0"/>
              </a:spcBef>
              <a:spcAft>
                <a:spcPts val="0"/>
              </a:spcAft>
              <a:buNone/>
            </a:pPr>
            <a:r>
              <a:rPr lang="it-IT" sz="900">
                <a:latin typeface="Roboto Mono"/>
                <a:ea typeface="Roboto Mono"/>
                <a:cs typeface="Roboto Mono"/>
                <a:sym typeface="Roboto Mono"/>
              </a:rPr>
              <a:t>}</a:t>
            </a:r>
            <a:endParaRPr sz="900">
              <a:latin typeface="Roboto Mono"/>
              <a:ea typeface="Roboto Mono"/>
              <a:cs typeface="Roboto Mono"/>
              <a:sym typeface="Roboto Mono"/>
            </a:endParaRPr>
          </a:p>
        </p:txBody>
      </p:sp>
      <p:grpSp>
        <p:nvGrpSpPr>
          <p:cNvPr id="370" name="Google Shape;370;p36"/>
          <p:cNvGrpSpPr/>
          <p:nvPr/>
        </p:nvGrpSpPr>
        <p:grpSpPr>
          <a:xfrm>
            <a:off x="6743661" y="1387258"/>
            <a:ext cx="2184419" cy="161535"/>
            <a:chOff x="568575" y="4236205"/>
            <a:chExt cx="2771051" cy="187200"/>
          </a:xfrm>
        </p:grpSpPr>
        <p:pic>
          <p:nvPicPr>
            <p:cNvPr descr="image.png" id="371" name="Google Shape;371;p36"/>
            <p:cNvPicPr preferRelativeResize="0"/>
            <p:nvPr/>
          </p:nvPicPr>
          <p:blipFill rotWithShape="1">
            <a:blip r:embed="rId4">
              <a:alphaModFix/>
            </a:blip>
            <a:srcRect b="0" l="0" r="0" t="0"/>
            <a:stretch/>
          </p:blipFill>
          <p:spPr>
            <a:xfrm>
              <a:off x="568575" y="4250403"/>
              <a:ext cx="104775" cy="133350"/>
            </a:xfrm>
            <a:prstGeom prst="rect">
              <a:avLst/>
            </a:prstGeom>
            <a:noFill/>
            <a:ln>
              <a:noFill/>
            </a:ln>
          </p:spPr>
        </p:pic>
        <p:sp>
          <p:nvSpPr>
            <p:cNvPr id="372" name="Google Shape;372;p36"/>
            <p:cNvSpPr txBox="1"/>
            <p:nvPr/>
          </p:nvSpPr>
          <p:spPr>
            <a:xfrm>
              <a:off x="727226" y="4236205"/>
              <a:ext cx="2612400" cy="18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lang="it-IT" sz="1050">
                  <a:solidFill>
                    <a:srgbClr val="666666"/>
                  </a:solidFill>
                  <a:latin typeface="Inter"/>
                  <a:ea typeface="Inter"/>
                  <a:cs typeface="Inter"/>
                  <a:sym typeface="Inter"/>
                </a:rPr>
                <a:t>fullSearchBM_cpu_naive.cpp</a:t>
              </a:r>
              <a:endParaRPr sz="1050">
                <a:solidFill>
                  <a:srgbClr val="666666"/>
                </a:solidFill>
                <a:latin typeface="Inter"/>
                <a:ea typeface="Inter"/>
                <a:cs typeface="Inter"/>
                <a:sym typeface="Inter"/>
              </a:endParaRPr>
            </a:p>
          </p:txBody>
        </p:sp>
      </p:grpSp>
      <p:cxnSp>
        <p:nvCxnSpPr>
          <p:cNvPr id="373" name="Google Shape;373;p36"/>
          <p:cNvCxnSpPr/>
          <p:nvPr/>
        </p:nvCxnSpPr>
        <p:spPr>
          <a:xfrm>
            <a:off x="6656350" y="1548800"/>
            <a:ext cx="4683900" cy="0"/>
          </a:xfrm>
          <a:prstGeom prst="straightConnector1">
            <a:avLst/>
          </a:prstGeom>
          <a:noFill/>
          <a:ln cap="flat" cmpd="sng" w="9525">
            <a:solidFill>
              <a:srgbClr val="B7B7B7"/>
            </a:solidFill>
            <a:prstDash val="solid"/>
            <a:round/>
            <a:headEnd len="med" w="med" type="none"/>
            <a:tailEnd len="med" w="med" type="none"/>
          </a:ln>
        </p:spPr>
      </p:cxnSp>
      <p:sp>
        <p:nvSpPr>
          <p:cNvPr id="374" name="Google Shape;374;p36"/>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Naive</a:t>
            </a:r>
            <a:endParaRPr b="0" sz="1400" u="none" cap="none" strike="noStrike">
              <a:solidFill>
                <a:srgbClr val="000000"/>
              </a:solidFill>
              <a:latin typeface="Arial"/>
              <a:ea typeface="Arial"/>
              <a:cs typeface="Arial"/>
              <a:sym typeface="Arial"/>
            </a:endParaRPr>
          </a:p>
        </p:txBody>
      </p:sp>
      <p:sp>
        <p:nvSpPr>
          <p:cNvPr id="375" name="Google Shape;375;p36"/>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76" name="Google Shape;376;p36"/>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6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0" name="Shape 380"/>
        <p:cNvGrpSpPr/>
        <p:nvPr/>
      </p:nvGrpSpPr>
      <p:grpSpPr>
        <a:xfrm>
          <a:off x="0" y="0"/>
          <a:ext cx="0" cy="0"/>
          <a:chOff x="0" y="0"/>
          <a:chExt cx="0" cy="0"/>
        </a:xfrm>
      </p:grpSpPr>
      <p:sp>
        <p:nvSpPr>
          <p:cNvPr id="381" name="Google Shape;381;p37"/>
          <p:cNvSpPr txBox="1"/>
          <p:nvPr/>
        </p:nvSpPr>
        <p:spPr>
          <a:xfrm>
            <a:off x="771525" y="1286575"/>
            <a:ext cx="6617400" cy="2216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00">
                <a:solidFill>
                  <a:srgbClr val="475569"/>
                </a:solidFill>
                <a:latin typeface="Inter"/>
                <a:ea typeface="Inter"/>
                <a:cs typeface="Inter"/>
                <a:sym typeface="Inter"/>
              </a:rPr>
              <a:t>Instead of processing the current frame block by block, parallelize the computation to find the best SAD value.</a:t>
            </a:r>
            <a:endParaRPr sz="1600">
              <a:solidFill>
                <a:srgbClr val="475569"/>
              </a:solidFill>
              <a:latin typeface="Inter"/>
              <a:ea typeface="Inter"/>
              <a:cs typeface="Inter"/>
              <a:sym typeface="Inter"/>
            </a:endParaRPr>
          </a:p>
          <a:p>
            <a:pPr indent="0" lvl="0" marL="0" rtl="0" algn="l">
              <a:spcBef>
                <a:spcPts val="0"/>
              </a:spcBef>
              <a:spcAft>
                <a:spcPts val="0"/>
              </a:spcAft>
              <a:buNone/>
            </a:pPr>
            <a:r>
              <a:t/>
            </a:r>
            <a:endParaRPr sz="1600">
              <a:solidFill>
                <a:srgbClr val="475569"/>
              </a:solidFill>
              <a:latin typeface="Inter"/>
              <a:ea typeface="Inter"/>
              <a:cs typeface="Inter"/>
              <a:sym typeface="Inter"/>
            </a:endParaRPr>
          </a:p>
          <a:p>
            <a:pPr indent="0" lvl="0" marL="0" rtl="0" algn="l">
              <a:spcBef>
                <a:spcPts val="0"/>
              </a:spcBef>
              <a:spcAft>
                <a:spcPts val="0"/>
              </a:spcAft>
              <a:buNone/>
            </a:pPr>
            <a:r>
              <a:rPr lang="it-IT" sz="1600">
                <a:solidFill>
                  <a:srgbClr val="475569"/>
                </a:solidFill>
                <a:latin typeface="Inter"/>
                <a:ea typeface="Inter"/>
                <a:cs typeface="Inter"/>
                <a:sym typeface="Inter"/>
              </a:rPr>
              <a:t>The idea is to map the search problem onto the GPU’s architecture:</a:t>
            </a:r>
            <a:endParaRPr sz="1600">
              <a:solidFill>
                <a:srgbClr val="475569"/>
              </a:solidFill>
              <a:latin typeface="Inter"/>
              <a:ea typeface="Inter"/>
              <a:cs typeface="Inter"/>
              <a:sym typeface="Inter"/>
            </a:endParaRPr>
          </a:p>
          <a:p>
            <a:pPr indent="-330200" lvl="0" marL="457200" rtl="0" algn="l">
              <a:spcBef>
                <a:spcPts val="0"/>
              </a:spcBef>
              <a:spcAft>
                <a:spcPts val="0"/>
              </a:spcAft>
              <a:buClr>
                <a:srgbClr val="475569"/>
              </a:buClr>
              <a:buSzPts val="1600"/>
              <a:buFont typeface="Inter"/>
              <a:buChar char="●"/>
            </a:pPr>
            <a:r>
              <a:rPr b="1" lang="it-IT" sz="1600">
                <a:solidFill>
                  <a:srgbClr val="475569"/>
                </a:solidFill>
                <a:latin typeface="Inter"/>
                <a:ea typeface="Inter"/>
                <a:cs typeface="Inter"/>
                <a:sym typeface="Inter"/>
              </a:rPr>
              <a:t>CUDA</a:t>
            </a:r>
            <a:r>
              <a:rPr b="1" lang="it-IT" sz="1600">
                <a:solidFill>
                  <a:srgbClr val="475569"/>
                </a:solidFill>
                <a:latin typeface="Inter"/>
                <a:ea typeface="Inter"/>
                <a:cs typeface="Inter"/>
                <a:sym typeface="Inter"/>
              </a:rPr>
              <a:t> grid 2D</a:t>
            </a:r>
            <a:r>
              <a:rPr lang="it-IT" sz="1600">
                <a:solidFill>
                  <a:srgbClr val="475569"/>
                </a:solidFill>
                <a:latin typeface="Inter"/>
                <a:ea typeface="Inter"/>
                <a:cs typeface="Inter"/>
                <a:sym typeface="Inter"/>
              </a:rPr>
              <a:t>: maps the frame grid. Each CUDA Block processes exactly one block of the current frame.</a:t>
            </a:r>
            <a:endParaRPr sz="1600">
              <a:solidFill>
                <a:srgbClr val="475569"/>
              </a:solidFill>
              <a:latin typeface="Inter"/>
              <a:ea typeface="Inter"/>
              <a:cs typeface="Inter"/>
              <a:sym typeface="Inter"/>
            </a:endParaRPr>
          </a:p>
          <a:p>
            <a:pPr indent="-330200" lvl="0" marL="457200" rtl="0" algn="l">
              <a:spcBef>
                <a:spcPts val="0"/>
              </a:spcBef>
              <a:spcAft>
                <a:spcPts val="0"/>
              </a:spcAft>
              <a:buClr>
                <a:srgbClr val="475569"/>
              </a:buClr>
              <a:buSzPts val="1600"/>
              <a:buFont typeface="Inter"/>
              <a:buChar char="●"/>
            </a:pPr>
            <a:r>
              <a:rPr b="1" lang="it-IT" sz="1600">
                <a:solidFill>
                  <a:srgbClr val="475569"/>
                </a:solidFill>
                <a:latin typeface="Inter"/>
                <a:ea typeface="Inter"/>
                <a:cs typeface="Inter"/>
                <a:sym typeface="Inter"/>
              </a:rPr>
              <a:t>CUDA</a:t>
            </a:r>
            <a:r>
              <a:rPr b="1" lang="it-IT" sz="1600">
                <a:solidFill>
                  <a:srgbClr val="475569"/>
                </a:solidFill>
                <a:latin typeface="Inter"/>
                <a:ea typeface="Inter"/>
                <a:cs typeface="Inter"/>
                <a:sym typeface="Inter"/>
              </a:rPr>
              <a:t> block 2D: </a:t>
            </a:r>
            <a:r>
              <a:rPr lang="it-IT" sz="1600">
                <a:solidFill>
                  <a:srgbClr val="475569"/>
                </a:solidFill>
                <a:latin typeface="Inter"/>
                <a:ea typeface="Inter"/>
                <a:cs typeface="Inter"/>
                <a:sym typeface="Inter"/>
              </a:rPr>
              <a:t>maps the search window (frame grid). Each thread calculates the SAD for at least one candidate reference frame block.</a:t>
            </a:r>
            <a:endParaRPr b="1" sz="1600">
              <a:solidFill>
                <a:srgbClr val="475569"/>
              </a:solidFill>
              <a:latin typeface="Inter"/>
              <a:ea typeface="Inter"/>
              <a:cs typeface="Inter"/>
              <a:sym typeface="Inter"/>
            </a:endParaRPr>
          </a:p>
        </p:txBody>
      </p:sp>
      <p:sp>
        <p:nvSpPr>
          <p:cNvPr id="382" name="Google Shape;382;p37"/>
          <p:cNvSpPr txBox="1"/>
          <p:nvPr/>
        </p:nvSpPr>
        <p:spPr>
          <a:xfrm>
            <a:off x="816675" y="3842150"/>
            <a:ext cx="6527100" cy="2462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00">
                <a:solidFill>
                  <a:srgbClr val="475569"/>
                </a:solidFill>
                <a:latin typeface="Inter"/>
                <a:ea typeface="Inter"/>
                <a:cs typeface="Inter"/>
                <a:sym typeface="Inter"/>
              </a:rPr>
              <a:t>Workflow idea:</a:t>
            </a:r>
            <a:endParaRPr b="1" sz="1600">
              <a:solidFill>
                <a:srgbClr val="475569"/>
              </a:solidFill>
              <a:latin typeface="Inter"/>
              <a:ea typeface="Inter"/>
              <a:cs typeface="Inter"/>
              <a:sym typeface="Inter"/>
            </a:endParaRPr>
          </a:p>
          <a:p>
            <a:pPr indent="-330200" lvl="0" marL="457200" rtl="0" algn="l">
              <a:spcBef>
                <a:spcPts val="0"/>
              </a:spcBef>
              <a:spcAft>
                <a:spcPts val="0"/>
              </a:spcAft>
              <a:buClr>
                <a:srgbClr val="475569"/>
              </a:buClr>
              <a:buSzPts val="1600"/>
              <a:buFont typeface="Inter"/>
              <a:buAutoNum type="arabicPeriod"/>
            </a:pPr>
            <a:r>
              <a:rPr b="1" lang="it-IT" sz="1600">
                <a:solidFill>
                  <a:srgbClr val="475569"/>
                </a:solidFill>
                <a:latin typeface="Inter"/>
                <a:ea typeface="Inter"/>
                <a:cs typeface="Inter"/>
                <a:sym typeface="Inter"/>
              </a:rPr>
              <a:t>Host Side</a:t>
            </a:r>
            <a:r>
              <a:rPr lang="it-IT" sz="1600">
                <a:solidFill>
                  <a:srgbClr val="475569"/>
                </a:solidFill>
                <a:latin typeface="Inter"/>
                <a:ea typeface="Inter"/>
                <a:cs typeface="Inter"/>
                <a:sym typeface="Inter"/>
              </a:rPr>
              <a:t>: transfer (H2D) the current and reference frames into GMEM.</a:t>
            </a:r>
            <a:endParaRPr sz="1600">
              <a:solidFill>
                <a:srgbClr val="475569"/>
              </a:solidFill>
              <a:latin typeface="Inter"/>
              <a:ea typeface="Inter"/>
              <a:cs typeface="Inter"/>
              <a:sym typeface="Inter"/>
            </a:endParaRPr>
          </a:p>
          <a:p>
            <a:pPr indent="-330200" lvl="0" marL="457200" rtl="0" algn="l">
              <a:spcBef>
                <a:spcPts val="0"/>
              </a:spcBef>
              <a:spcAft>
                <a:spcPts val="0"/>
              </a:spcAft>
              <a:buClr>
                <a:srgbClr val="475569"/>
              </a:buClr>
              <a:buSzPts val="1600"/>
              <a:buFont typeface="Inter"/>
              <a:buAutoNum type="arabicPeriod"/>
            </a:pPr>
            <a:r>
              <a:rPr b="1" lang="it-IT" sz="1600">
                <a:solidFill>
                  <a:srgbClr val="475569"/>
                </a:solidFill>
                <a:latin typeface="Inter"/>
                <a:ea typeface="Inter"/>
                <a:cs typeface="Inter"/>
                <a:sym typeface="Inter"/>
              </a:rPr>
              <a:t>Kernel Side:</a:t>
            </a:r>
            <a:endParaRPr sz="1600">
              <a:solidFill>
                <a:srgbClr val="475569"/>
              </a:solidFill>
              <a:latin typeface="Inter"/>
              <a:ea typeface="Inter"/>
              <a:cs typeface="Inter"/>
              <a:sym typeface="Inter"/>
            </a:endParaRPr>
          </a:p>
          <a:p>
            <a:pPr indent="-330200" lvl="1" marL="914400" rtl="0" algn="l">
              <a:spcBef>
                <a:spcPts val="0"/>
              </a:spcBef>
              <a:spcAft>
                <a:spcPts val="0"/>
              </a:spcAft>
              <a:buClr>
                <a:srgbClr val="475569"/>
              </a:buClr>
              <a:buSzPts val="1600"/>
              <a:buFont typeface="Inter"/>
              <a:buAutoNum type="alphaLcPeriod"/>
            </a:pPr>
            <a:r>
              <a:rPr b="1" lang="it-IT" sz="1600">
                <a:solidFill>
                  <a:srgbClr val="475569"/>
                </a:solidFill>
                <a:latin typeface="Inter"/>
                <a:ea typeface="Inter"/>
                <a:cs typeface="Inter"/>
                <a:sym typeface="Inter"/>
              </a:rPr>
              <a:t>Candidates Evaluation</a:t>
            </a:r>
            <a:r>
              <a:rPr lang="it-IT" sz="1600">
                <a:solidFill>
                  <a:srgbClr val="475569"/>
                </a:solidFill>
                <a:latin typeface="Inter"/>
                <a:ea typeface="Inter"/>
                <a:cs typeface="Inter"/>
                <a:sym typeface="Inter"/>
              </a:rPr>
              <a:t>: threads compute the SAD in parallel for all search positions (reference frame blocks).</a:t>
            </a:r>
            <a:endParaRPr sz="1600">
              <a:solidFill>
                <a:srgbClr val="475569"/>
              </a:solidFill>
              <a:latin typeface="Inter"/>
              <a:ea typeface="Inter"/>
              <a:cs typeface="Inter"/>
              <a:sym typeface="Inter"/>
            </a:endParaRPr>
          </a:p>
          <a:p>
            <a:pPr indent="-330200" lvl="1" marL="914400" rtl="0" algn="l">
              <a:spcBef>
                <a:spcPts val="0"/>
              </a:spcBef>
              <a:spcAft>
                <a:spcPts val="0"/>
              </a:spcAft>
              <a:buClr>
                <a:srgbClr val="475569"/>
              </a:buClr>
              <a:buSzPts val="1600"/>
              <a:buFont typeface="Inter"/>
              <a:buAutoNum type="alphaLcPeriod"/>
            </a:pPr>
            <a:r>
              <a:rPr b="1" lang="it-IT" sz="1600">
                <a:solidFill>
                  <a:srgbClr val="475569"/>
                </a:solidFill>
                <a:latin typeface="Inter"/>
                <a:ea typeface="Inter"/>
                <a:cs typeface="Inter"/>
                <a:sym typeface="Inter"/>
              </a:rPr>
              <a:t>Block-Wide Reduction</a:t>
            </a:r>
            <a:r>
              <a:rPr lang="it-IT" sz="1600">
                <a:solidFill>
                  <a:srgbClr val="475569"/>
                </a:solidFill>
                <a:latin typeface="Inter"/>
                <a:ea typeface="Inter"/>
                <a:cs typeface="Inter"/>
                <a:sym typeface="Inter"/>
              </a:rPr>
              <a:t>: </a:t>
            </a:r>
            <a:r>
              <a:rPr lang="it-IT" sz="1600">
                <a:solidFill>
                  <a:srgbClr val="475569"/>
                </a:solidFill>
                <a:latin typeface="Inter"/>
                <a:ea typeface="Inter"/>
                <a:cs typeface="Inter"/>
                <a:sym typeface="Inter"/>
              </a:rPr>
              <a:t>parallel</a:t>
            </a:r>
            <a:r>
              <a:rPr lang="it-IT" sz="1600">
                <a:solidFill>
                  <a:srgbClr val="475569"/>
                </a:solidFill>
                <a:latin typeface="Inter"/>
                <a:ea typeface="Inter"/>
                <a:cs typeface="Inter"/>
                <a:sym typeface="Inter"/>
              </a:rPr>
              <a:t> reduction within the block to find the absolute minimum SAD (and shortest MV) among all candidates. The final result is saved to GMEM.</a:t>
            </a:r>
            <a:endParaRPr sz="1600">
              <a:solidFill>
                <a:srgbClr val="475569"/>
              </a:solidFill>
              <a:latin typeface="Inter"/>
              <a:ea typeface="Inter"/>
              <a:cs typeface="Inter"/>
              <a:sym typeface="Inter"/>
            </a:endParaRPr>
          </a:p>
          <a:p>
            <a:pPr indent="-330200" lvl="0" marL="457200" rtl="0" algn="l">
              <a:spcBef>
                <a:spcPts val="0"/>
              </a:spcBef>
              <a:spcAft>
                <a:spcPts val="0"/>
              </a:spcAft>
              <a:buClr>
                <a:srgbClr val="475569"/>
              </a:buClr>
              <a:buSzPts val="1600"/>
              <a:buFont typeface="Inter"/>
              <a:buAutoNum type="arabicPeriod"/>
            </a:pPr>
            <a:r>
              <a:rPr b="1" lang="it-IT" sz="1600">
                <a:solidFill>
                  <a:srgbClr val="475569"/>
                </a:solidFill>
                <a:latin typeface="Inter"/>
                <a:ea typeface="Inter"/>
                <a:cs typeface="Inter"/>
                <a:sym typeface="Inter"/>
              </a:rPr>
              <a:t>Host Side: </a:t>
            </a:r>
            <a:r>
              <a:rPr lang="it-IT" sz="1600">
                <a:solidFill>
                  <a:srgbClr val="475569"/>
                </a:solidFill>
                <a:latin typeface="Inter"/>
                <a:ea typeface="Inter"/>
                <a:cs typeface="Inter"/>
                <a:sym typeface="Inter"/>
              </a:rPr>
              <a:t>transfer (D2H) the final MVs result back to the host.</a:t>
            </a:r>
            <a:endParaRPr sz="1600">
              <a:solidFill>
                <a:srgbClr val="475569"/>
              </a:solidFill>
              <a:latin typeface="Inter"/>
              <a:ea typeface="Inter"/>
              <a:cs typeface="Inter"/>
              <a:sym typeface="Inter"/>
            </a:endParaRPr>
          </a:p>
        </p:txBody>
      </p:sp>
      <p:pic>
        <p:nvPicPr>
          <p:cNvPr descr="graph TD&#10;    classDef host fill:#ffffff,stroke:#76b900,stroke-width:2px,color:#333333;&#10;    classDef kernel fill:#76b900,stroke:#222222,stroke-width:2px,color:#ffffff,font-weight:bold;&#10;    classDef thread fill:#f4f9f1,stroke:#76b900,stroke-width:2px,color:#333333;&#10;    classDef memory fill:#e6ffe6,stroke:#76b900,stroke-width:1px,color:#333333;&#10;    classDef highlight fill:#ffe6e6,stroke:#ff5f56,stroke-width:2px,color:#333333;&#10;    classDef dots fill:none,stroke:none,color:#76b900,font-size:24px,font-weight:bold;&#10;&#10;    subgraph Host_In [&quot;Host Side&quot;]&#10;        H_IN[&quot;Current &amp; Ref Frames&quot;]:::host&#10;    end&#10;&#10;    GMEM_IN[(&quot;GPU Global Mem&lt;br/&gt;(Input)&quot;)]:::memory&#10;    &#10;    H_IN ==&gt;|&quot;H2D&quot;| GMEM_IN&#10;&#10;    K{{&quot;Kernel Launch&lt;br/&gt;Grid: Frame&lt;br/&gt;Block: Search Window&quot;}}:::kernel&#10;    &#10;    GMEM_IN -.-&gt; K&#10;&#10;    subgraph CUDA_Block [&quot;CUDA Block&quot;]&#10;        T0[&quot;Thread 0&lt;br/&gt;(SAD Cand 0)&quot;]:::thread&#10;        TDots[&quot;...&quot;]:::dots&#10;        TN[&quot;Thread N&lt;br/&gt;(SAD Cand N)&quot;]:::thread&#10;&#10;        REDUCE{&quot;Intra-block&lt;br/&gt;Parallel Reduction&lt;br/&gt;(Min SAD &amp; Best MV)&quot;}:::highlight&#10;    end&#10;&#10;    K ==&gt; T0&#10;    K ==&gt; TDots&#10;    K ==&gt; TN&#10;&#10;    T0 ---&gt; REDUCE&#10;    TDots ---&gt; REDUCE&#10;    TN ---&gt; REDUCE&#10;&#10;    GMEM_OUT[(&quot;GPU Global Mem&lt;br/&gt;(Final MVs)&quot;)]:::memory&#10;    &#10;    REDUCE ==&gt;|&quot;Writes MV&quot;| GMEM_OUT&#10;&#10;    subgraph Host_Out [&quot;Host Side&quot;]&#10;        H_OUT[&quot;Output Motion Vectors&quot;]:::host&#10;    end&#10;&#10;    GMEM_OUT ==&gt;|&quot;D2H&quot;| H_OUT" id="383" name="Google Shape;383;p37" title="mermaid-graph/default"/>
          <p:cNvPicPr preferRelativeResize="0"/>
          <p:nvPr/>
        </p:nvPicPr>
        <p:blipFill>
          <a:blip r:embed="rId4">
            <a:alphaModFix/>
          </a:blip>
          <a:stretch>
            <a:fillRect/>
          </a:stretch>
        </p:blipFill>
        <p:spPr>
          <a:xfrm>
            <a:off x="8187695" y="919200"/>
            <a:ext cx="2672349" cy="5746576"/>
          </a:xfrm>
          <a:prstGeom prst="rect">
            <a:avLst/>
          </a:prstGeom>
          <a:noFill/>
          <a:ln>
            <a:noFill/>
          </a:ln>
        </p:spPr>
      </p:pic>
      <p:sp>
        <p:nvSpPr>
          <p:cNvPr id="384" name="Google Shape;384;p37"/>
          <p:cNvSpPr txBox="1"/>
          <p:nvPr/>
        </p:nvSpPr>
        <p:spPr>
          <a:xfrm>
            <a:off x="771525" y="608825"/>
            <a:ext cx="6731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a:t>
            </a:r>
            <a:endParaRPr b="0" sz="1400" u="none" cap="none" strike="noStrike">
              <a:solidFill>
                <a:srgbClr val="000000"/>
              </a:solidFill>
              <a:latin typeface="Arial"/>
              <a:ea typeface="Arial"/>
              <a:cs typeface="Arial"/>
              <a:sym typeface="Arial"/>
            </a:endParaRPr>
          </a:p>
        </p:txBody>
      </p:sp>
      <p:sp>
        <p:nvSpPr>
          <p:cNvPr id="385" name="Google Shape;385;p37"/>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86" name="Google Shape;386;p3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0" name="Shape 390"/>
        <p:cNvGrpSpPr/>
        <p:nvPr/>
      </p:nvGrpSpPr>
      <p:grpSpPr>
        <a:xfrm>
          <a:off x="0" y="0"/>
          <a:ext cx="0" cy="0"/>
          <a:chOff x="0" y="0"/>
          <a:chExt cx="0" cy="0"/>
        </a:xfrm>
      </p:grpSpPr>
      <p:sp>
        <p:nvSpPr>
          <p:cNvPr id="391" name="Google Shape;391;p38"/>
          <p:cNvSpPr txBox="1"/>
          <p:nvPr/>
        </p:nvSpPr>
        <p:spPr>
          <a:xfrm>
            <a:off x="6786825" y="1201875"/>
            <a:ext cx="54051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BlockDim: 2 dimensions </a:t>
            </a:r>
            <a:r>
              <a:rPr b="1" lang="it-IT" sz="1650">
                <a:solidFill>
                  <a:srgbClr val="475569"/>
                </a:solidFill>
                <a:latin typeface="Inter"/>
                <a:ea typeface="Inter"/>
                <a:cs typeface="Inter"/>
                <a:sym typeface="Inter"/>
              </a:rPr>
              <a:t>[blocksX, blocksY]</a:t>
            </a:r>
            <a:r>
              <a:rPr b="1" lang="it-IT" sz="1650">
                <a:solidFill>
                  <a:srgbClr val="475569"/>
                </a:solidFill>
                <a:latin typeface="Inter"/>
                <a:ea typeface="Inter"/>
                <a:cs typeface="Inter"/>
                <a:sym typeface="Inter"/>
              </a:rPr>
              <a:t>:</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CUDA block conceptually maps the search area, but its dimensions are strictly forced to be a square.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Each CUDA thread computes the SAD value for one or more specifically assigned candidate blocks in the reference frame.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total number of threads must be a power of 2 and the total threads must not exceed the hardware limit.</a:t>
            </a:r>
            <a:endParaRPr sz="1650">
              <a:solidFill>
                <a:srgbClr val="475569"/>
              </a:solidFill>
              <a:latin typeface="Inter"/>
              <a:ea typeface="Inter"/>
              <a:cs typeface="Inter"/>
              <a:sym typeface="Inter"/>
            </a:endParaRPr>
          </a:p>
        </p:txBody>
      </p:sp>
      <p:sp>
        <p:nvSpPr>
          <p:cNvPr id="392" name="Google Shape;392;p38"/>
          <p:cNvSpPr txBox="1"/>
          <p:nvPr/>
        </p:nvSpPr>
        <p:spPr>
          <a:xfrm>
            <a:off x="771525" y="1496825"/>
            <a:ext cx="6015300" cy="1523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GridDim: 2 dimensions [blocksX, blocksY]</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CUDA grid has the same dimensions as the frame grid.</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Each CUDA block is responsible for matching its corresponding block in the current frame against the reference frame.</a:t>
            </a:r>
            <a:endParaRPr b="1" sz="1650">
              <a:solidFill>
                <a:srgbClr val="475569"/>
              </a:solidFill>
              <a:latin typeface="Inter"/>
              <a:ea typeface="Inter"/>
              <a:cs typeface="Inter"/>
              <a:sym typeface="Inter"/>
            </a:endParaRPr>
          </a:p>
        </p:txBody>
      </p:sp>
      <p:sp>
        <p:nvSpPr>
          <p:cNvPr id="393" name="Google Shape;393;p38"/>
          <p:cNvSpPr/>
          <p:nvPr/>
        </p:nvSpPr>
        <p:spPr>
          <a:xfrm>
            <a:off x="3999375" y="6007025"/>
            <a:ext cx="18798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blockIdx.x</a:t>
            </a:r>
            <a:r>
              <a:rPr b="1" lang="it-IT" sz="1150">
                <a:solidFill>
                  <a:srgbClr val="475569"/>
                </a:solidFill>
                <a:latin typeface="Inter"/>
                <a:ea typeface="Inter"/>
                <a:cs typeface="Inter"/>
                <a:sym typeface="Inter"/>
              </a:rPr>
              <a:t>: blockX</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blockIdx.y</a:t>
            </a:r>
            <a:r>
              <a:rPr b="1" lang="it-IT" sz="1150">
                <a:solidFill>
                  <a:srgbClr val="475569"/>
                </a:solidFill>
                <a:latin typeface="Inter"/>
                <a:ea typeface="Inter"/>
                <a:cs typeface="Inter"/>
                <a:sym typeface="Inter"/>
              </a:rPr>
              <a:t>: BlockY</a:t>
            </a:r>
            <a:endParaRPr b="1" sz="1150">
              <a:solidFill>
                <a:srgbClr val="475569"/>
              </a:solidFill>
              <a:latin typeface="Inter"/>
              <a:ea typeface="Inter"/>
              <a:cs typeface="Inter"/>
              <a:sym typeface="Inter"/>
            </a:endParaRPr>
          </a:p>
          <a:p>
            <a:pPr indent="0" lvl="0" marL="0" rtl="0" algn="l">
              <a:spcBef>
                <a:spcPts val="0"/>
              </a:spcBef>
              <a:spcAft>
                <a:spcPts val="0"/>
              </a:spcAft>
              <a:buNone/>
            </a:pPr>
            <a:r>
              <a:t/>
            </a:r>
            <a:endParaRPr b="1" sz="1150">
              <a:solidFill>
                <a:srgbClr val="475569"/>
              </a:solidFill>
              <a:latin typeface="Inter"/>
              <a:ea typeface="Inter"/>
              <a:cs typeface="Inter"/>
              <a:sym typeface="Inter"/>
            </a:endParaRPr>
          </a:p>
        </p:txBody>
      </p:sp>
      <p:sp>
        <p:nvSpPr>
          <p:cNvPr id="394" name="Google Shape;394;p38"/>
          <p:cNvSpPr/>
          <p:nvPr/>
        </p:nvSpPr>
        <p:spPr>
          <a:xfrm>
            <a:off x="1939538" y="6359700"/>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g</a:t>
            </a:r>
            <a:r>
              <a:rPr lang="it-IT" sz="1000">
                <a:solidFill>
                  <a:srgbClr val="0F172A"/>
                </a:solidFill>
                <a:latin typeface="Outfit"/>
                <a:ea typeface="Outfit"/>
                <a:cs typeface="Outfit"/>
                <a:sym typeface="Outfit"/>
              </a:rPr>
              <a:t>rid</a:t>
            </a:r>
            <a:endParaRPr sz="1000">
              <a:solidFill>
                <a:srgbClr val="0F172A"/>
              </a:solidFill>
              <a:latin typeface="Outfit"/>
              <a:ea typeface="Outfit"/>
              <a:cs typeface="Outfit"/>
              <a:sym typeface="Outfit"/>
            </a:endParaRPr>
          </a:p>
        </p:txBody>
      </p:sp>
      <p:sp>
        <p:nvSpPr>
          <p:cNvPr id="395" name="Google Shape;395;p38"/>
          <p:cNvSpPr/>
          <p:nvPr/>
        </p:nvSpPr>
        <p:spPr>
          <a:xfrm>
            <a:off x="9804000" y="5462575"/>
            <a:ext cx="23880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tidx = threadIdx.y * BlockX + </a:t>
            </a:r>
            <a:endParaRPr b="1" sz="1150">
              <a:solidFill>
                <a:srgbClr val="475569"/>
              </a:solidFill>
              <a:latin typeface="Inter"/>
              <a:ea typeface="Inter"/>
              <a:cs typeface="Inter"/>
              <a:sym typeface="Inter"/>
            </a:endParaRPr>
          </a:p>
          <a:p>
            <a:pPr indent="457200" lvl="0" marL="0" rtl="0" algn="l">
              <a:spcBef>
                <a:spcPts val="0"/>
              </a:spcBef>
              <a:spcAft>
                <a:spcPts val="0"/>
              </a:spcAft>
              <a:buNone/>
            </a:pPr>
            <a:r>
              <a:rPr b="1" lang="it-IT" sz="1150">
                <a:solidFill>
                  <a:srgbClr val="475569"/>
                </a:solidFill>
                <a:latin typeface="Inter"/>
                <a:ea typeface="Inter"/>
                <a:cs typeface="Inter"/>
                <a:sym typeface="Inter"/>
              </a:rPr>
              <a:t>threadIdx.x;</a:t>
            </a:r>
            <a:endParaRPr b="1" sz="1150">
              <a:solidFill>
                <a:srgbClr val="475569"/>
              </a:solidFill>
              <a:latin typeface="Inter"/>
              <a:ea typeface="Inter"/>
              <a:cs typeface="Inter"/>
              <a:sym typeface="Inter"/>
            </a:endParaRPr>
          </a:p>
        </p:txBody>
      </p:sp>
      <p:sp>
        <p:nvSpPr>
          <p:cNvPr id="396" name="Google Shape;396;p38"/>
          <p:cNvSpPr/>
          <p:nvPr/>
        </p:nvSpPr>
        <p:spPr>
          <a:xfrm>
            <a:off x="7822138" y="6359700"/>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a:t>
            </a:r>
            <a:r>
              <a:rPr lang="it-IT" sz="1000">
                <a:solidFill>
                  <a:srgbClr val="0F172A"/>
                </a:solidFill>
                <a:latin typeface="Outfit"/>
                <a:ea typeface="Outfit"/>
                <a:cs typeface="Outfit"/>
                <a:sym typeface="Outfit"/>
              </a:rPr>
              <a:t>Block</a:t>
            </a:r>
            <a:endParaRPr sz="1000">
              <a:solidFill>
                <a:srgbClr val="0F172A"/>
              </a:solidFill>
              <a:latin typeface="Outfit"/>
              <a:ea typeface="Outfit"/>
              <a:cs typeface="Outfit"/>
              <a:sym typeface="Outfit"/>
            </a:endParaRPr>
          </a:p>
        </p:txBody>
      </p:sp>
      <p:cxnSp>
        <p:nvCxnSpPr>
          <p:cNvPr id="397" name="Google Shape;397;p38"/>
          <p:cNvCxnSpPr/>
          <p:nvPr/>
        </p:nvCxnSpPr>
        <p:spPr>
          <a:xfrm>
            <a:off x="2533363" y="4066825"/>
            <a:ext cx="693000" cy="0"/>
          </a:xfrm>
          <a:prstGeom prst="straightConnector1">
            <a:avLst/>
          </a:prstGeom>
          <a:noFill/>
          <a:ln cap="flat" cmpd="sng" w="28575">
            <a:solidFill>
              <a:srgbClr val="757575"/>
            </a:solidFill>
            <a:prstDash val="solid"/>
            <a:round/>
            <a:headEnd len="med" w="med" type="none"/>
            <a:tailEnd len="med" w="med" type="stealth"/>
          </a:ln>
        </p:spPr>
      </p:cxnSp>
      <p:sp>
        <p:nvSpPr>
          <p:cNvPr id="398" name="Google Shape;398;p38"/>
          <p:cNvSpPr txBox="1"/>
          <p:nvPr/>
        </p:nvSpPr>
        <p:spPr>
          <a:xfrm>
            <a:off x="2622613" y="3758413"/>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cxnSp>
        <p:nvCxnSpPr>
          <p:cNvPr id="399" name="Google Shape;399;p38"/>
          <p:cNvCxnSpPr/>
          <p:nvPr/>
        </p:nvCxnSpPr>
        <p:spPr>
          <a:xfrm>
            <a:off x="1557075" y="4927875"/>
            <a:ext cx="0" cy="633300"/>
          </a:xfrm>
          <a:prstGeom prst="straightConnector1">
            <a:avLst/>
          </a:prstGeom>
          <a:noFill/>
          <a:ln cap="flat" cmpd="sng" w="28575">
            <a:solidFill>
              <a:srgbClr val="757575"/>
            </a:solidFill>
            <a:prstDash val="solid"/>
            <a:round/>
            <a:headEnd len="med" w="med" type="none"/>
            <a:tailEnd len="med" w="med" type="stealth"/>
          </a:ln>
        </p:spPr>
      </p:cxnSp>
      <p:sp>
        <p:nvSpPr>
          <p:cNvPr id="400" name="Google Shape;400;p38"/>
          <p:cNvSpPr txBox="1"/>
          <p:nvPr/>
        </p:nvSpPr>
        <p:spPr>
          <a:xfrm rot="-5400000">
            <a:off x="1123575" y="4972725"/>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Dy</a:t>
            </a:r>
            <a:endParaRPr sz="1000">
              <a:solidFill>
                <a:schemeClr val="dk1"/>
              </a:solidFill>
              <a:latin typeface="Calibri"/>
              <a:ea typeface="Calibri"/>
              <a:cs typeface="Calibri"/>
              <a:sym typeface="Calibri"/>
            </a:endParaRPr>
          </a:p>
        </p:txBody>
      </p:sp>
      <p:cxnSp>
        <p:nvCxnSpPr>
          <p:cNvPr id="401" name="Google Shape;401;p38"/>
          <p:cNvCxnSpPr/>
          <p:nvPr/>
        </p:nvCxnSpPr>
        <p:spPr>
          <a:xfrm>
            <a:off x="8304513" y="4031400"/>
            <a:ext cx="693000" cy="0"/>
          </a:xfrm>
          <a:prstGeom prst="straightConnector1">
            <a:avLst/>
          </a:prstGeom>
          <a:noFill/>
          <a:ln cap="flat" cmpd="sng" w="28575">
            <a:solidFill>
              <a:srgbClr val="757575"/>
            </a:solidFill>
            <a:prstDash val="solid"/>
            <a:round/>
            <a:headEnd len="med" w="med" type="none"/>
            <a:tailEnd len="med" w="med" type="stealth"/>
          </a:ln>
        </p:spPr>
      </p:cxnSp>
      <p:sp>
        <p:nvSpPr>
          <p:cNvPr id="402" name="Google Shape;402;p38"/>
          <p:cNvSpPr txBox="1"/>
          <p:nvPr/>
        </p:nvSpPr>
        <p:spPr>
          <a:xfrm>
            <a:off x="8434288" y="3758425"/>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cxnSp>
        <p:nvCxnSpPr>
          <p:cNvPr id="403" name="Google Shape;403;p38"/>
          <p:cNvCxnSpPr/>
          <p:nvPr/>
        </p:nvCxnSpPr>
        <p:spPr>
          <a:xfrm>
            <a:off x="7623875" y="4823913"/>
            <a:ext cx="0" cy="582300"/>
          </a:xfrm>
          <a:prstGeom prst="straightConnector1">
            <a:avLst/>
          </a:prstGeom>
          <a:noFill/>
          <a:ln cap="flat" cmpd="sng" w="28575">
            <a:solidFill>
              <a:srgbClr val="757575"/>
            </a:solidFill>
            <a:prstDash val="solid"/>
            <a:round/>
            <a:headEnd len="med" w="med" type="none"/>
            <a:tailEnd len="med" w="med" type="stealth"/>
          </a:ln>
        </p:spPr>
      </p:cxnSp>
      <p:sp>
        <p:nvSpPr>
          <p:cNvPr id="404" name="Google Shape;404;p38"/>
          <p:cNvSpPr txBox="1"/>
          <p:nvPr/>
        </p:nvSpPr>
        <p:spPr>
          <a:xfrm rot="-5400000">
            <a:off x="7190375" y="4819725"/>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Dy</a:t>
            </a:r>
            <a:endParaRPr sz="1000">
              <a:solidFill>
                <a:schemeClr val="dk1"/>
              </a:solidFill>
              <a:latin typeface="Calibri"/>
              <a:ea typeface="Calibri"/>
              <a:cs typeface="Calibri"/>
              <a:sym typeface="Calibri"/>
            </a:endParaRPr>
          </a:p>
        </p:txBody>
      </p:sp>
      <p:pic>
        <p:nvPicPr>
          <p:cNvPr id="405" name="Google Shape;405;p38"/>
          <p:cNvPicPr preferRelativeResize="0"/>
          <p:nvPr/>
        </p:nvPicPr>
        <p:blipFill>
          <a:blip r:embed="rId4">
            <a:alphaModFix/>
          </a:blip>
          <a:stretch>
            <a:fillRect/>
          </a:stretch>
        </p:blipFill>
        <p:spPr>
          <a:xfrm>
            <a:off x="1783525" y="4161647"/>
            <a:ext cx="2050850" cy="2067078"/>
          </a:xfrm>
          <a:prstGeom prst="rect">
            <a:avLst/>
          </a:prstGeom>
          <a:noFill/>
          <a:ln>
            <a:noFill/>
          </a:ln>
        </p:spPr>
      </p:pic>
      <p:cxnSp>
        <p:nvCxnSpPr>
          <p:cNvPr id="406" name="Google Shape;406;p38"/>
          <p:cNvCxnSpPr>
            <a:endCxn id="393" idx="1"/>
          </p:cNvCxnSpPr>
          <p:nvPr/>
        </p:nvCxnSpPr>
        <p:spPr>
          <a:xfrm>
            <a:off x="3681075" y="6122075"/>
            <a:ext cx="318300" cy="115800"/>
          </a:xfrm>
          <a:prstGeom prst="straightConnector1">
            <a:avLst/>
          </a:prstGeom>
          <a:noFill/>
          <a:ln cap="flat" cmpd="sng" w="38100">
            <a:solidFill>
              <a:srgbClr val="757575"/>
            </a:solidFill>
            <a:prstDash val="solid"/>
            <a:round/>
            <a:headEnd len="med" w="med" type="stealth"/>
            <a:tailEnd len="med" w="med" type="none"/>
          </a:ln>
        </p:spPr>
      </p:cxnSp>
      <p:pic>
        <p:nvPicPr>
          <p:cNvPr id="407" name="Google Shape;407;p38"/>
          <p:cNvPicPr preferRelativeResize="0"/>
          <p:nvPr/>
        </p:nvPicPr>
        <p:blipFill>
          <a:blip r:embed="rId5">
            <a:alphaModFix/>
          </a:blip>
          <a:stretch>
            <a:fillRect/>
          </a:stretch>
        </p:blipFill>
        <p:spPr>
          <a:xfrm>
            <a:off x="7710795" y="4215063"/>
            <a:ext cx="2050855" cy="2058925"/>
          </a:xfrm>
          <a:prstGeom prst="rect">
            <a:avLst/>
          </a:prstGeom>
          <a:noFill/>
          <a:ln>
            <a:noFill/>
          </a:ln>
        </p:spPr>
      </p:pic>
      <p:cxnSp>
        <p:nvCxnSpPr>
          <p:cNvPr id="408" name="Google Shape;408;p38"/>
          <p:cNvCxnSpPr>
            <a:stCxn id="395" idx="0"/>
          </p:cNvCxnSpPr>
          <p:nvPr/>
        </p:nvCxnSpPr>
        <p:spPr>
          <a:xfrm rot="10800000">
            <a:off x="9651000" y="5177275"/>
            <a:ext cx="1347000" cy="285300"/>
          </a:xfrm>
          <a:prstGeom prst="straightConnector1">
            <a:avLst/>
          </a:prstGeom>
          <a:noFill/>
          <a:ln cap="flat" cmpd="sng" w="28575">
            <a:solidFill>
              <a:srgbClr val="757575"/>
            </a:solidFill>
            <a:prstDash val="solid"/>
            <a:round/>
            <a:headEnd len="med" w="med" type="none"/>
            <a:tailEnd len="med" w="med" type="stealth"/>
          </a:ln>
        </p:spPr>
      </p:cxnSp>
      <p:sp>
        <p:nvSpPr>
          <p:cNvPr id="409" name="Google Shape;409;p38"/>
          <p:cNvSpPr txBox="1"/>
          <p:nvPr/>
        </p:nvSpPr>
        <p:spPr>
          <a:xfrm>
            <a:off x="771525" y="608825"/>
            <a:ext cx="75330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 grid and block dimensions</a:t>
            </a:r>
            <a:endParaRPr b="0" sz="1400" u="none" cap="none" strike="noStrike">
              <a:solidFill>
                <a:srgbClr val="000000"/>
              </a:solidFill>
              <a:latin typeface="Arial"/>
              <a:ea typeface="Arial"/>
              <a:cs typeface="Arial"/>
              <a:sym typeface="Arial"/>
            </a:endParaRPr>
          </a:p>
        </p:txBody>
      </p:sp>
      <p:sp>
        <p:nvSpPr>
          <p:cNvPr id="410" name="Google Shape;410;p38"/>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11" name="Google Shape;411;p38"/>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15" name="Shape 415"/>
        <p:cNvGrpSpPr/>
        <p:nvPr/>
      </p:nvGrpSpPr>
      <p:grpSpPr>
        <a:xfrm>
          <a:off x="0" y="0"/>
          <a:ext cx="0" cy="0"/>
          <a:chOff x="0" y="0"/>
          <a:chExt cx="0" cy="0"/>
        </a:xfrm>
      </p:grpSpPr>
      <p:pic>
        <p:nvPicPr>
          <p:cNvPr id="416" name="Google Shape;416;p39"/>
          <p:cNvPicPr preferRelativeResize="0"/>
          <p:nvPr/>
        </p:nvPicPr>
        <p:blipFill>
          <a:blip r:embed="rId4">
            <a:alphaModFix/>
          </a:blip>
          <a:stretch>
            <a:fillRect/>
          </a:stretch>
        </p:blipFill>
        <p:spPr>
          <a:xfrm>
            <a:off x="771525" y="1294000"/>
            <a:ext cx="5758751" cy="281189"/>
          </a:xfrm>
          <a:prstGeom prst="rect">
            <a:avLst/>
          </a:prstGeom>
          <a:noFill/>
          <a:ln>
            <a:noFill/>
          </a:ln>
        </p:spPr>
      </p:pic>
      <p:sp>
        <p:nvSpPr>
          <p:cNvPr id="417" name="Google Shape;417;p39"/>
          <p:cNvSpPr txBox="1"/>
          <p:nvPr/>
        </p:nvSpPr>
        <p:spPr>
          <a:xfrm>
            <a:off x="771525" y="1519550"/>
            <a:ext cx="5657100" cy="1200600"/>
          </a:xfrm>
          <a:prstGeom prst="rect">
            <a:avLst/>
          </a:prstGeom>
          <a:noFill/>
          <a:ln>
            <a:noFill/>
          </a:ln>
        </p:spPr>
        <p:txBody>
          <a:bodyPr anchorCtr="0" anchor="t" bIns="91425" lIns="91425" spcFirstLastPara="1" rIns="91425" wrap="square" tIns="91425">
            <a:spAutoFit/>
          </a:bodyPr>
          <a:lstStyle/>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Sequentially computes the SAD value between the current frame block and a specific candidate block within the reference frame, comparing pixel by pixel.</a:t>
            </a:r>
            <a:endParaRPr sz="1650">
              <a:solidFill>
                <a:srgbClr val="475569"/>
              </a:solidFill>
              <a:latin typeface="Inter"/>
              <a:ea typeface="Inter"/>
              <a:cs typeface="Inter"/>
              <a:sym typeface="Inter"/>
            </a:endParaRPr>
          </a:p>
        </p:txBody>
      </p:sp>
      <p:sp>
        <p:nvSpPr>
          <p:cNvPr id="418" name="Google Shape;418;p39"/>
          <p:cNvSpPr/>
          <p:nvPr/>
        </p:nvSpPr>
        <p:spPr>
          <a:xfrm>
            <a:off x="6939700" y="1257400"/>
            <a:ext cx="4477800" cy="1462800"/>
          </a:xfrm>
          <a:prstGeom prst="roundRect">
            <a:avLst>
              <a:gd fmla="val 3975"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19" name="Google Shape;419;p39"/>
          <p:cNvSpPr txBox="1"/>
          <p:nvPr/>
        </p:nvSpPr>
        <p:spPr>
          <a:xfrm>
            <a:off x="6921550" y="1421100"/>
            <a:ext cx="4599000" cy="12990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Convert linear thread index to 2D block coordinates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Convert reference block coordinates to pixel coordinate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Compute SAD for this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computeSAD_device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h</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Calculate motion vector and </a:t>
            </a:r>
            <a:r>
              <a:rPr i="1" lang="it-IT" sz="700">
                <a:solidFill>
                  <a:srgbClr val="A05000"/>
                </a:solidFill>
                <a:latin typeface="Roboto Mono"/>
                <a:ea typeface="Roboto Mono"/>
                <a:cs typeface="Roboto Mono"/>
                <a:sym typeface="Roboto Mono"/>
              </a:rPr>
              <a:t>distance</a:t>
            </a:r>
            <a:r>
              <a:rPr i="1" lang="it-IT" sz="700">
                <a:solidFill>
                  <a:srgbClr val="A05000"/>
                </a:solidFill>
                <a:latin typeface="Roboto Mono"/>
                <a:ea typeface="Roboto Mono"/>
                <a:cs typeface="Roboto Mono"/>
                <a:sym typeface="Roboto Mono"/>
              </a:rPr>
              <a:t> for tie-breaking</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curr_bx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curr_by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distance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dx</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dy</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a:t>
            </a:r>
            <a:endParaRPr sz="700">
              <a:latin typeface="Roboto Mono"/>
              <a:ea typeface="Roboto Mono"/>
              <a:cs typeface="Roboto Mono"/>
              <a:sym typeface="Roboto Mono"/>
            </a:endParaRPr>
          </a:p>
        </p:txBody>
      </p:sp>
      <p:sp>
        <p:nvSpPr>
          <p:cNvPr id="420" name="Google Shape;420;p39"/>
          <p:cNvSpPr txBox="1"/>
          <p:nvPr/>
        </p:nvSpPr>
        <p:spPr>
          <a:xfrm>
            <a:off x="7206630" y="1257425"/>
            <a:ext cx="32514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fullSearchBM_cuda_naive.cpp: fullSearchKernel </a:t>
            </a:r>
            <a:endParaRPr sz="1050">
              <a:solidFill>
                <a:srgbClr val="666666"/>
              </a:solidFill>
              <a:latin typeface="Inter"/>
              <a:ea typeface="Inter"/>
              <a:cs typeface="Inter"/>
              <a:sym typeface="Inter"/>
            </a:endParaRPr>
          </a:p>
        </p:txBody>
      </p:sp>
      <p:cxnSp>
        <p:nvCxnSpPr>
          <p:cNvPr id="421" name="Google Shape;421;p39"/>
          <p:cNvCxnSpPr/>
          <p:nvPr/>
        </p:nvCxnSpPr>
        <p:spPr>
          <a:xfrm>
            <a:off x="6939700" y="1413450"/>
            <a:ext cx="4466700" cy="0"/>
          </a:xfrm>
          <a:prstGeom prst="straightConnector1">
            <a:avLst/>
          </a:prstGeom>
          <a:noFill/>
          <a:ln cap="flat" cmpd="sng" w="9525">
            <a:solidFill>
              <a:srgbClr val="B7B7B7"/>
            </a:solidFill>
            <a:prstDash val="solid"/>
            <a:round/>
            <a:headEnd len="med" w="med" type="none"/>
            <a:tailEnd len="med" w="med" type="none"/>
          </a:ln>
        </p:spPr>
      </p:cxnSp>
      <p:pic>
        <p:nvPicPr>
          <p:cNvPr descr="image.png" id="422" name="Google Shape;422;p39"/>
          <p:cNvPicPr preferRelativeResize="0"/>
          <p:nvPr/>
        </p:nvPicPr>
        <p:blipFill rotWithShape="1">
          <a:blip r:embed="rId5">
            <a:alphaModFix/>
          </a:blip>
          <a:srcRect b="0" l="0" r="0" t="0"/>
          <a:stretch/>
        </p:blipFill>
        <p:spPr>
          <a:xfrm>
            <a:off x="7008323" y="1267909"/>
            <a:ext cx="82594" cy="115068"/>
          </a:xfrm>
          <a:prstGeom prst="rect">
            <a:avLst/>
          </a:prstGeom>
          <a:noFill/>
          <a:ln>
            <a:noFill/>
          </a:ln>
        </p:spPr>
      </p:pic>
      <p:sp>
        <p:nvSpPr>
          <p:cNvPr id="423" name="Google Shape;423;p39"/>
          <p:cNvSpPr/>
          <p:nvPr/>
        </p:nvSpPr>
        <p:spPr>
          <a:xfrm>
            <a:off x="6950100" y="3322375"/>
            <a:ext cx="4477800" cy="3129300"/>
          </a:xfrm>
          <a:prstGeom prst="roundRect">
            <a:avLst>
              <a:gd fmla="val 284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24" name="Google Shape;424;p39"/>
          <p:cNvSpPr txBox="1"/>
          <p:nvPr/>
        </p:nvSpPr>
        <p:spPr>
          <a:xfrm>
            <a:off x="6958150" y="3484075"/>
            <a:ext cx="4525800" cy="2967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static</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__device__</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__inline__</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0000F0"/>
                </a:solidFill>
                <a:latin typeface="Roboto Mono"/>
                <a:ea typeface="Roboto Mono"/>
                <a:cs typeface="Roboto Mono"/>
                <a:sym typeface="Roboto Mono"/>
              </a:rPr>
              <a:t>computeSAD_device</a:t>
            </a:r>
            <a:r>
              <a:rPr lang="it-IT" sz="700">
                <a:latin typeface="Roboto Mono"/>
                <a:ea typeface="Roboto Mono"/>
                <a:cs typeface="Roboto Mono"/>
                <a:sym typeface="Roboto Mono"/>
              </a:rPr>
              <a:t>(</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h</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Iterate over block rows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Calculate current pixel row of current and reference frame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Check if rows exceed frame boundaries, return invalid SAD if out frame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Iterate over block columns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Calculate current pixel row of current and reference frame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Check if columns exceed frame boundaries, return invalid SAD if out of frame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Accumulate SAD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__usad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425" name="Google Shape;425;p39"/>
          <p:cNvSpPr txBox="1"/>
          <p:nvPr/>
        </p:nvSpPr>
        <p:spPr>
          <a:xfrm>
            <a:off x="7138951" y="3322375"/>
            <a:ext cx="37986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fullSearchBM_cuda_naive.cpp: computeSAD_device </a:t>
            </a:r>
            <a:endParaRPr sz="1050">
              <a:solidFill>
                <a:srgbClr val="666666"/>
              </a:solidFill>
              <a:latin typeface="Inter"/>
              <a:ea typeface="Inter"/>
              <a:cs typeface="Inter"/>
              <a:sym typeface="Inter"/>
            </a:endParaRPr>
          </a:p>
        </p:txBody>
      </p:sp>
      <p:cxnSp>
        <p:nvCxnSpPr>
          <p:cNvPr id="426" name="Google Shape;426;p39"/>
          <p:cNvCxnSpPr/>
          <p:nvPr/>
        </p:nvCxnSpPr>
        <p:spPr>
          <a:xfrm>
            <a:off x="6957900" y="3484075"/>
            <a:ext cx="4468500" cy="0"/>
          </a:xfrm>
          <a:prstGeom prst="straightConnector1">
            <a:avLst/>
          </a:prstGeom>
          <a:noFill/>
          <a:ln cap="flat" cmpd="sng" w="9525">
            <a:solidFill>
              <a:srgbClr val="B7B7B7"/>
            </a:solidFill>
            <a:prstDash val="solid"/>
            <a:round/>
            <a:headEnd len="med" w="med" type="none"/>
            <a:tailEnd len="med" w="med" type="none"/>
          </a:ln>
        </p:spPr>
      </p:cxnSp>
      <p:pic>
        <p:nvPicPr>
          <p:cNvPr descr="image.png" id="427" name="Google Shape;427;p39"/>
          <p:cNvPicPr preferRelativeResize="0"/>
          <p:nvPr/>
        </p:nvPicPr>
        <p:blipFill rotWithShape="1">
          <a:blip r:embed="rId5">
            <a:alphaModFix/>
          </a:blip>
          <a:srcRect b="0" l="0" r="0" t="0"/>
          <a:stretch/>
        </p:blipFill>
        <p:spPr>
          <a:xfrm>
            <a:off x="7017261" y="3345684"/>
            <a:ext cx="82594" cy="115068"/>
          </a:xfrm>
          <a:prstGeom prst="rect">
            <a:avLst/>
          </a:prstGeom>
          <a:noFill/>
          <a:ln>
            <a:noFill/>
          </a:ln>
        </p:spPr>
      </p:pic>
      <p:pic>
        <p:nvPicPr>
          <p:cNvPr id="428" name="Google Shape;428;p39" title="ezgif.com-video-to-gif-converter.gif"/>
          <p:cNvPicPr preferRelativeResize="0"/>
          <p:nvPr/>
        </p:nvPicPr>
        <p:blipFill>
          <a:blip r:embed="rId6">
            <a:alphaModFix/>
          </a:blip>
          <a:stretch>
            <a:fillRect/>
          </a:stretch>
        </p:blipFill>
        <p:spPr>
          <a:xfrm>
            <a:off x="1277100" y="4671370"/>
            <a:ext cx="5253176" cy="2186630"/>
          </a:xfrm>
          <a:prstGeom prst="rect">
            <a:avLst/>
          </a:prstGeom>
          <a:noFill/>
          <a:ln>
            <a:noFill/>
          </a:ln>
        </p:spPr>
      </p:pic>
      <p:sp>
        <p:nvSpPr>
          <p:cNvPr id="429" name="Google Shape;429;p39"/>
          <p:cNvSpPr txBox="1"/>
          <p:nvPr/>
        </p:nvSpPr>
        <p:spPr>
          <a:xfrm>
            <a:off x="771525" y="608825"/>
            <a:ext cx="7902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 kernel (Candidates Evaluation)</a:t>
            </a:r>
            <a:endParaRPr b="0" sz="1400" u="none" cap="none" strike="noStrike">
              <a:solidFill>
                <a:srgbClr val="000000"/>
              </a:solidFill>
              <a:latin typeface="Arial"/>
              <a:ea typeface="Arial"/>
              <a:cs typeface="Arial"/>
              <a:sym typeface="Arial"/>
            </a:endParaRPr>
          </a:p>
        </p:txBody>
      </p:sp>
      <p:sp>
        <p:nvSpPr>
          <p:cNvPr id="430" name="Google Shape;430;p39"/>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31" name="Google Shape;431;p3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5" name="Shape 435"/>
        <p:cNvGrpSpPr/>
        <p:nvPr/>
      </p:nvGrpSpPr>
      <p:grpSpPr>
        <a:xfrm>
          <a:off x="0" y="0"/>
          <a:ext cx="0" cy="0"/>
          <a:chOff x="0" y="0"/>
          <a:chExt cx="0" cy="0"/>
        </a:xfrm>
      </p:grpSpPr>
      <p:sp>
        <p:nvSpPr>
          <p:cNvPr id="436" name="Google Shape;436;p40"/>
          <p:cNvSpPr txBox="1"/>
          <p:nvPr/>
        </p:nvSpPr>
        <p:spPr>
          <a:xfrm>
            <a:off x="771525" y="1519550"/>
            <a:ext cx="5657100" cy="1200600"/>
          </a:xfrm>
          <a:prstGeom prst="rect">
            <a:avLst/>
          </a:prstGeom>
          <a:noFill/>
          <a:ln>
            <a:noFill/>
          </a:ln>
        </p:spPr>
        <p:txBody>
          <a:bodyPr anchorCtr="0" anchor="t" bIns="91425" lIns="91425" spcFirstLastPara="1" rIns="91425" wrap="square" tIns="91425">
            <a:spAutoFit/>
          </a:bodyPr>
          <a:lstStyle/>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Sequentially computes the SAD value between the current frame block and a specific candidate block within the reference frame, comparing pixel by pixel.</a:t>
            </a:r>
            <a:endParaRPr sz="1650">
              <a:solidFill>
                <a:srgbClr val="475569"/>
              </a:solidFill>
              <a:latin typeface="Inter"/>
              <a:ea typeface="Inter"/>
              <a:cs typeface="Inter"/>
              <a:sym typeface="Inter"/>
            </a:endParaRPr>
          </a:p>
        </p:txBody>
      </p:sp>
      <p:sp>
        <p:nvSpPr>
          <p:cNvPr id="437" name="Google Shape;437;p40"/>
          <p:cNvSpPr/>
          <p:nvPr/>
        </p:nvSpPr>
        <p:spPr>
          <a:xfrm>
            <a:off x="6939700" y="1257400"/>
            <a:ext cx="4477800" cy="1990200"/>
          </a:xfrm>
          <a:prstGeom prst="roundRect">
            <a:avLst>
              <a:gd fmla="val 3975"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38" name="Google Shape;438;p40"/>
          <p:cNvSpPr txBox="1"/>
          <p:nvPr/>
        </p:nvSpPr>
        <p:spPr>
          <a:xfrm>
            <a:off x="6921550" y="1421100"/>
            <a:ext cx="4599000" cy="1826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Each thread processes multiple candidate positions with stride = total_threads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total_candidates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total_threads</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Convert linear index to 2D block coordinates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width</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width</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Convert reference block coordinates to pixel coordinate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Compute SAD for this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computeSAD_device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h</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Calculate motion vector and distance for tie-breaking</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curr_bx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curr_by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distance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dx</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dy</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Update local_best match for the thread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439" name="Google Shape;439;p40"/>
          <p:cNvSpPr txBox="1"/>
          <p:nvPr/>
        </p:nvSpPr>
        <p:spPr>
          <a:xfrm>
            <a:off x="7206630" y="1257425"/>
            <a:ext cx="32514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fullSearchBM_cuda_naive.cpp: fullSearchKernel </a:t>
            </a:r>
            <a:endParaRPr sz="1050">
              <a:solidFill>
                <a:srgbClr val="666666"/>
              </a:solidFill>
              <a:latin typeface="Inter"/>
              <a:ea typeface="Inter"/>
              <a:cs typeface="Inter"/>
              <a:sym typeface="Inter"/>
            </a:endParaRPr>
          </a:p>
        </p:txBody>
      </p:sp>
      <p:cxnSp>
        <p:nvCxnSpPr>
          <p:cNvPr id="440" name="Google Shape;440;p40"/>
          <p:cNvCxnSpPr/>
          <p:nvPr/>
        </p:nvCxnSpPr>
        <p:spPr>
          <a:xfrm>
            <a:off x="6939700" y="1413450"/>
            <a:ext cx="4466700" cy="0"/>
          </a:xfrm>
          <a:prstGeom prst="straightConnector1">
            <a:avLst/>
          </a:prstGeom>
          <a:noFill/>
          <a:ln cap="flat" cmpd="sng" w="9525">
            <a:solidFill>
              <a:srgbClr val="B7B7B7"/>
            </a:solidFill>
            <a:prstDash val="solid"/>
            <a:round/>
            <a:headEnd len="med" w="med" type="none"/>
            <a:tailEnd len="med" w="med" type="none"/>
          </a:ln>
        </p:spPr>
      </p:cxnSp>
      <p:pic>
        <p:nvPicPr>
          <p:cNvPr descr="image.png" id="441" name="Google Shape;441;p40"/>
          <p:cNvPicPr preferRelativeResize="0"/>
          <p:nvPr/>
        </p:nvPicPr>
        <p:blipFill rotWithShape="1">
          <a:blip r:embed="rId4">
            <a:alphaModFix/>
          </a:blip>
          <a:srcRect b="0" l="0" r="0" t="0"/>
          <a:stretch/>
        </p:blipFill>
        <p:spPr>
          <a:xfrm>
            <a:off x="7008323" y="1267909"/>
            <a:ext cx="82594" cy="115068"/>
          </a:xfrm>
          <a:prstGeom prst="rect">
            <a:avLst/>
          </a:prstGeom>
          <a:noFill/>
          <a:ln>
            <a:noFill/>
          </a:ln>
        </p:spPr>
      </p:pic>
      <p:sp>
        <p:nvSpPr>
          <p:cNvPr id="442" name="Google Shape;442;p40"/>
          <p:cNvSpPr/>
          <p:nvPr/>
        </p:nvSpPr>
        <p:spPr>
          <a:xfrm>
            <a:off x="6950100" y="3322375"/>
            <a:ext cx="4477800" cy="3204000"/>
          </a:xfrm>
          <a:prstGeom prst="roundRect">
            <a:avLst>
              <a:gd fmla="val 284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43" name="Google Shape;443;p40"/>
          <p:cNvSpPr txBox="1"/>
          <p:nvPr/>
        </p:nvSpPr>
        <p:spPr>
          <a:xfrm>
            <a:off x="6958150" y="3558825"/>
            <a:ext cx="4525800" cy="2967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static</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__device__</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__inline__</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0000F0"/>
                </a:solidFill>
                <a:latin typeface="Roboto Mono"/>
                <a:ea typeface="Roboto Mono"/>
                <a:cs typeface="Roboto Mono"/>
                <a:sym typeface="Roboto Mono"/>
              </a:rPr>
              <a:t>computeSAD_device</a:t>
            </a:r>
            <a:r>
              <a:rPr lang="it-IT" sz="700">
                <a:latin typeface="Roboto Mono"/>
                <a:ea typeface="Roboto Mono"/>
                <a:cs typeface="Roboto Mono"/>
                <a:sym typeface="Roboto Mono"/>
              </a:rPr>
              <a:t>(</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h</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Iterate over block rows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Calculate current pixel row of current and reference frame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Check if rows exceed frame boundaries, return invalid SAD if out frame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Iterate over block columns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Calculate current pixel row of current and reference frame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Check if columns exceed frame boundaries, return invalid SAD if out of frame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Accumulate SAD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__usad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p:txBody>
      </p:sp>
      <p:sp>
        <p:nvSpPr>
          <p:cNvPr id="444" name="Google Shape;444;p40"/>
          <p:cNvSpPr txBox="1"/>
          <p:nvPr/>
        </p:nvSpPr>
        <p:spPr>
          <a:xfrm>
            <a:off x="7138951" y="3322375"/>
            <a:ext cx="37986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fullSearchBM_cuda_naive.cpp: computeSAD_device </a:t>
            </a:r>
            <a:endParaRPr sz="1050">
              <a:solidFill>
                <a:srgbClr val="666666"/>
              </a:solidFill>
              <a:latin typeface="Inter"/>
              <a:ea typeface="Inter"/>
              <a:cs typeface="Inter"/>
              <a:sym typeface="Inter"/>
            </a:endParaRPr>
          </a:p>
        </p:txBody>
      </p:sp>
      <p:cxnSp>
        <p:nvCxnSpPr>
          <p:cNvPr id="445" name="Google Shape;445;p40"/>
          <p:cNvCxnSpPr/>
          <p:nvPr/>
        </p:nvCxnSpPr>
        <p:spPr>
          <a:xfrm>
            <a:off x="6957900" y="3484075"/>
            <a:ext cx="4468500" cy="0"/>
          </a:xfrm>
          <a:prstGeom prst="straightConnector1">
            <a:avLst/>
          </a:prstGeom>
          <a:noFill/>
          <a:ln cap="flat" cmpd="sng" w="9525">
            <a:solidFill>
              <a:srgbClr val="B7B7B7"/>
            </a:solidFill>
            <a:prstDash val="solid"/>
            <a:round/>
            <a:headEnd len="med" w="med" type="none"/>
            <a:tailEnd len="med" w="med" type="none"/>
          </a:ln>
        </p:spPr>
      </p:cxnSp>
      <p:pic>
        <p:nvPicPr>
          <p:cNvPr descr="image.png" id="446" name="Google Shape;446;p40"/>
          <p:cNvPicPr preferRelativeResize="0"/>
          <p:nvPr/>
        </p:nvPicPr>
        <p:blipFill rotWithShape="1">
          <a:blip r:embed="rId4">
            <a:alphaModFix/>
          </a:blip>
          <a:srcRect b="0" l="0" r="0" t="0"/>
          <a:stretch/>
        </p:blipFill>
        <p:spPr>
          <a:xfrm>
            <a:off x="7017261" y="3345684"/>
            <a:ext cx="82594" cy="115068"/>
          </a:xfrm>
          <a:prstGeom prst="rect">
            <a:avLst/>
          </a:prstGeom>
          <a:noFill/>
          <a:ln>
            <a:noFill/>
          </a:ln>
        </p:spPr>
      </p:pic>
      <p:sp>
        <p:nvSpPr>
          <p:cNvPr id="447" name="Google Shape;447;p40"/>
          <p:cNvSpPr txBox="1"/>
          <p:nvPr/>
        </p:nvSpPr>
        <p:spPr>
          <a:xfrm>
            <a:off x="771525" y="608825"/>
            <a:ext cx="77199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 Naive: kernel (Candidates Evaluation)</a:t>
            </a:r>
            <a:endParaRPr sz="3000">
              <a:solidFill>
                <a:srgbClr val="0F172A"/>
              </a:solidFill>
              <a:latin typeface="Outfit SemiBold"/>
              <a:ea typeface="Outfit SemiBold"/>
              <a:cs typeface="Outfit SemiBold"/>
              <a:sym typeface="Outfit SemiBold"/>
            </a:endParaRPr>
          </a:p>
        </p:txBody>
      </p:sp>
      <p:sp>
        <p:nvSpPr>
          <p:cNvPr id="448" name="Google Shape;448;p40"/>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49" name="Google Shape;449;p4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id="450" name="Google Shape;450;p40" title="ezgif.com-video-to-gif-converter (1).gif"/>
          <p:cNvPicPr preferRelativeResize="0"/>
          <p:nvPr/>
        </p:nvPicPr>
        <p:blipFill>
          <a:blip r:embed="rId5">
            <a:alphaModFix/>
          </a:blip>
          <a:stretch>
            <a:fillRect/>
          </a:stretch>
        </p:blipFill>
        <p:spPr>
          <a:xfrm>
            <a:off x="1000125" y="4753116"/>
            <a:ext cx="5485000" cy="2104884"/>
          </a:xfrm>
          <a:prstGeom prst="rect">
            <a:avLst/>
          </a:prstGeom>
          <a:noFill/>
          <a:ln>
            <a:noFill/>
          </a:ln>
        </p:spPr>
      </p:pic>
      <p:sp>
        <p:nvSpPr>
          <p:cNvPr id="451" name="Google Shape;451;p40"/>
          <p:cNvSpPr txBox="1"/>
          <p:nvPr/>
        </p:nvSpPr>
        <p:spPr>
          <a:xfrm>
            <a:off x="771513" y="2628675"/>
            <a:ext cx="56184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Computes SAD values for multiple candidate positions using a thread-coarsening strategy, where each thread iterates over candidate positions assigned through a block-strided loop.</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Stores the minimum local SAD value, along with the corresponding MV and distance, to build the final result</a:t>
            </a:r>
            <a:endParaRPr/>
          </a:p>
        </p:txBody>
      </p:sp>
      <p:pic>
        <p:nvPicPr>
          <p:cNvPr id="452" name="Google Shape;452;p40"/>
          <p:cNvPicPr preferRelativeResize="0"/>
          <p:nvPr/>
        </p:nvPicPr>
        <p:blipFill>
          <a:blip r:embed="rId6">
            <a:alphaModFix/>
          </a:blip>
          <a:stretch>
            <a:fillRect/>
          </a:stretch>
        </p:blipFill>
        <p:spPr>
          <a:xfrm>
            <a:off x="771525" y="1294000"/>
            <a:ext cx="5758751" cy="281189"/>
          </a:xfrm>
          <a:prstGeom prst="rect">
            <a:avLst/>
          </a:prstGeom>
          <a:noFill/>
          <a:ln>
            <a:noFill/>
          </a:ln>
        </p:spPr>
      </p:pic>
      <p:pic>
        <p:nvPicPr>
          <p:cNvPr id="453" name="Google Shape;453;p40"/>
          <p:cNvPicPr preferRelativeResize="0"/>
          <p:nvPr/>
        </p:nvPicPr>
        <p:blipFill>
          <a:blip r:embed="rId7">
            <a:alphaModFix/>
          </a:blip>
          <a:stretch>
            <a:fillRect/>
          </a:stretch>
        </p:blipFill>
        <p:spPr>
          <a:xfrm>
            <a:off x="771412" y="2659774"/>
            <a:ext cx="5758971" cy="2812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57" name="Shape 457"/>
        <p:cNvGrpSpPr/>
        <p:nvPr/>
      </p:nvGrpSpPr>
      <p:grpSpPr>
        <a:xfrm>
          <a:off x="0" y="0"/>
          <a:ext cx="0" cy="0"/>
          <a:chOff x="0" y="0"/>
          <a:chExt cx="0" cy="0"/>
        </a:xfrm>
      </p:grpSpPr>
      <p:cxnSp>
        <p:nvCxnSpPr>
          <p:cNvPr id="458" name="Google Shape;458;p41"/>
          <p:cNvCxnSpPr/>
          <p:nvPr/>
        </p:nvCxnSpPr>
        <p:spPr>
          <a:xfrm>
            <a:off x="6949312" y="1862646"/>
            <a:ext cx="4883100" cy="0"/>
          </a:xfrm>
          <a:prstGeom prst="straightConnector1">
            <a:avLst/>
          </a:prstGeom>
          <a:noFill/>
          <a:ln cap="flat" cmpd="sng" w="9525">
            <a:solidFill>
              <a:srgbClr val="B7B7B7"/>
            </a:solidFill>
            <a:prstDash val="solid"/>
            <a:round/>
            <a:headEnd len="med" w="med" type="none"/>
            <a:tailEnd len="med" w="med" type="none"/>
          </a:ln>
        </p:spPr>
      </p:cxnSp>
      <p:sp>
        <p:nvSpPr>
          <p:cNvPr id="459" name="Google Shape;459;p41"/>
          <p:cNvSpPr/>
          <p:nvPr/>
        </p:nvSpPr>
        <p:spPr>
          <a:xfrm>
            <a:off x="6640500" y="1517875"/>
            <a:ext cx="5319000" cy="2467500"/>
          </a:xfrm>
          <a:prstGeom prst="roundRect">
            <a:avLst>
              <a:gd fmla="val 4188"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0" name="Google Shape;460;p41"/>
          <p:cNvSpPr txBox="1"/>
          <p:nvPr/>
        </p:nvSpPr>
        <p:spPr>
          <a:xfrm>
            <a:off x="771525" y="1517875"/>
            <a:ext cx="5657100" cy="4502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Following the computation of local best results, a block-wide reduction is required to determine the optimal match for the current frame block using </a:t>
            </a:r>
            <a:r>
              <a:rPr i="1" lang="it-IT" sz="1650">
                <a:solidFill>
                  <a:srgbClr val="475569"/>
                </a:solidFill>
                <a:latin typeface="Inter"/>
                <a:ea typeface="Inter"/>
                <a:cs typeface="Inter"/>
                <a:sym typeface="Inter"/>
              </a:rPr>
              <a:t>cub::BlockReduce</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i="1" lang="it-IT" sz="1650">
                <a:solidFill>
                  <a:srgbClr val="475569"/>
                </a:solidFill>
                <a:latin typeface="Inter"/>
                <a:ea typeface="Inter"/>
                <a:cs typeface="Inter"/>
                <a:sym typeface="Inter"/>
              </a:rPr>
              <a:t>blockReduceT</a:t>
            </a:r>
            <a:r>
              <a:rPr lang="it-IT" sz="1650">
                <a:solidFill>
                  <a:srgbClr val="475569"/>
                </a:solidFill>
                <a:latin typeface="Inter"/>
                <a:ea typeface="Inter"/>
                <a:cs typeface="Inter"/>
                <a:sym typeface="Inter"/>
              </a:rPr>
              <a:t>: type definition of the block reduction algorithm.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i="1" lang="it-IT" sz="1650">
                <a:solidFill>
                  <a:srgbClr val="475569"/>
                </a:solidFill>
                <a:latin typeface="Inter"/>
                <a:ea typeface="Inter"/>
                <a:cs typeface="Inter"/>
                <a:sym typeface="Inter"/>
              </a:rPr>
              <a:t>temp_storage</a:t>
            </a:r>
            <a:r>
              <a:rPr lang="it-IT" sz="1650">
                <a:solidFill>
                  <a:srgbClr val="475569"/>
                </a:solidFill>
                <a:latin typeface="Inter"/>
                <a:ea typeface="Inter"/>
                <a:cs typeface="Inter"/>
                <a:sym typeface="Inter"/>
              </a:rPr>
              <a:t>: shared memory explicitly allocated, with size and layout determined by CUB at compile-time.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i="1" lang="it-IT" sz="1650">
                <a:solidFill>
                  <a:srgbClr val="475569"/>
                </a:solidFill>
                <a:latin typeface="Inter"/>
                <a:ea typeface="Inter"/>
                <a:cs typeface="Inter"/>
                <a:sym typeface="Inter"/>
              </a:rPr>
              <a:t>block_best</a:t>
            </a:r>
            <a:r>
              <a:rPr lang="it-IT" sz="1650">
                <a:solidFill>
                  <a:srgbClr val="475569"/>
                </a:solidFill>
                <a:latin typeface="Inter"/>
                <a:ea typeface="Inter"/>
                <a:cs typeface="Inter"/>
                <a:sym typeface="Inter"/>
              </a:rPr>
              <a:t>: parallel aggregation of all </a:t>
            </a:r>
            <a:r>
              <a:rPr i="1" lang="it-IT" sz="1650">
                <a:solidFill>
                  <a:srgbClr val="475569"/>
                </a:solidFill>
                <a:latin typeface="Inter"/>
                <a:ea typeface="Inter"/>
                <a:cs typeface="Inter"/>
                <a:sym typeface="Inter"/>
              </a:rPr>
              <a:t>local_best </a:t>
            </a:r>
            <a:r>
              <a:rPr lang="it-IT" sz="1650">
                <a:solidFill>
                  <a:srgbClr val="475569"/>
                </a:solidFill>
                <a:latin typeface="Inter"/>
                <a:ea typeface="Inter"/>
                <a:cs typeface="Inter"/>
                <a:sym typeface="Inter"/>
              </a:rPr>
              <a:t>variables across threads, using the custom </a:t>
            </a:r>
            <a:r>
              <a:rPr i="1" lang="it-IT" sz="1650">
                <a:solidFill>
                  <a:srgbClr val="475569"/>
                </a:solidFill>
                <a:latin typeface="Inter"/>
                <a:ea typeface="Inter"/>
                <a:cs typeface="Inter"/>
                <a:sym typeface="Inter"/>
              </a:rPr>
              <a:t>CandidateSadOp</a:t>
            </a:r>
            <a:r>
              <a:rPr lang="it-IT" sz="1650">
                <a:solidFill>
                  <a:srgbClr val="475569"/>
                </a:solidFill>
                <a:latin typeface="Inter"/>
                <a:ea typeface="Inter"/>
                <a:cs typeface="Inter"/>
                <a:sym typeface="Inter"/>
              </a:rPr>
              <a:t> comparator, which selects the candidate with the lowest SAD, breaking ties first by shortest motion vector, then by a deterministic ordering rule.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Result Storage: thread 0 writes the final motion vector to GMEM.</a:t>
            </a:r>
            <a:endParaRPr sz="1650">
              <a:solidFill>
                <a:srgbClr val="475569"/>
              </a:solidFill>
              <a:latin typeface="Inter"/>
              <a:ea typeface="Inter"/>
              <a:cs typeface="Inter"/>
              <a:sym typeface="Inter"/>
            </a:endParaRPr>
          </a:p>
        </p:txBody>
      </p:sp>
      <p:sp>
        <p:nvSpPr>
          <p:cNvPr id="461" name="Google Shape;461;p41"/>
          <p:cNvSpPr txBox="1"/>
          <p:nvPr/>
        </p:nvSpPr>
        <p:spPr>
          <a:xfrm>
            <a:off x="6669150" y="1715600"/>
            <a:ext cx="5261700" cy="22698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Block reduction to find the best match among all threads in the block</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typedef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cub::BlockReduce</a:t>
            </a:r>
            <a:r>
              <a:rPr b="1" lang="it-IT" sz="700">
                <a:solidFill>
                  <a:srgbClr val="EE11FF"/>
                </a:solidFill>
                <a:latin typeface="Roboto Mono"/>
                <a:ea typeface="Roboto Mono"/>
                <a:cs typeface="Roboto Mono"/>
                <a:sym typeface="Roboto Mono"/>
              </a:rPr>
              <a:t>&lt;</a:t>
            </a:r>
            <a:r>
              <a:rPr lang="it-IT" sz="700">
                <a:solidFill>
                  <a:srgbClr val="1AB1CD"/>
                </a:solidFill>
                <a:latin typeface="Roboto Mono"/>
                <a:ea typeface="Roboto Mono"/>
                <a:cs typeface="Roboto Mono"/>
                <a:sym typeface="Roboto Mono"/>
              </a:rPr>
              <a:t>CandidateSad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threadsPerBlockDim</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cub::BLOCK_REDUCE_WARP_REDUCTIONS</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threadsPerBlockDim</a:t>
            </a:r>
            <a:r>
              <a:rPr b="1" lang="it-IT" sz="700">
                <a:solidFill>
                  <a:srgbClr val="EE11FF"/>
                </a:solidFill>
                <a:latin typeface="Roboto Mono"/>
                <a:ea typeface="Roboto Mono"/>
                <a:cs typeface="Roboto Mono"/>
                <a:sym typeface="Roboto Mono"/>
              </a:rPr>
              <a:t>&gt;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Allocate shared memory for reduction (size/layout determined by CUB at compile-time)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3000A0"/>
                </a:solidFill>
                <a:latin typeface="Roboto Mono"/>
                <a:ea typeface="Roboto Mono"/>
                <a:cs typeface="Roboto Mono"/>
                <a:sym typeface="Roboto Mono"/>
              </a:rPr>
              <a:t>__shared__</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typename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blockReduceT::TempStorage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temp_storage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Aggregate local_best from all threads using custom CandidateSadOp comparator</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solidFill>
                  <a:srgbClr val="1AB1CD"/>
                </a:solidFill>
                <a:latin typeface="Roboto Mono"/>
                <a:ea typeface="Roboto Mono"/>
                <a:cs typeface="Roboto Mono"/>
                <a:sym typeface="Roboto Mono"/>
              </a:rPr>
              <a:t>CandidateSad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block_best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temp_storage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Reduce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local_best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MotionVectorUtils::CandidateSadOp</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Thread 0 writes the optimal motion vector to global memory</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d_mv</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block_best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block_best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latin typeface="Roboto Mono"/>
              <a:ea typeface="Roboto Mono"/>
              <a:cs typeface="Roboto Mono"/>
              <a:sym typeface="Roboto Mono"/>
            </a:endParaRPr>
          </a:p>
        </p:txBody>
      </p:sp>
      <p:sp>
        <p:nvSpPr>
          <p:cNvPr id="462" name="Google Shape;462;p41"/>
          <p:cNvSpPr txBox="1"/>
          <p:nvPr/>
        </p:nvSpPr>
        <p:spPr>
          <a:xfrm>
            <a:off x="6901492" y="1531400"/>
            <a:ext cx="32877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fullSearchBM_cuda_naive.cpp: fullSearchKernel</a:t>
            </a:r>
            <a:endParaRPr sz="1050">
              <a:solidFill>
                <a:srgbClr val="666666"/>
              </a:solidFill>
              <a:latin typeface="Inter"/>
              <a:ea typeface="Inter"/>
              <a:cs typeface="Inter"/>
              <a:sym typeface="Inter"/>
            </a:endParaRPr>
          </a:p>
        </p:txBody>
      </p:sp>
      <p:cxnSp>
        <p:nvCxnSpPr>
          <p:cNvPr id="463" name="Google Shape;463;p41"/>
          <p:cNvCxnSpPr/>
          <p:nvPr/>
        </p:nvCxnSpPr>
        <p:spPr>
          <a:xfrm>
            <a:off x="6640500" y="1692688"/>
            <a:ext cx="5293200" cy="0"/>
          </a:xfrm>
          <a:prstGeom prst="straightConnector1">
            <a:avLst/>
          </a:prstGeom>
          <a:noFill/>
          <a:ln cap="flat" cmpd="sng" w="9525">
            <a:solidFill>
              <a:srgbClr val="B7B7B7"/>
            </a:solidFill>
            <a:prstDash val="solid"/>
            <a:round/>
            <a:headEnd len="med" w="med" type="none"/>
            <a:tailEnd len="med" w="med" type="none"/>
          </a:ln>
        </p:spPr>
      </p:cxnSp>
      <p:sp>
        <p:nvSpPr>
          <p:cNvPr id="464" name="Google Shape;464;p41"/>
          <p:cNvSpPr/>
          <p:nvPr/>
        </p:nvSpPr>
        <p:spPr>
          <a:xfrm>
            <a:off x="7029600" y="4116050"/>
            <a:ext cx="4316100" cy="2303400"/>
          </a:xfrm>
          <a:prstGeom prst="roundRect">
            <a:avLst>
              <a:gd fmla="val 4833"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465" name="Google Shape;465;p41"/>
          <p:cNvSpPr txBox="1"/>
          <p:nvPr/>
        </p:nvSpPr>
        <p:spPr>
          <a:xfrm>
            <a:off x="7029600" y="4296650"/>
            <a:ext cx="4540800" cy="2090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it-IT" sz="700">
                <a:solidFill>
                  <a:srgbClr val="3000A0"/>
                </a:solidFill>
                <a:latin typeface="Roboto Mono"/>
                <a:ea typeface="Roboto Mono"/>
                <a:cs typeface="Roboto Mono"/>
                <a:sym typeface="Roboto Mono"/>
              </a:rPr>
              <a:t>__device__</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__forceinline__</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operator</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a:t>
            </a:r>
            <a:r>
              <a:rPr b="1" lang="it-IT" sz="700">
                <a:solidFill>
                  <a:srgbClr val="EE11FF"/>
                </a:solidFill>
                <a:latin typeface="Roboto Mono"/>
                <a:ea typeface="Roboto Mono"/>
                <a:cs typeface="Roboto Mono"/>
                <a:sym typeface="Roboto Mono"/>
              </a:rPr>
              <a:t>&amp;</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a:t>
            </a:r>
            <a:r>
              <a:rPr b="1" lang="it-IT" sz="700">
                <a:solidFill>
                  <a:srgbClr val="EE11FF"/>
                </a:solidFill>
                <a:latin typeface="Roboto Mono"/>
                <a:ea typeface="Roboto Mono"/>
                <a:cs typeface="Roboto Mono"/>
                <a:sym typeface="Roboto Mono"/>
              </a:rPr>
              <a:t>&amp;</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Primary: lowest SAD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Tie-break 1: shortest motion vector (Euclidean distance)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dist_current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dist_best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dist_current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dist_best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dist_current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dist_best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Tie-break 2: deterministic ordering (smaller dy, then smaller dx)</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 :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current</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best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solidFill>
                <a:srgbClr val="3000A0"/>
              </a:solidFill>
              <a:latin typeface="Roboto Mono"/>
              <a:ea typeface="Roboto Mono"/>
              <a:cs typeface="Roboto Mono"/>
              <a:sym typeface="Roboto Mono"/>
            </a:endParaRPr>
          </a:p>
        </p:txBody>
      </p:sp>
      <p:sp>
        <p:nvSpPr>
          <p:cNvPr id="466" name="Google Shape;466;p41"/>
          <p:cNvSpPr txBox="1"/>
          <p:nvPr/>
        </p:nvSpPr>
        <p:spPr>
          <a:xfrm>
            <a:off x="7280255" y="4116063"/>
            <a:ext cx="32877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cuda_utils.h</a:t>
            </a:r>
            <a:r>
              <a:rPr lang="it-IT" sz="1050">
                <a:solidFill>
                  <a:srgbClr val="666666"/>
                </a:solidFill>
                <a:latin typeface="Inter"/>
                <a:ea typeface="Inter"/>
                <a:cs typeface="Inter"/>
                <a:sym typeface="Inter"/>
              </a:rPr>
              <a:t>: </a:t>
            </a:r>
            <a:r>
              <a:rPr lang="it-IT" sz="1050">
                <a:solidFill>
                  <a:srgbClr val="666666"/>
                </a:solidFill>
                <a:latin typeface="Inter"/>
                <a:ea typeface="Inter"/>
                <a:cs typeface="Inter"/>
                <a:sym typeface="Inter"/>
              </a:rPr>
              <a:t>CandidateSadOp</a:t>
            </a:r>
            <a:endParaRPr sz="1050">
              <a:solidFill>
                <a:srgbClr val="666666"/>
              </a:solidFill>
              <a:latin typeface="Inter"/>
              <a:ea typeface="Inter"/>
              <a:cs typeface="Inter"/>
              <a:sym typeface="Inter"/>
            </a:endParaRPr>
          </a:p>
        </p:txBody>
      </p:sp>
      <p:cxnSp>
        <p:nvCxnSpPr>
          <p:cNvPr id="467" name="Google Shape;467;p41"/>
          <p:cNvCxnSpPr/>
          <p:nvPr/>
        </p:nvCxnSpPr>
        <p:spPr>
          <a:xfrm>
            <a:off x="7029588" y="4274350"/>
            <a:ext cx="4310400" cy="0"/>
          </a:xfrm>
          <a:prstGeom prst="straightConnector1">
            <a:avLst/>
          </a:prstGeom>
          <a:noFill/>
          <a:ln cap="flat" cmpd="sng" w="9525">
            <a:solidFill>
              <a:srgbClr val="B7B7B7"/>
            </a:solidFill>
            <a:prstDash val="solid"/>
            <a:round/>
            <a:headEnd len="med" w="med" type="none"/>
            <a:tailEnd len="med" w="med" type="none"/>
          </a:ln>
        </p:spPr>
      </p:cxnSp>
      <p:pic>
        <p:nvPicPr>
          <p:cNvPr descr="image.png" id="468" name="Google Shape;468;p41"/>
          <p:cNvPicPr preferRelativeResize="0"/>
          <p:nvPr/>
        </p:nvPicPr>
        <p:blipFill rotWithShape="1">
          <a:blip r:embed="rId4">
            <a:alphaModFix/>
          </a:blip>
          <a:srcRect b="0" l="0" r="0" t="0"/>
          <a:stretch/>
        </p:blipFill>
        <p:spPr>
          <a:xfrm>
            <a:off x="7139298" y="4139371"/>
            <a:ext cx="82594" cy="115068"/>
          </a:xfrm>
          <a:prstGeom prst="rect">
            <a:avLst/>
          </a:prstGeom>
          <a:noFill/>
          <a:ln>
            <a:noFill/>
          </a:ln>
        </p:spPr>
      </p:pic>
      <p:pic>
        <p:nvPicPr>
          <p:cNvPr descr="image.png" id="469" name="Google Shape;469;p41"/>
          <p:cNvPicPr preferRelativeResize="0"/>
          <p:nvPr/>
        </p:nvPicPr>
        <p:blipFill rotWithShape="1">
          <a:blip r:embed="rId4">
            <a:alphaModFix/>
          </a:blip>
          <a:srcRect b="0" l="0" r="0" t="0"/>
          <a:stretch/>
        </p:blipFill>
        <p:spPr>
          <a:xfrm>
            <a:off x="6738373" y="1554721"/>
            <a:ext cx="82594" cy="115068"/>
          </a:xfrm>
          <a:prstGeom prst="rect">
            <a:avLst/>
          </a:prstGeom>
          <a:noFill/>
          <a:ln>
            <a:noFill/>
          </a:ln>
        </p:spPr>
      </p:pic>
      <p:sp>
        <p:nvSpPr>
          <p:cNvPr id="470" name="Google Shape;470;p41"/>
          <p:cNvSpPr txBox="1"/>
          <p:nvPr/>
        </p:nvSpPr>
        <p:spPr>
          <a:xfrm>
            <a:off x="771525" y="608825"/>
            <a:ext cx="81051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 kernel (Block-Wide Reduction)</a:t>
            </a:r>
            <a:endParaRPr b="0" sz="1400" u="none" cap="none" strike="noStrike">
              <a:solidFill>
                <a:srgbClr val="000000"/>
              </a:solidFill>
              <a:latin typeface="Arial"/>
              <a:ea typeface="Arial"/>
              <a:cs typeface="Arial"/>
              <a:sym typeface="Arial"/>
            </a:endParaRPr>
          </a:p>
        </p:txBody>
      </p:sp>
      <p:sp>
        <p:nvSpPr>
          <p:cNvPr id="471" name="Google Shape;471;p41"/>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2" name="Google Shape;472;p4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76" name="Shape 476"/>
        <p:cNvGrpSpPr/>
        <p:nvPr/>
      </p:nvGrpSpPr>
      <p:grpSpPr>
        <a:xfrm>
          <a:off x="0" y="0"/>
          <a:ext cx="0" cy="0"/>
          <a:chOff x="0" y="0"/>
          <a:chExt cx="0" cy="0"/>
        </a:xfrm>
      </p:grpSpPr>
      <p:sp>
        <p:nvSpPr>
          <p:cNvPr id="477" name="Google Shape;477;p42"/>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a:t>
            </a:r>
            <a:r>
              <a:rPr lang="it-IT" sz="3000">
                <a:solidFill>
                  <a:srgbClr val="0F172A"/>
                </a:solidFill>
                <a:latin typeface="Outfit SemiBold"/>
                <a:ea typeface="Outfit SemiBold"/>
                <a:cs typeface="Outfit SemiBold"/>
                <a:sym typeface="Outfit SemiBold"/>
              </a:rPr>
              <a:t> profiling</a:t>
            </a:r>
            <a:endParaRPr b="0" sz="1400" u="none" cap="none" strike="noStrike">
              <a:solidFill>
                <a:srgbClr val="000000"/>
              </a:solidFill>
              <a:latin typeface="Arial"/>
              <a:ea typeface="Arial"/>
              <a:cs typeface="Arial"/>
              <a:sym typeface="Arial"/>
            </a:endParaRPr>
          </a:p>
        </p:txBody>
      </p:sp>
      <p:sp>
        <p:nvSpPr>
          <p:cNvPr id="478" name="Google Shape;478;p42"/>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79" name="Google Shape;479;p42"/>
          <p:cNvSpPr txBox="1"/>
          <p:nvPr/>
        </p:nvSpPr>
        <p:spPr>
          <a:xfrm>
            <a:off x="771525" y="1304671"/>
            <a:ext cx="11181300" cy="16326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Profiling SAD computation with 1024x1024 and block size of 32 (1024 pixels), so frame grid has 32x32 frame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Frame size: </a:t>
            </a:r>
            <a:r>
              <a:rPr lang="it-IT" sz="1650">
                <a:solidFill>
                  <a:srgbClr val="475569"/>
                </a:solidFill>
                <a:latin typeface="Inter"/>
                <a:ea typeface="Inter"/>
                <a:cs typeface="Inter"/>
                <a:sym typeface="Inter"/>
              </a:rPr>
              <a:t>1024 KiB</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grid</a:t>
            </a:r>
            <a:r>
              <a:rPr lang="it-IT" sz="1650">
                <a:solidFill>
                  <a:srgbClr val="475569"/>
                </a:solidFill>
                <a:latin typeface="Inter"/>
                <a:ea typeface="Inter"/>
                <a:cs typeface="Inter"/>
                <a:sym typeface="Inter"/>
              </a:rPr>
              <a:t>: 32x32x1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block: </a:t>
            </a:r>
            <a:r>
              <a:rPr lang="it-IT" sz="1650">
                <a:solidFill>
                  <a:srgbClr val="475569"/>
                </a:solidFill>
                <a:latin typeface="Inter"/>
                <a:ea typeface="Inter"/>
                <a:cs typeface="Inter"/>
                <a:sym typeface="Inter"/>
              </a:rPr>
              <a:t>32x32x1</a:t>
            </a:r>
            <a:r>
              <a:rPr lang="it-IT" sz="1650">
                <a:solidFill>
                  <a:srgbClr val="475569"/>
                </a:solidFill>
                <a:latin typeface="Inter"/>
                <a:ea typeface="Inter"/>
                <a:cs typeface="Inter"/>
                <a:sym typeface="Inter"/>
              </a:rPr>
              <a:t> threads. </a:t>
            </a:r>
            <a:endParaRPr sz="1650">
              <a:solidFill>
                <a:srgbClr val="475569"/>
              </a:solidFill>
              <a:latin typeface="Inter"/>
              <a:ea typeface="Inter"/>
              <a:cs typeface="Inter"/>
              <a:sym typeface="Inter"/>
            </a:endParaRPr>
          </a:p>
        </p:txBody>
      </p:sp>
      <p:sp>
        <p:nvSpPr>
          <p:cNvPr id="480" name="Google Shape;480;p42"/>
          <p:cNvSpPr txBox="1"/>
          <p:nvPr/>
        </p:nvSpPr>
        <p:spPr>
          <a:xfrm>
            <a:off x="1026300" y="3317100"/>
            <a:ext cx="10139400" cy="3540900"/>
          </a:xfrm>
          <a:prstGeom prst="rect">
            <a:avLst/>
          </a:prstGeom>
          <a:noFill/>
          <a:ln>
            <a:noFill/>
          </a:ln>
        </p:spPr>
        <p:txBody>
          <a:bodyPr anchorCtr="0" anchor="t" bIns="91425" lIns="91425" spcFirstLastPara="1" rIns="91425" wrap="square" tIns="91425">
            <a:spAutoFit/>
          </a:bodyPr>
          <a:lstStyle/>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Compute (SM) throughput: 71.19% &amp; Memory Throughput: 95.79%: memory-bound. </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Throughput: 99.57% &amp; L1 Cache Hit Rate: 97.00%:</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completely saturated. Non-coalesced accesses fragment requests.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L2 Cache Throughput: 6.23% &amp; L2 Cache Hit Rate: 99.68%:</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absorbs nearly all traffic before reaching L2.</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Uncoalesced Accesses, 94% waste:</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Non-coalesced accesses force global memory to fetch a full 128-byte segment per request, even though each thread only uses 4-8 bytes.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Achieved Occupancy 97.45%:</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Due only to CUB SMEM overhead and low register pressure.</a:t>
            </a:r>
            <a:endParaRPr sz="1650">
              <a:solidFill>
                <a:srgbClr val="475569"/>
              </a:solidFill>
              <a:latin typeface="Inter"/>
              <a:ea typeface="Inter"/>
              <a:cs typeface="Inter"/>
              <a:sym typeface="Inter"/>
            </a:endParaRPr>
          </a:p>
        </p:txBody>
      </p:sp>
      <p:sp>
        <p:nvSpPr>
          <p:cNvPr id="481" name="Google Shape;481;p42"/>
          <p:cNvSpPr txBox="1"/>
          <p:nvPr/>
        </p:nvSpPr>
        <p:spPr>
          <a:xfrm>
            <a:off x="5742075" y="2947125"/>
            <a:ext cx="1240200" cy="46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it-IT" sz="1850">
                <a:solidFill>
                  <a:srgbClr val="475569"/>
                </a:solidFill>
                <a:latin typeface="Inter"/>
                <a:ea typeface="Inter"/>
                <a:cs typeface="Inter"/>
                <a:sym typeface="Inter"/>
              </a:rPr>
              <a:t>Profiling</a:t>
            </a:r>
            <a:endParaRPr sz="1600"/>
          </a:p>
        </p:txBody>
      </p:sp>
      <p:sp>
        <p:nvSpPr>
          <p:cNvPr id="482" name="Google Shape;482;p42"/>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86" name="Shape 486"/>
        <p:cNvGrpSpPr/>
        <p:nvPr/>
      </p:nvGrpSpPr>
      <p:grpSpPr>
        <a:xfrm>
          <a:off x="0" y="0"/>
          <a:ext cx="0" cy="0"/>
          <a:chOff x="0" y="0"/>
          <a:chExt cx="0" cy="0"/>
        </a:xfrm>
      </p:grpSpPr>
      <p:sp>
        <p:nvSpPr>
          <p:cNvPr id="487" name="Google Shape;487;p43"/>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 benchmark</a:t>
            </a:r>
            <a:endParaRPr b="0" sz="1400" u="none" cap="none" strike="noStrike">
              <a:solidFill>
                <a:srgbClr val="000000"/>
              </a:solidFill>
              <a:latin typeface="Arial"/>
              <a:ea typeface="Arial"/>
              <a:cs typeface="Arial"/>
              <a:sym typeface="Arial"/>
            </a:endParaRPr>
          </a:p>
        </p:txBody>
      </p:sp>
      <p:sp>
        <p:nvSpPr>
          <p:cNvPr id="488" name="Google Shape;488;p43"/>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489" name="Google Shape;489;p43"/>
          <p:cNvSpPr txBox="1"/>
          <p:nvPr/>
        </p:nvSpPr>
        <p:spPr>
          <a:xfrm>
            <a:off x="916100" y="1469050"/>
            <a:ext cx="3777900" cy="2978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GMEM Inefficiency</a:t>
            </a:r>
            <a:r>
              <a:rPr lang="it-IT" sz="1650">
                <a:solidFill>
                  <a:srgbClr val="475569"/>
                </a:solidFill>
                <a:latin typeface="Inter"/>
                <a:ea typeface="Inter"/>
                <a:cs typeface="Inter"/>
                <a:sym typeface="Inter"/>
              </a:rPr>
              <a:t>: non-coalesced memory access pattern generates excessive memory traffic, saturating bandwidth.</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H2D Bottleneck</a:t>
            </a:r>
            <a:r>
              <a:rPr lang="it-IT" sz="1650">
                <a:solidFill>
                  <a:srgbClr val="475569"/>
                </a:solidFill>
                <a:latin typeface="Inter"/>
                <a:ea typeface="Inter"/>
                <a:cs typeface="Inter"/>
                <a:sym typeface="Inter"/>
              </a:rPr>
              <a:t>: memory transfers dominate execution time at lower resolutions. The kernel's computational cost emerges and saturates GPU resources only on extreme configurations. </a:t>
            </a:r>
            <a:endParaRPr sz="1650">
              <a:solidFill>
                <a:srgbClr val="475569"/>
              </a:solidFill>
              <a:latin typeface="Inter"/>
              <a:ea typeface="Inter"/>
              <a:cs typeface="Inter"/>
              <a:sym typeface="Inter"/>
            </a:endParaRPr>
          </a:p>
        </p:txBody>
      </p:sp>
      <p:sp>
        <p:nvSpPr>
          <p:cNvPr id="490" name="Google Shape;490;p43"/>
          <p:cNvSpPr txBox="1"/>
          <p:nvPr/>
        </p:nvSpPr>
        <p:spPr>
          <a:xfrm>
            <a:off x="5304796" y="549949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Performance Limitations</a:t>
            </a:r>
            <a:endParaRPr/>
          </a:p>
        </p:txBody>
      </p:sp>
      <p:sp>
        <p:nvSpPr>
          <p:cNvPr id="491" name="Google Shape;491;p43"/>
          <p:cNvSpPr txBox="1"/>
          <p:nvPr/>
        </p:nvSpPr>
        <p:spPr>
          <a:xfrm>
            <a:off x="5304800" y="5815100"/>
            <a:ext cx="6495000" cy="7389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At standard resolutions, the excessive GMEM transfer overhead masks any computational gains: while the kernel itself consistently outperforms the CPU, the total execution time (including H2D/D2H transfers) can exceed CPU-based approaches at lower resolutions.</a:t>
            </a:r>
            <a:endParaRPr sz="1200">
              <a:solidFill>
                <a:srgbClr val="475569"/>
              </a:solidFill>
              <a:latin typeface="Inter"/>
              <a:ea typeface="Inter"/>
              <a:cs typeface="Inter"/>
              <a:sym typeface="Inter"/>
            </a:endParaRPr>
          </a:p>
        </p:txBody>
      </p:sp>
      <p:sp>
        <p:nvSpPr>
          <p:cNvPr id="492" name="Google Shape;492;p43"/>
          <p:cNvSpPr txBox="1"/>
          <p:nvPr/>
        </p:nvSpPr>
        <p:spPr>
          <a:xfrm>
            <a:off x="4895150" y="5414900"/>
            <a:ext cx="6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 </a:t>
            </a:r>
            <a:endParaRPr/>
          </a:p>
        </p:txBody>
      </p:sp>
      <p:graphicFrame>
        <p:nvGraphicFramePr>
          <p:cNvPr id="493" name="Google Shape;493;p43"/>
          <p:cNvGraphicFramePr/>
          <p:nvPr/>
        </p:nvGraphicFramePr>
        <p:xfrm>
          <a:off x="986425" y="4517825"/>
          <a:ext cx="3000000" cy="3000000"/>
        </p:xfrm>
        <a:graphic>
          <a:graphicData uri="http://schemas.openxmlformats.org/drawingml/2006/table">
            <a:tbl>
              <a:tblPr>
                <a:noFill/>
                <a:tableStyleId>{1D995342-5EAB-4557-982D-F2C7F77A1F24}</a:tableStyleId>
              </a:tblPr>
              <a:tblGrid>
                <a:gridCol w="1271750"/>
                <a:gridCol w="1004650"/>
                <a:gridCol w="1071700"/>
              </a:tblGrid>
              <a:tr h="384725">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Resolution</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a:t>
                      </a:r>
                      <a:r>
                        <a:rPr b="1" lang="it-IT" sz="750">
                          <a:solidFill>
                            <a:srgbClr val="475569"/>
                          </a:solidFill>
                          <a:latin typeface="Inter"/>
                          <a:ea typeface="Inter"/>
                          <a:cs typeface="Inter"/>
                          <a:sym typeface="Inter"/>
                        </a:rPr>
                        <a:t> Grid Dimensions</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a:t>
                      </a:r>
                      <a:r>
                        <a:rPr b="1" lang="it-IT" sz="750">
                          <a:solidFill>
                            <a:srgbClr val="475569"/>
                          </a:solidFill>
                          <a:latin typeface="Inter"/>
                          <a:ea typeface="Inter"/>
                          <a:cs typeface="Inter"/>
                          <a:sym typeface="Inter"/>
                        </a:rPr>
                        <a:t> block dimensions</a:t>
                      </a:r>
                      <a:endParaRPr b="1" sz="750">
                        <a:solidFill>
                          <a:srgbClr val="475569"/>
                        </a:solidFill>
                        <a:latin typeface="Inter"/>
                        <a:ea typeface="Inter"/>
                        <a:cs typeface="Inter"/>
                        <a:sym typeface="Inter"/>
                      </a:endParaRPr>
                    </a:p>
                  </a:txBody>
                  <a:tcPr marT="91425" marB="91425" marR="91425" marL="91425"/>
                </a:tc>
              </a:tr>
              <a:tr h="2834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256x256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8x8x1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8x8x1</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512x512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16x16x1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16x16x1</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1024x1024</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2048x2048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64x64x1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4096x4096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128x128x1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r>
              <a:tr h="2834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8192x8192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256x256x1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r>
            </a:tbl>
          </a:graphicData>
        </a:graphic>
      </p:graphicFrame>
      <p:pic>
        <p:nvPicPr>
          <p:cNvPr id="494" name="Google Shape;494;p43"/>
          <p:cNvPicPr preferRelativeResize="0"/>
          <p:nvPr/>
        </p:nvPicPr>
        <p:blipFill>
          <a:blip r:embed="rId4">
            <a:alphaModFix/>
          </a:blip>
          <a:stretch>
            <a:fillRect/>
          </a:stretch>
        </p:blipFill>
        <p:spPr>
          <a:xfrm>
            <a:off x="5068275" y="1186838"/>
            <a:ext cx="6731551" cy="4039588"/>
          </a:xfrm>
          <a:prstGeom prst="rect">
            <a:avLst/>
          </a:prstGeom>
          <a:noFill/>
          <a:ln>
            <a:noFill/>
          </a:ln>
        </p:spPr>
      </p:pic>
      <p:sp>
        <p:nvSpPr>
          <p:cNvPr id="495" name="Google Shape;495;p43"/>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99" name="Shape 499"/>
        <p:cNvGrpSpPr/>
        <p:nvPr/>
      </p:nvGrpSpPr>
      <p:grpSpPr>
        <a:xfrm>
          <a:off x="0" y="0"/>
          <a:ext cx="0" cy="0"/>
          <a:chOff x="0" y="0"/>
          <a:chExt cx="0" cy="0"/>
        </a:xfrm>
      </p:grpSpPr>
      <p:sp>
        <p:nvSpPr>
          <p:cNvPr id="500" name="Google Shape;500;p44"/>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Naive: benchmark</a:t>
            </a:r>
            <a:endParaRPr b="0" sz="1400" u="none" cap="none" strike="noStrike">
              <a:solidFill>
                <a:srgbClr val="000000"/>
              </a:solidFill>
              <a:latin typeface="Arial"/>
              <a:ea typeface="Arial"/>
              <a:cs typeface="Arial"/>
              <a:sym typeface="Arial"/>
            </a:endParaRPr>
          </a:p>
        </p:txBody>
      </p:sp>
      <p:sp>
        <p:nvSpPr>
          <p:cNvPr id="501" name="Google Shape;501;p44"/>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2" name="Google Shape;502;p44"/>
          <p:cNvSpPr txBox="1"/>
          <p:nvPr/>
        </p:nvSpPr>
        <p:spPr>
          <a:xfrm>
            <a:off x="771525" y="1579600"/>
            <a:ext cx="37779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graphicFrame>
        <p:nvGraphicFramePr>
          <p:cNvPr id="503" name="Google Shape;503;p44"/>
          <p:cNvGraphicFramePr/>
          <p:nvPr/>
        </p:nvGraphicFramePr>
        <p:xfrm>
          <a:off x="771525" y="5612050"/>
          <a:ext cx="3000000" cy="3000000"/>
        </p:xfrm>
        <a:graphic>
          <a:graphicData uri="http://schemas.openxmlformats.org/drawingml/2006/table">
            <a:tbl>
              <a:tblPr>
                <a:noFill/>
                <a:tableStyleId>{1D995342-5EAB-4557-982D-F2C7F77A1F24}</a:tableStyleId>
              </a:tblPr>
              <a:tblGrid>
                <a:gridCol w="1486650"/>
                <a:gridCol w="1004650"/>
                <a:gridCol w="1071700"/>
              </a:tblGrid>
              <a:tr h="402925">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2048x2048))</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a:t>
                      </a:r>
                      <a:r>
                        <a:rPr b="1" lang="it-IT" sz="750">
                          <a:solidFill>
                            <a:srgbClr val="475569"/>
                          </a:solidFill>
                          <a:latin typeface="Inter"/>
                          <a:ea typeface="Inter"/>
                          <a:cs typeface="Inter"/>
                          <a:sym typeface="Inter"/>
                        </a:rPr>
                        <a:t> Grid Dimensions</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a:t>
                      </a:r>
                      <a:r>
                        <a:rPr b="1" lang="it-IT" sz="750">
                          <a:solidFill>
                            <a:srgbClr val="475569"/>
                          </a:solidFill>
                          <a:latin typeface="Inter"/>
                          <a:ea typeface="Inter"/>
                          <a:cs typeface="Inter"/>
                          <a:sym typeface="Inter"/>
                        </a:rPr>
                        <a:t> block dimensions</a:t>
                      </a:r>
                      <a:endParaRPr b="1" sz="750">
                        <a:solidFill>
                          <a:srgbClr val="475569"/>
                        </a:solidFill>
                        <a:latin typeface="Inter"/>
                        <a:ea typeface="Inter"/>
                        <a:cs typeface="Inter"/>
                        <a:sym typeface="Inter"/>
                      </a:endParaRPr>
                    </a:p>
                  </a:txBody>
                  <a:tcPr marT="91425" marB="91425" marR="91425" marL="91425"/>
                </a:tc>
              </a:tr>
              <a:tr h="291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a:t>
                      </a:r>
                      <a:r>
                        <a:rPr lang="it-IT" sz="750">
                          <a:solidFill>
                            <a:srgbClr val="475569"/>
                          </a:solidFill>
                          <a:latin typeface="Inter"/>
                          <a:ea typeface="Inter"/>
                          <a:cs typeface="Inter"/>
                          <a:sym typeface="Inter"/>
                        </a:rPr>
                        <a:t>x64x1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r>
                        <a:rPr lang="it-IT" sz="750">
                          <a:solidFill>
                            <a:srgbClr val="475569"/>
                          </a:solidFill>
                          <a:latin typeface="Inter"/>
                          <a:ea typeface="Inter"/>
                          <a:cs typeface="Inter"/>
                          <a:sym typeface="Inter"/>
                        </a:rPr>
                        <a:t>x32x1</a:t>
                      </a:r>
                      <a:endParaRPr sz="750">
                        <a:solidFill>
                          <a:srgbClr val="475569"/>
                        </a:solidFill>
                        <a:latin typeface="Inter"/>
                        <a:ea typeface="Inter"/>
                        <a:cs typeface="Inter"/>
                        <a:sym typeface="Inter"/>
                      </a:endParaRPr>
                    </a:p>
                  </a:txBody>
                  <a:tcPr marT="91425" marB="91425" marR="91425" marL="91425"/>
                </a:tc>
              </a:tr>
              <a:tr h="291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16x16x1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16x16x1</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504" name="Google Shape;504;p44"/>
          <p:cNvSpPr txBox="1"/>
          <p:nvPr/>
        </p:nvSpPr>
        <p:spPr>
          <a:xfrm>
            <a:off x="771525" y="1579600"/>
            <a:ext cx="3930300" cy="399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Performance improvement:</a:t>
            </a:r>
            <a:endParaRPr b="1"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increasing the block size drastically shrinks the CUDA grid, minimizing the total number of blocks launched. This quadratically reduces both the number of GMEM write operations and the size of the resulting motion vector array.</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Sequential Thread Overload</a:t>
            </a:r>
            <a:r>
              <a:rPr lang="it-IT" sz="1650">
                <a:solidFill>
                  <a:srgbClr val="475569"/>
                </a:solidFill>
                <a:latin typeface="Inter"/>
                <a:ea typeface="Inter"/>
                <a:cs typeface="Inter"/>
                <a:sym typeface="Inter"/>
              </a:rPr>
              <a:t>: as threads parallelize the search across candidate positions, increasing the block size forces each thread to sequentially process a quadratically larger number of pixels.</a:t>
            </a:r>
            <a:endParaRPr sz="1650">
              <a:solidFill>
                <a:srgbClr val="475569"/>
              </a:solidFill>
              <a:latin typeface="Inter"/>
              <a:ea typeface="Inter"/>
              <a:cs typeface="Inter"/>
              <a:sym typeface="Inter"/>
            </a:endParaRPr>
          </a:p>
        </p:txBody>
      </p:sp>
      <p:sp>
        <p:nvSpPr>
          <p:cNvPr id="505" name="Google Shape;505;p44"/>
          <p:cNvSpPr txBox="1"/>
          <p:nvPr/>
        </p:nvSpPr>
        <p:spPr>
          <a:xfrm>
            <a:off x="5304821" y="569664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Accuracy vs. Performance Trade-off </a:t>
            </a:r>
            <a:endParaRPr/>
          </a:p>
        </p:txBody>
      </p:sp>
      <p:sp>
        <p:nvSpPr>
          <p:cNvPr id="506" name="Google Shape;506;p44"/>
          <p:cNvSpPr txBox="1"/>
          <p:nvPr/>
        </p:nvSpPr>
        <p:spPr>
          <a:xfrm>
            <a:off x="5304821" y="6114172"/>
            <a:ext cx="63312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While increasing the block size improves execution time, it severely degrades the granularity of the motion vectors, leading to a highly approximated result. </a:t>
            </a:r>
            <a:endParaRPr sz="1200">
              <a:solidFill>
                <a:srgbClr val="475569"/>
              </a:solidFill>
              <a:latin typeface="Inter"/>
              <a:ea typeface="Inter"/>
              <a:cs typeface="Inter"/>
              <a:sym typeface="Inter"/>
            </a:endParaRPr>
          </a:p>
        </p:txBody>
      </p:sp>
      <p:sp>
        <p:nvSpPr>
          <p:cNvPr id="507" name="Google Shape;507;p44"/>
          <p:cNvSpPr txBox="1"/>
          <p:nvPr/>
        </p:nvSpPr>
        <p:spPr>
          <a:xfrm>
            <a:off x="4885000" y="5612050"/>
            <a:ext cx="6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pic>
        <p:nvPicPr>
          <p:cNvPr id="508" name="Google Shape;508;p44"/>
          <p:cNvPicPr preferRelativeResize="0"/>
          <p:nvPr/>
        </p:nvPicPr>
        <p:blipFill>
          <a:blip r:embed="rId4">
            <a:alphaModFix/>
          </a:blip>
          <a:stretch>
            <a:fillRect/>
          </a:stretch>
        </p:blipFill>
        <p:spPr>
          <a:xfrm>
            <a:off x="4701825" y="1222913"/>
            <a:ext cx="7337774" cy="4191990"/>
          </a:xfrm>
          <a:prstGeom prst="rect">
            <a:avLst/>
          </a:prstGeom>
          <a:noFill/>
          <a:ln>
            <a:noFill/>
          </a:ln>
        </p:spPr>
      </p:pic>
      <p:sp>
        <p:nvSpPr>
          <p:cNvPr id="509" name="Google Shape;509;p44"/>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13" name="Shape 513"/>
        <p:cNvGrpSpPr/>
        <p:nvPr/>
      </p:nvGrpSpPr>
      <p:grpSpPr>
        <a:xfrm>
          <a:off x="0" y="0"/>
          <a:ext cx="0" cy="0"/>
          <a:chOff x="0" y="0"/>
          <a:chExt cx="0" cy="0"/>
        </a:xfrm>
      </p:grpSpPr>
      <p:sp>
        <p:nvSpPr>
          <p:cNvPr id="514" name="Google Shape;514;p45"/>
          <p:cNvSpPr txBox="1"/>
          <p:nvPr/>
        </p:nvSpPr>
        <p:spPr>
          <a:xfrm>
            <a:off x="771525" y="1160275"/>
            <a:ext cx="6976200" cy="2031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To improve block-by-block parallelization, this implementation introduces granular parallelism for SAD computation inside di cuda block:</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grid 2D: </a:t>
            </a:r>
            <a:r>
              <a:rPr lang="it-IT" sz="1650">
                <a:solidFill>
                  <a:srgbClr val="475569"/>
                </a:solidFill>
                <a:latin typeface="Inter"/>
                <a:ea typeface="Inter"/>
                <a:cs typeface="Inter"/>
                <a:sym typeface="Inter"/>
              </a:rPr>
              <a:t>maps the frame grid. Each CUDA Block processes exactly one block of the current frame.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block 3D:</a:t>
            </a:r>
            <a:r>
              <a:rPr lang="it-IT" sz="1650">
                <a:solidFill>
                  <a:srgbClr val="475569"/>
                </a:solidFill>
                <a:latin typeface="Inter"/>
                <a:ea typeface="Inter"/>
                <a:cs typeface="Inter"/>
                <a:sym typeface="Inter"/>
              </a:rPr>
              <a:t> YZ axes map to the search window candidate positions, while threads along the X-axis concurrently compute the partial SAD for the same pair of frame blocks.</a:t>
            </a:r>
            <a:endParaRPr b="1" sz="1650">
              <a:solidFill>
                <a:srgbClr val="475569"/>
              </a:solidFill>
              <a:latin typeface="Inter"/>
              <a:ea typeface="Inter"/>
              <a:cs typeface="Inter"/>
              <a:sym typeface="Inter"/>
            </a:endParaRPr>
          </a:p>
        </p:txBody>
      </p:sp>
      <p:sp>
        <p:nvSpPr>
          <p:cNvPr id="515" name="Google Shape;515;p45"/>
          <p:cNvSpPr txBox="1"/>
          <p:nvPr/>
        </p:nvSpPr>
        <p:spPr>
          <a:xfrm>
            <a:off x="720375" y="3192175"/>
            <a:ext cx="7078500" cy="3555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Workflow idea:</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a:t>
            </a:r>
            <a:r>
              <a:rPr lang="it-IT" sz="1650">
                <a:solidFill>
                  <a:srgbClr val="475569"/>
                </a:solidFill>
                <a:latin typeface="Inter"/>
                <a:ea typeface="Inter"/>
                <a:cs typeface="Inter"/>
                <a:sym typeface="Inter"/>
              </a:rPr>
              <a:t>: transfer (H2D) the current and reference frames into GMEM </a:t>
            </a:r>
            <a:r>
              <a:rPr lang="it-IT" sz="1650">
                <a:solidFill>
                  <a:srgbClr val="475569"/>
                </a:solidFill>
                <a:latin typeface="Inter"/>
                <a:ea typeface="Inter"/>
                <a:cs typeface="Inter"/>
                <a:sym typeface="Inter"/>
              </a:rPr>
              <a:t>and calculate size of the SMEM.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Kernel Side:</a:t>
            </a:r>
            <a:endParaRPr b="1"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Loading SMEM</a:t>
            </a:r>
            <a:r>
              <a:rPr lang="it-IT" sz="1650">
                <a:solidFill>
                  <a:srgbClr val="475569"/>
                </a:solidFill>
                <a:latin typeface="Inter"/>
                <a:ea typeface="Inter"/>
                <a:cs typeface="Inter"/>
                <a:sym typeface="Inter"/>
              </a:rPr>
              <a:t>: each thread collectively loads the current frame block associated to its respective CUDA block into SMEM.</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Intra-Candidate Reduction: </a:t>
            </a:r>
            <a:r>
              <a:rPr lang="it-IT" sz="1650">
                <a:solidFill>
                  <a:srgbClr val="475569"/>
                </a:solidFill>
                <a:latin typeface="Inter"/>
                <a:ea typeface="Inter"/>
                <a:cs typeface="Inter"/>
                <a:sym typeface="Inter"/>
              </a:rPr>
              <a:t>compute partial SAD and, by cooperative-groups reduction, accumulate values into a total SAD for each candidate reference frame block.</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Block-Wide Reduction</a:t>
            </a:r>
            <a:r>
              <a:rPr lang="it-IT" sz="1650">
                <a:solidFill>
                  <a:srgbClr val="475569"/>
                </a:solidFill>
                <a:latin typeface="Inter"/>
                <a:ea typeface="Inter"/>
                <a:cs typeface="Inter"/>
                <a:sym typeface="Inter"/>
              </a:rPr>
              <a:t>:</a:t>
            </a:r>
            <a:r>
              <a:rPr b="1" lang="it-IT" sz="1650">
                <a:solidFill>
                  <a:srgbClr val="475569"/>
                </a:solidFill>
                <a:latin typeface="Inter"/>
                <a:ea typeface="Inter"/>
                <a:cs typeface="Inter"/>
                <a:sym typeface="Inter"/>
              </a:rPr>
              <a:t> </a:t>
            </a:r>
            <a:r>
              <a:rPr lang="it-IT" sz="1650">
                <a:solidFill>
                  <a:srgbClr val="475569"/>
                </a:solidFill>
                <a:latin typeface="Inter"/>
                <a:ea typeface="Inter"/>
                <a:cs typeface="Inter"/>
                <a:sym typeface="Inter"/>
              </a:rPr>
              <a:t>cooperative reduction across warps to identify the candidate with minimum SAD and optimal MV, followed by a direct write of the final result to GMEM.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 </a:t>
            </a:r>
            <a:r>
              <a:rPr lang="it-IT" sz="1650">
                <a:solidFill>
                  <a:srgbClr val="475569"/>
                </a:solidFill>
                <a:latin typeface="Inter"/>
                <a:ea typeface="Inter"/>
                <a:cs typeface="Inter"/>
                <a:sym typeface="Inter"/>
              </a:rPr>
              <a:t>read final result from GMEM (D2H).</a:t>
            </a:r>
            <a:endParaRPr sz="1650">
              <a:solidFill>
                <a:srgbClr val="475569"/>
              </a:solidFill>
              <a:latin typeface="Inter"/>
              <a:ea typeface="Inter"/>
              <a:cs typeface="Inter"/>
              <a:sym typeface="Inter"/>
            </a:endParaRPr>
          </a:p>
        </p:txBody>
      </p:sp>
      <p:pic>
        <p:nvPicPr>
          <p:cNvPr descr="graph TD&#10;    classDef host fill:#ffffff,stroke:#76b900,stroke-width:2px,color:#333333,rx:4px,ry:4px;&#10;    classDef kernel fill:#76b900,stroke:#222222,stroke-width:2px,color:#ffffff,font-weight:bold,rx:10px,ry:10px;&#10;    classDef thread fill:#f4f9f1,stroke:#76b900,stroke-width:2px,color:#333333,rx:4px,ry:4px;&#10;    classDef memory fill:#e6ffe6,stroke:#76b900,stroke-width:1px,color:#333333,rx:10px,ry:10px;&#10;    classDef highlight fill:#ffe6e6,stroke:#ff5f56,stroke-width:2px,color:#333333,rx:10px,ry:10px;&#10;    classDef dots fill:none,stroke:none,color:#76b900,font-size:24px,font-weight:bold;&#10;&#10;    subgraph Host_In [&quot;Host Side&quot;]&#10;        H_IN[&quot;Transfer frames (H2D)&lt;br/&gt;to GMEM &amp; Calculate&lt;br/&gt;size of SMEM&quot;]:::host&#10;    end&#10;&#10;    K[&quot;Kernel Launch&lt;br/&gt;Grid: Maps Frame&lt;br/&gt;Block YZ: Candidates&lt;br/&gt;Block X: Partial SAD&quot;]:::kernel&#10;    &#10;    H_IN ==&gt; K&#10;&#10;    subgraph CUDA_Block [&quot;Kernel Side: CUDA Block &quot;]&#10;        SMEM[&quot;Loading SMEM:&lt;br/&gt;Collective load of&lt;br/&gt;current frame block&quot;]:::memory&#10;        &#10;        T0[&quot;Cand 0 (Threads YZ)&lt;br/&gt;Partial SAD Aggregation:&lt;br/&gt;Warp-level reduce (X)&quot;]:::thread&#10;        TDots[&quot;...&quot;]:::dots&#10;        TN[&quot;Cand N (Threads YZ)&lt;br/&gt;Partial SAD Aggregation:&lt;br/&gt;Warp-level reduce (X)&quot;]:::thread&#10;&#10;        REDUCE[&quot;Intra-block Reduction:&lt;br/&gt;Identify abs. min SAD&lt;br/&gt;&amp; optimal MV&quot;]:::highlight&#10;    end&#10;&#10;    K ===&gt; SMEM&#10;    &#10;    SMEM ===&gt; T0&#10;    SMEM ===&gt; TDots&#10;    SMEM ===&gt; TN&#10;&#10;    T0 ---&gt; REDUCE&#10;    TDots ---&gt; REDUCE&#10;    TN ---&gt; REDUCE&#10;&#10;    subgraph Host_Out [&quot;Host Side&quot;]&#10;        H_OUT[&quot;Read final result&lt;br/&gt;from GMEM (D2H)&quot;]:::host&#10;    end&#10;&#10;    REDUCE ==&gt;|&quot;Direct write to GMEM&quot;| H_OUT" id="516" name="Google Shape;516;p45" title="mermaid-graph/default"/>
          <p:cNvPicPr preferRelativeResize="0"/>
          <p:nvPr/>
        </p:nvPicPr>
        <p:blipFill>
          <a:blip r:embed="rId4">
            <a:alphaModFix/>
          </a:blip>
          <a:stretch>
            <a:fillRect/>
          </a:stretch>
        </p:blipFill>
        <p:spPr>
          <a:xfrm>
            <a:off x="8067375" y="1039425"/>
            <a:ext cx="3512717" cy="5708352"/>
          </a:xfrm>
          <a:prstGeom prst="rect">
            <a:avLst/>
          </a:prstGeom>
          <a:noFill/>
          <a:ln>
            <a:noFill/>
          </a:ln>
        </p:spPr>
      </p:pic>
      <p:sp>
        <p:nvSpPr>
          <p:cNvPr id="517" name="Google Shape;517;p45"/>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Uncoalesced</a:t>
            </a:r>
            <a:endParaRPr b="0" sz="1400" u="none" cap="none" strike="noStrike">
              <a:solidFill>
                <a:srgbClr val="000000"/>
              </a:solidFill>
              <a:latin typeface="Arial"/>
              <a:ea typeface="Arial"/>
              <a:cs typeface="Arial"/>
              <a:sym typeface="Arial"/>
            </a:endParaRPr>
          </a:p>
        </p:txBody>
      </p:sp>
      <p:sp>
        <p:nvSpPr>
          <p:cNvPr id="518" name="Google Shape;518;p45"/>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9" name="Google Shape;519;p45"/>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3" name="Shape 523"/>
        <p:cNvGrpSpPr/>
        <p:nvPr/>
      </p:nvGrpSpPr>
      <p:grpSpPr>
        <a:xfrm>
          <a:off x="0" y="0"/>
          <a:ext cx="0" cy="0"/>
          <a:chOff x="0" y="0"/>
          <a:chExt cx="0" cy="0"/>
        </a:xfrm>
      </p:grpSpPr>
      <p:sp>
        <p:nvSpPr>
          <p:cNvPr id="524" name="Google Shape;524;p46"/>
          <p:cNvSpPr txBox="1"/>
          <p:nvPr/>
        </p:nvSpPr>
        <p:spPr>
          <a:xfrm rot="-5400000">
            <a:off x="6546236" y="5038088"/>
            <a:ext cx="444000" cy="304200"/>
          </a:xfrm>
          <a:prstGeom prst="rect">
            <a:avLst/>
          </a:prstGeom>
          <a:noFill/>
          <a:ln>
            <a:noFill/>
          </a:ln>
        </p:spPr>
        <p:txBody>
          <a:bodyPr anchorCtr="0" anchor="t" bIns="78900" lIns="78900" spcFirstLastPara="1" rIns="78900" wrap="square" tIns="78900">
            <a:noAutofit/>
          </a:bodyPr>
          <a:lstStyle/>
          <a:p>
            <a:pPr indent="0" lvl="0" marL="0" rtl="0" algn="l">
              <a:spcBef>
                <a:spcPts val="0"/>
              </a:spcBef>
              <a:spcAft>
                <a:spcPts val="0"/>
              </a:spcAft>
              <a:buNone/>
            </a:pPr>
            <a:r>
              <a:rPr lang="it-IT" sz="992">
                <a:solidFill>
                  <a:srgbClr val="475569"/>
                </a:solidFill>
                <a:latin typeface="Inter"/>
                <a:ea typeface="Inter"/>
                <a:cs typeface="Inter"/>
                <a:sym typeface="Inter"/>
              </a:rPr>
              <a:t>Dy</a:t>
            </a:r>
            <a:endParaRPr sz="863">
              <a:solidFill>
                <a:schemeClr val="dk1"/>
              </a:solidFill>
              <a:latin typeface="Calibri"/>
              <a:ea typeface="Calibri"/>
              <a:cs typeface="Calibri"/>
              <a:sym typeface="Calibri"/>
            </a:endParaRPr>
          </a:p>
        </p:txBody>
      </p:sp>
      <p:pic>
        <p:nvPicPr>
          <p:cNvPr id="525" name="Google Shape;525;p46"/>
          <p:cNvPicPr preferRelativeResize="0"/>
          <p:nvPr/>
        </p:nvPicPr>
        <p:blipFill>
          <a:blip r:embed="rId4">
            <a:alphaModFix/>
          </a:blip>
          <a:stretch>
            <a:fillRect/>
          </a:stretch>
        </p:blipFill>
        <p:spPr>
          <a:xfrm>
            <a:off x="6914661" y="4657838"/>
            <a:ext cx="2941738" cy="1401174"/>
          </a:xfrm>
          <a:prstGeom prst="rect">
            <a:avLst/>
          </a:prstGeom>
          <a:noFill/>
          <a:ln>
            <a:noFill/>
          </a:ln>
        </p:spPr>
      </p:pic>
      <p:sp>
        <p:nvSpPr>
          <p:cNvPr id="526" name="Google Shape;526;p46"/>
          <p:cNvSpPr txBox="1"/>
          <p:nvPr/>
        </p:nvSpPr>
        <p:spPr>
          <a:xfrm>
            <a:off x="771525" y="1312475"/>
            <a:ext cx="5844600" cy="1523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GridDim: 2 dimensions [blocksX, blocksY]</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CUDA grid has the same dimensions as the frame's block grid.</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Each CUDA block is responsible for finding the best match for its corresponding current frame block within the reference frame.</a:t>
            </a:r>
            <a:endParaRPr sz="1650">
              <a:solidFill>
                <a:srgbClr val="475569"/>
              </a:solidFill>
              <a:latin typeface="Inter"/>
              <a:ea typeface="Inter"/>
              <a:cs typeface="Inter"/>
              <a:sym typeface="Inter"/>
            </a:endParaRPr>
          </a:p>
        </p:txBody>
      </p:sp>
      <p:sp>
        <p:nvSpPr>
          <p:cNvPr id="527" name="Google Shape;527;p46"/>
          <p:cNvSpPr txBox="1"/>
          <p:nvPr/>
        </p:nvSpPr>
        <p:spPr>
          <a:xfrm>
            <a:off x="6639125" y="1201875"/>
            <a:ext cx="54621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BlockDim: 3 dimensions [</a:t>
            </a:r>
            <a:r>
              <a:rPr b="1" lang="it-IT" sz="1650">
                <a:solidFill>
                  <a:srgbClr val="475569"/>
                </a:solidFill>
                <a:latin typeface="Inter"/>
                <a:ea typeface="Inter"/>
                <a:cs typeface="Inter"/>
                <a:sym typeface="Inter"/>
              </a:rPr>
              <a:t>maxThreadsPerBlock/(blocksX*blocksY),</a:t>
            </a:r>
            <a:endParaRPr b="1"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 </a:t>
            </a:r>
            <a:r>
              <a:rPr b="1" lang="it-IT" sz="1650">
                <a:solidFill>
                  <a:srgbClr val="475569"/>
                </a:solidFill>
                <a:latin typeface="Inter"/>
                <a:ea typeface="Inter"/>
                <a:cs typeface="Inter"/>
                <a:sym typeface="Inter"/>
              </a:rPr>
              <a:t>blocksX, blocksY ]:</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Y and Z dimensions map candidate reference frame blocks.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X dimension parallelizes SAD computation for each candidate pair, sized to the largest power of two within the remaining thread budget, capped at 32 to keep the intra-candidate reduction within a single warp.</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A fallback configuration (4 × 16 × 16) applies when YZ thread count exceeds hardware limits.</a:t>
            </a:r>
            <a:endParaRPr sz="1650">
              <a:solidFill>
                <a:srgbClr val="475569"/>
              </a:solidFill>
              <a:latin typeface="Inter"/>
              <a:ea typeface="Inter"/>
              <a:cs typeface="Inter"/>
              <a:sym typeface="Inter"/>
            </a:endParaRPr>
          </a:p>
        </p:txBody>
      </p:sp>
      <p:pic>
        <p:nvPicPr>
          <p:cNvPr id="528" name="Google Shape;528;p46"/>
          <p:cNvPicPr preferRelativeResize="0"/>
          <p:nvPr/>
        </p:nvPicPr>
        <p:blipFill>
          <a:blip r:embed="rId5">
            <a:alphaModFix/>
          </a:blip>
          <a:stretch>
            <a:fillRect/>
          </a:stretch>
        </p:blipFill>
        <p:spPr>
          <a:xfrm>
            <a:off x="1309250" y="3909450"/>
            <a:ext cx="2157625" cy="2165798"/>
          </a:xfrm>
          <a:prstGeom prst="rect">
            <a:avLst/>
          </a:prstGeom>
          <a:noFill/>
          <a:ln>
            <a:noFill/>
          </a:ln>
        </p:spPr>
      </p:pic>
      <p:sp>
        <p:nvSpPr>
          <p:cNvPr id="529" name="Google Shape;529;p46"/>
          <p:cNvSpPr/>
          <p:nvPr/>
        </p:nvSpPr>
        <p:spPr>
          <a:xfrm>
            <a:off x="3751550" y="5906925"/>
            <a:ext cx="1420800" cy="3525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950">
              <a:solidFill>
                <a:srgbClr val="475569"/>
              </a:solidFill>
              <a:latin typeface="Inter"/>
              <a:ea typeface="Inter"/>
              <a:cs typeface="Inter"/>
              <a:sym typeface="Inter"/>
            </a:endParaRPr>
          </a:p>
          <a:p>
            <a:pPr indent="0" lvl="0" marL="0" rtl="0" algn="l">
              <a:spcBef>
                <a:spcPts val="0"/>
              </a:spcBef>
              <a:spcAft>
                <a:spcPts val="0"/>
              </a:spcAft>
              <a:buNone/>
            </a:pPr>
            <a:r>
              <a:rPr b="1" lang="it-IT" sz="950">
                <a:solidFill>
                  <a:srgbClr val="475569"/>
                </a:solidFill>
                <a:latin typeface="Inter"/>
                <a:ea typeface="Inter"/>
                <a:cs typeface="Inter"/>
                <a:sym typeface="Inter"/>
              </a:rPr>
              <a:t>blockIdx.x: blockX</a:t>
            </a:r>
            <a:endParaRPr sz="950">
              <a:solidFill>
                <a:srgbClr val="475569"/>
              </a:solidFill>
              <a:latin typeface="Inter"/>
              <a:ea typeface="Inter"/>
              <a:cs typeface="Inter"/>
              <a:sym typeface="Inter"/>
            </a:endParaRPr>
          </a:p>
          <a:p>
            <a:pPr indent="0" lvl="0" marL="0" rtl="0" algn="l">
              <a:spcBef>
                <a:spcPts val="0"/>
              </a:spcBef>
              <a:spcAft>
                <a:spcPts val="0"/>
              </a:spcAft>
              <a:buNone/>
            </a:pPr>
            <a:r>
              <a:rPr b="1" lang="it-IT" sz="950">
                <a:solidFill>
                  <a:srgbClr val="475569"/>
                </a:solidFill>
                <a:latin typeface="Inter"/>
                <a:ea typeface="Inter"/>
                <a:cs typeface="Inter"/>
                <a:sym typeface="Inter"/>
              </a:rPr>
              <a:t>blockIdx.y: BlockY</a:t>
            </a:r>
            <a:endParaRPr b="1" sz="950">
              <a:solidFill>
                <a:srgbClr val="475569"/>
              </a:solidFill>
              <a:latin typeface="Inter"/>
              <a:ea typeface="Inter"/>
              <a:cs typeface="Inter"/>
              <a:sym typeface="Inter"/>
            </a:endParaRPr>
          </a:p>
          <a:p>
            <a:pPr indent="0" lvl="0" marL="0" rtl="0" algn="l">
              <a:spcBef>
                <a:spcPts val="0"/>
              </a:spcBef>
              <a:spcAft>
                <a:spcPts val="0"/>
              </a:spcAft>
              <a:buNone/>
            </a:pPr>
            <a:r>
              <a:t/>
            </a:r>
            <a:endParaRPr b="1" sz="950">
              <a:solidFill>
                <a:srgbClr val="475569"/>
              </a:solidFill>
              <a:latin typeface="Inter"/>
              <a:ea typeface="Inter"/>
              <a:cs typeface="Inter"/>
              <a:sym typeface="Inter"/>
            </a:endParaRPr>
          </a:p>
        </p:txBody>
      </p:sp>
      <p:cxnSp>
        <p:nvCxnSpPr>
          <p:cNvPr id="530" name="Google Shape;530;p46"/>
          <p:cNvCxnSpPr>
            <a:endCxn id="529" idx="1"/>
          </p:cNvCxnSpPr>
          <p:nvPr/>
        </p:nvCxnSpPr>
        <p:spPr>
          <a:xfrm>
            <a:off x="3344450" y="5913375"/>
            <a:ext cx="407100" cy="169800"/>
          </a:xfrm>
          <a:prstGeom prst="straightConnector1">
            <a:avLst/>
          </a:prstGeom>
          <a:noFill/>
          <a:ln cap="flat" cmpd="sng" w="38100">
            <a:solidFill>
              <a:srgbClr val="757575"/>
            </a:solidFill>
            <a:prstDash val="solid"/>
            <a:round/>
            <a:headEnd len="med" w="med" type="stealth"/>
            <a:tailEnd len="med" w="med" type="none"/>
          </a:ln>
        </p:spPr>
      </p:cxnSp>
      <p:sp>
        <p:nvSpPr>
          <p:cNvPr id="531" name="Google Shape;531;p46"/>
          <p:cNvSpPr/>
          <p:nvPr/>
        </p:nvSpPr>
        <p:spPr>
          <a:xfrm>
            <a:off x="1518650" y="6114350"/>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grid</a:t>
            </a:r>
            <a:endParaRPr sz="1000">
              <a:solidFill>
                <a:srgbClr val="0F172A"/>
              </a:solidFill>
              <a:latin typeface="Outfit"/>
              <a:ea typeface="Outfit"/>
              <a:cs typeface="Outfit"/>
              <a:sym typeface="Outfit"/>
            </a:endParaRPr>
          </a:p>
        </p:txBody>
      </p:sp>
      <p:sp>
        <p:nvSpPr>
          <p:cNvPr id="532" name="Google Shape;532;p46"/>
          <p:cNvSpPr/>
          <p:nvPr/>
        </p:nvSpPr>
        <p:spPr>
          <a:xfrm>
            <a:off x="4836288" y="4313513"/>
            <a:ext cx="2060700" cy="398400"/>
          </a:xfrm>
          <a:prstGeom prst="roundRect">
            <a:avLst>
              <a:gd fmla="val 16667" name="adj"/>
            </a:avLst>
          </a:prstGeom>
          <a:solidFill>
            <a:schemeClr val="lt2"/>
          </a:solidFill>
          <a:ln cap="flat" cmpd="sng" w="8225">
            <a:solidFill>
              <a:srgbClr val="888888"/>
            </a:solidFill>
            <a:prstDash val="solid"/>
            <a:round/>
            <a:headEnd len="sm" w="sm" type="none"/>
            <a:tailEnd len="sm" w="sm" type="none"/>
          </a:ln>
        </p:spPr>
        <p:txBody>
          <a:bodyPr anchorCtr="0" anchor="ctr" bIns="78900" lIns="78900" spcFirstLastPara="1" rIns="78900" wrap="square" tIns="78900">
            <a:noAutofit/>
          </a:bodyPr>
          <a:lstStyle/>
          <a:p>
            <a:pPr indent="0" lvl="0" marL="0" rtl="0" algn="l">
              <a:spcBef>
                <a:spcPts val="0"/>
              </a:spcBef>
              <a:spcAft>
                <a:spcPts val="0"/>
              </a:spcAft>
              <a:buNone/>
            </a:pPr>
            <a:r>
              <a:rPr b="1" lang="it-IT" sz="992">
                <a:solidFill>
                  <a:srgbClr val="475569"/>
                </a:solidFill>
                <a:latin typeface="Inter"/>
                <a:ea typeface="Inter"/>
                <a:cs typeface="Inter"/>
                <a:sym typeface="Inter"/>
              </a:rPr>
              <a:t>tidx_yz= threadIdx.z * blockDim.y + threadIdx.y</a:t>
            </a:r>
            <a:endParaRPr b="1" sz="992">
              <a:solidFill>
                <a:srgbClr val="475569"/>
              </a:solidFill>
              <a:latin typeface="Inter"/>
              <a:ea typeface="Inter"/>
              <a:cs typeface="Inter"/>
              <a:sym typeface="Inter"/>
            </a:endParaRPr>
          </a:p>
        </p:txBody>
      </p:sp>
      <p:cxnSp>
        <p:nvCxnSpPr>
          <p:cNvPr id="533" name="Google Shape;533;p46"/>
          <p:cNvCxnSpPr>
            <a:stCxn id="532" idx="3"/>
          </p:cNvCxnSpPr>
          <p:nvPr/>
        </p:nvCxnSpPr>
        <p:spPr>
          <a:xfrm>
            <a:off x="6896988" y="4512713"/>
            <a:ext cx="294000" cy="886200"/>
          </a:xfrm>
          <a:prstGeom prst="straightConnector1">
            <a:avLst/>
          </a:prstGeom>
          <a:noFill/>
          <a:ln cap="flat" cmpd="sng" w="24650">
            <a:solidFill>
              <a:srgbClr val="757575"/>
            </a:solidFill>
            <a:prstDash val="solid"/>
            <a:round/>
            <a:headEnd len="med" w="med" type="none"/>
            <a:tailEnd len="med" w="med" type="stealth"/>
          </a:ln>
        </p:spPr>
      </p:cxnSp>
      <p:sp>
        <p:nvSpPr>
          <p:cNvPr id="534" name="Google Shape;534;p46"/>
          <p:cNvSpPr/>
          <p:nvPr/>
        </p:nvSpPr>
        <p:spPr>
          <a:xfrm>
            <a:off x="7687175" y="6085912"/>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Block</a:t>
            </a:r>
            <a:endParaRPr sz="1000">
              <a:solidFill>
                <a:srgbClr val="0F172A"/>
              </a:solidFill>
              <a:latin typeface="Outfit"/>
              <a:ea typeface="Outfit"/>
              <a:cs typeface="Outfit"/>
              <a:sym typeface="Outfit"/>
            </a:endParaRPr>
          </a:p>
        </p:txBody>
      </p:sp>
      <p:cxnSp>
        <p:nvCxnSpPr>
          <p:cNvPr id="535" name="Google Shape;535;p46"/>
          <p:cNvCxnSpPr/>
          <p:nvPr/>
        </p:nvCxnSpPr>
        <p:spPr>
          <a:xfrm>
            <a:off x="8005011" y="4630947"/>
            <a:ext cx="597900" cy="0"/>
          </a:xfrm>
          <a:prstGeom prst="straightConnector1">
            <a:avLst/>
          </a:prstGeom>
          <a:noFill/>
          <a:ln cap="flat" cmpd="sng" w="24650">
            <a:solidFill>
              <a:srgbClr val="757575"/>
            </a:solidFill>
            <a:prstDash val="solid"/>
            <a:round/>
            <a:headEnd len="med" w="med" type="none"/>
            <a:tailEnd len="med" w="med" type="stealth"/>
          </a:ln>
        </p:spPr>
      </p:cxnSp>
      <p:sp>
        <p:nvSpPr>
          <p:cNvPr id="536" name="Google Shape;536;p46"/>
          <p:cNvSpPr txBox="1"/>
          <p:nvPr/>
        </p:nvSpPr>
        <p:spPr>
          <a:xfrm>
            <a:off x="8081973" y="4360620"/>
            <a:ext cx="444000" cy="304200"/>
          </a:xfrm>
          <a:prstGeom prst="rect">
            <a:avLst/>
          </a:prstGeom>
          <a:noFill/>
          <a:ln>
            <a:noFill/>
          </a:ln>
        </p:spPr>
        <p:txBody>
          <a:bodyPr anchorCtr="0" anchor="t" bIns="78900" lIns="78900" spcFirstLastPara="1" rIns="78900" wrap="square" tIns="78900">
            <a:noAutofit/>
          </a:bodyPr>
          <a:lstStyle/>
          <a:p>
            <a:pPr indent="0" lvl="0" marL="0" rtl="0" algn="l">
              <a:spcBef>
                <a:spcPts val="0"/>
              </a:spcBef>
              <a:spcAft>
                <a:spcPts val="0"/>
              </a:spcAft>
              <a:buNone/>
            </a:pPr>
            <a:r>
              <a:rPr lang="it-IT" sz="992">
                <a:solidFill>
                  <a:srgbClr val="475569"/>
                </a:solidFill>
                <a:latin typeface="Inter"/>
                <a:ea typeface="Inter"/>
                <a:cs typeface="Inter"/>
                <a:sym typeface="Inter"/>
              </a:rPr>
              <a:t>Dx</a:t>
            </a:r>
            <a:endParaRPr sz="863">
              <a:solidFill>
                <a:schemeClr val="dk1"/>
              </a:solidFill>
              <a:latin typeface="Calibri"/>
              <a:ea typeface="Calibri"/>
              <a:cs typeface="Calibri"/>
              <a:sym typeface="Calibri"/>
            </a:endParaRPr>
          </a:p>
        </p:txBody>
      </p:sp>
      <p:cxnSp>
        <p:nvCxnSpPr>
          <p:cNvPr id="537" name="Google Shape;537;p46"/>
          <p:cNvCxnSpPr/>
          <p:nvPr/>
        </p:nvCxnSpPr>
        <p:spPr>
          <a:xfrm rot="10800000">
            <a:off x="6962400" y="5922900"/>
            <a:ext cx="398700" cy="132900"/>
          </a:xfrm>
          <a:prstGeom prst="straightConnector1">
            <a:avLst/>
          </a:prstGeom>
          <a:noFill/>
          <a:ln cap="flat" cmpd="sng" w="24650">
            <a:solidFill>
              <a:srgbClr val="757575"/>
            </a:solidFill>
            <a:prstDash val="solid"/>
            <a:round/>
            <a:headEnd len="med" w="med" type="none"/>
            <a:tailEnd len="med" w="med" type="stealth"/>
          </a:ln>
        </p:spPr>
      </p:cxnSp>
      <p:sp>
        <p:nvSpPr>
          <p:cNvPr id="538" name="Google Shape;538;p46"/>
          <p:cNvSpPr txBox="1"/>
          <p:nvPr/>
        </p:nvSpPr>
        <p:spPr>
          <a:xfrm rot="1088475">
            <a:off x="6998679" y="5955403"/>
            <a:ext cx="444179" cy="304341"/>
          </a:xfrm>
          <a:prstGeom prst="rect">
            <a:avLst/>
          </a:prstGeom>
          <a:noFill/>
          <a:ln>
            <a:noFill/>
          </a:ln>
        </p:spPr>
        <p:txBody>
          <a:bodyPr anchorCtr="0" anchor="t" bIns="78900" lIns="78900" spcFirstLastPara="1" rIns="78900" wrap="square" tIns="78900">
            <a:noAutofit/>
          </a:bodyPr>
          <a:lstStyle/>
          <a:p>
            <a:pPr indent="0" lvl="0" marL="0" rtl="0" algn="l">
              <a:spcBef>
                <a:spcPts val="0"/>
              </a:spcBef>
              <a:spcAft>
                <a:spcPts val="0"/>
              </a:spcAft>
              <a:buNone/>
            </a:pPr>
            <a:r>
              <a:rPr lang="it-IT" sz="992">
                <a:solidFill>
                  <a:srgbClr val="475569"/>
                </a:solidFill>
                <a:latin typeface="Inter"/>
                <a:ea typeface="Inter"/>
                <a:cs typeface="Inter"/>
                <a:sym typeface="Inter"/>
              </a:rPr>
              <a:t>Dz</a:t>
            </a:r>
            <a:endParaRPr sz="992">
              <a:solidFill>
                <a:srgbClr val="475569"/>
              </a:solidFill>
              <a:latin typeface="Inter"/>
              <a:ea typeface="Inter"/>
              <a:cs typeface="Inter"/>
              <a:sym typeface="Inter"/>
            </a:endParaRPr>
          </a:p>
        </p:txBody>
      </p:sp>
      <p:sp>
        <p:nvSpPr>
          <p:cNvPr id="539" name="Google Shape;539;p46"/>
          <p:cNvSpPr/>
          <p:nvPr/>
        </p:nvSpPr>
        <p:spPr>
          <a:xfrm>
            <a:off x="10040513" y="4839325"/>
            <a:ext cx="2060700" cy="756600"/>
          </a:xfrm>
          <a:prstGeom prst="roundRect">
            <a:avLst>
              <a:gd fmla="val 16667" name="adj"/>
            </a:avLst>
          </a:prstGeom>
          <a:solidFill>
            <a:schemeClr val="lt2"/>
          </a:solidFill>
          <a:ln cap="flat" cmpd="sng" w="8225">
            <a:solidFill>
              <a:srgbClr val="888888"/>
            </a:solidFill>
            <a:prstDash val="solid"/>
            <a:round/>
            <a:headEnd len="sm" w="sm" type="none"/>
            <a:tailEnd len="sm" w="sm" type="none"/>
          </a:ln>
        </p:spPr>
        <p:txBody>
          <a:bodyPr anchorCtr="0" anchor="ctr" bIns="78900" lIns="78900" spcFirstLastPara="1" rIns="78900" wrap="square" tIns="78900">
            <a:noAutofit/>
          </a:bodyPr>
          <a:lstStyle/>
          <a:p>
            <a:pPr indent="0" lvl="0" marL="0" rtl="0" algn="l">
              <a:spcBef>
                <a:spcPts val="0"/>
              </a:spcBef>
              <a:spcAft>
                <a:spcPts val="0"/>
              </a:spcAft>
              <a:buNone/>
            </a:pPr>
            <a:r>
              <a:rPr b="1" lang="it-IT" sz="992" strike="sngStrike">
                <a:solidFill>
                  <a:srgbClr val="475569"/>
                </a:solidFill>
                <a:latin typeface="Inter"/>
                <a:ea typeface="Inter"/>
                <a:cs typeface="Inter"/>
                <a:sym typeface="Inter"/>
              </a:rPr>
              <a:t>(threadIdx.z * blockDim.y * blockDim.x) + (threadIdx.y * blockDim.x) + threadIdx.x</a:t>
            </a:r>
            <a:endParaRPr b="1" sz="992" strike="sngStrike">
              <a:solidFill>
                <a:srgbClr val="475569"/>
              </a:solidFill>
              <a:latin typeface="Inter"/>
              <a:ea typeface="Inter"/>
              <a:cs typeface="Inter"/>
              <a:sym typeface="Inter"/>
            </a:endParaRPr>
          </a:p>
          <a:p>
            <a:pPr indent="0" lvl="0" marL="0" rtl="0" algn="ctr">
              <a:spcBef>
                <a:spcPts val="0"/>
              </a:spcBef>
              <a:spcAft>
                <a:spcPts val="0"/>
              </a:spcAft>
              <a:buNone/>
            </a:pPr>
            <a:r>
              <a:rPr b="1" lang="it-IT" sz="992">
                <a:solidFill>
                  <a:srgbClr val="475569"/>
                </a:solidFill>
                <a:latin typeface="Inter"/>
                <a:ea typeface="Inter"/>
                <a:cs typeface="Inter"/>
                <a:sym typeface="Inter"/>
              </a:rPr>
              <a:t>block.thread_rank()</a:t>
            </a:r>
            <a:endParaRPr b="1" sz="992">
              <a:solidFill>
                <a:srgbClr val="475569"/>
              </a:solidFill>
              <a:latin typeface="Inter"/>
              <a:ea typeface="Inter"/>
              <a:cs typeface="Inter"/>
              <a:sym typeface="Inter"/>
            </a:endParaRPr>
          </a:p>
        </p:txBody>
      </p:sp>
      <p:cxnSp>
        <p:nvCxnSpPr>
          <p:cNvPr id="540" name="Google Shape;540;p46"/>
          <p:cNvCxnSpPr>
            <a:stCxn id="539" idx="1"/>
          </p:cNvCxnSpPr>
          <p:nvPr/>
        </p:nvCxnSpPr>
        <p:spPr>
          <a:xfrm rot="10800000">
            <a:off x="9597713" y="5031325"/>
            <a:ext cx="442800" cy="186300"/>
          </a:xfrm>
          <a:prstGeom prst="straightConnector1">
            <a:avLst/>
          </a:prstGeom>
          <a:noFill/>
          <a:ln cap="flat" cmpd="sng" w="24650">
            <a:solidFill>
              <a:srgbClr val="757575"/>
            </a:solidFill>
            <a:prstDash val="solid"/>
            <a:round/>
            <a:headEnd len="med" w="med" type="none"/>
            <a:tailEnd len="med" w="med" type="stealth"/>
          </a:ln>
        </p:spPr>
      </p:cxnSp>
      <p:sp>
        <p:nvSpPr>
          <p:cNvPr id="541" name="Google Shape;541;p46"/>
          <p:cNvSpPr/>
          <p:nvPr/>
        </p:nvSpPr>
        <p:spPr>
          <a:xfrm>
            <a:off x="10043280" y="5660591"/>
            <a:ext cx="1406400" cy="398400"/>
          </a:xfrm>
          <a:prstGeom prst="roundRect">
            <a:avLst>
              <a:gd fmla="val 16667" name="adj"/>
            </a:avLst>
          </a:prstGeom>
          <a:solidFill>
            <a:schemeClr val="lt2"/>
          </a:solidFill>
          <a:ln cap="flat" cmpd="sng" w="8225">
            <a:solidFill>
              <a:srgbClr val="888888"/>
            </a:solidFill>
            <a:prstDash val="solid"/>
            <a:round/>
            <a:headEnd len="sm" w="sm" type="none"/>
            <a:tailEnd len="sm" w="sm" type="none"/>
          </a:ln>
        </p:spPr>
        <p:txBody>
          <a:bodyPr anchorCtr="0" anchor="ctr" bIns="78900" lIns="78900" spcFirstLastPara="1" rIns="78900" wrap="square" tIns="78900">
            <a:noAutofit/>
          </a:bodyPr>
          <a:lstStyle/>
          <a:p>
            <a:pPr indent="0" lvl="0" marL="0" rtl="0" algn="l">
              <a:spcBef>
                <a:spcPts val="0"/>
              </a:spcBef>
              <a:spcAft>
                <a:spcPts val="0"/>
              </a:spcAft>
              <a:buNone/>
            </a:pPr>
            <a:r>
              <a:rPr b="1" lang="it-IT" sz="992">
                <a:solidFill>
                  <a:srgbClr val="475569"/>
                </a:solidFill>
                <a:latin typeface="Inter"/>
                <a:ea typeface="Inter"/>
                <a:cs typeface="Inter"/>
                <a:sym typeface="Inter"/>
              </a:rPr>
              <a:t>Compute partial SAD </a:t>
            </a:r>
            <a:endParaRPr b="1" sz="992">
              <a:solidFill>
                <a:srgbClr val="475569"/>
              </a:solidFill>
              <a:latin typeface="Inter"/>
              <a:ea typeface="Inter"/>
              <a:cs typeface="Inter"/>
              <a:sym typeface="Inter"/>
            </a:endParaRPr>
          </a:p>
        </p:txBody>
      </p:sp>
      <p:cxnSp>
        <p:nvCxnSpPr>
          <p:cNvPr id="542" name="Google Shape;542;p46"/>
          <p:cNvCxnSpPr/>
          <p:nvPr/>
        </p:nvCxnSpPr>
        <p:spPr>
          <a:xfrm rot="10800000">
            <a:off x="9348718" y="5442966"/>
            <a:ext cx="691800" cy="549000"/>
          </a:xfrm>
          <a:prstGeom prst="straightConnector1">
            <a:avLst/>
          </a:prstGeom>
          <a:noFill/>
          <a:ln cap="flat" cmpd="sng" w="24650">
            <a:solidFill>
              <a:srgbClr val="757575"/>
            </a:solidFill>
            <a:prstDash val="solid"/>
            <a:round/>
            <a:headEnd len="med" w="med" type="none"/>
            <a:tailEnd len="med" w="med" type="stealth"/>
          </a:ln>
        </p:spPr>
      </p:cxnSp>
      <p:cxnSp>
        <p:nvCxnSpPr>
          <p:cNvPr id="543" name="Google Shape;543;p46"/>
          <p:cNvCxnSpPr/>
          <p:nvPr/>
        </p:nvCxnSpPr>
        <p:spPr>
          <a:xfrm>
            <a:off x="2041575" y="3870350"/>
            <a:ext cx="693000" cy="0"/>
          </a:xfrm>
          <a:prstGeom prst="straightConnector1">
            <a:avLst/>
          </a:prstGeom>
          <a:noFill/>
          <a:ln cap="flat" cmpd="sng" w="28575">
            <a:solidFill>
              <a:srgbClr val="757575"/>
            </a:solidFill>
            <a:prstDash val="solid"/>
            <a:round/>
            <a:headEnd len="med" w="med" type="none"/>
            <a:tailEnd len="med" w="med" type="stealth"/>
          </a:ln>
        </p:spPr>
      </p:cxnSp>
      <p:sp>
        <p:nvSpPr>
          <p:cNvPr id="544" name="Google Shape;544;p46"/>
          <p:cNvSpPr txBox="1"/>
          <p:nvPr/>
        </p:nvSpPr>
        <p:spPr>
          <a:xfrm>
            <a:off x="2130813" y="3589688"/>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cxnSp>
        <p:nvCxnSpPr>
          <p:cNvPr id="545" name="Google Shape;545;p46"/>
          <p:cNvCxnSpPr/>
          <p:nvPr/>
        </p:nvCxnSpPr>
        <p:spPr>
          <a:xfrm>
            <a:off x="1255338" y="4756375"/>
            <a:ext cx="0" cy="615600"/>
          </a:xfrm>
          <a:prstGeom prst="straightConnector1">
            <a:avLst/>
          </a:prstGeom>
          <a:noFill/>
          <a:ln cap="flat" cmpd="sng" w="28575">
            <a:solidFill>
              <a:srgbClr val="757575"/>
            </a:solidFill>
            <a:prstDash val="solid"/>
            <a:round/>
            <a:headEnd len="med" w="med" type="none"/>
            <a:tailEnd len="med" w="med" type="stealth"/>
          </a:ln>
        </p:spPr>
      </p:cxnSp>
      <p:sp>
        <p:nvSpPr>
          <p:cNvPr id="546" name="Google Shape;546;p46"/>
          <p:cNvSpPr txBox="1"/>
          <p:nvPr/>
        </p:nvSpPr>
        <p:spPr>
          <a:xfrm rot="-5400000">
            <a:off x="821850" y="4816088"/>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Dy</a:t>
            </a:r>
            <a:endParaRPr sz="1000">
              <a:solidFill>
                <a:schemeClr val="dk1"/>
              </a:solidFill>
              <a:latin typeface="Calibri"/>
              <a:ea typeface="Calibri"/>
              <a:cs typeface="Calibri"/>
              <a:sym typeface="Calibri"/>
            </a:endParaRPr>
          </a:p>
        </p:txBody>
      </p:sp>
      <p:cxnSp>
        <p:nvCxnSpPr>
          <p:cNvPr id="547" name="Google Shape;547;p46"/>
          <p:cNvCxnSpPr/>
          <p:nvPr/>
        </p:nvCxnSpPr>
        <p:spPr>
          <a:xfrm>
            <a:off x="6918288" y="4895575"/>
            <a:ext cx="0" cy="810000"/>
          </a:xfrm>
          <a:prstGeom prst="straightConnector1">
            <a:avLst/>
          </a:prstGeom>
          <a:noFill/>
          <a:ln cap="flat" cmpd="sng" w="24650">
            <a:solidFill>
              <a:srgbClr val="757575"/>
            </a:solidFill>
            <a:prstDash val="solid"/>
            <a:round/>
            <a:headEnd len="med" w="med" type="none"/>
            <a:tailEnd len="med" w="med" type="stealth"/>
          </a:ln>
        </p:spPr>
      </p:cxnSp>
      <p:sp>
        <p:nvSpPr>
          <p:cNvPr id="548" name="Google Shape;548;p46"/>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Uncoalesced: grid and block dimensions</a:t>
            </a:r>
            <a:endParaRPr b="0" sz="1400" u="none" cap="none" strike="noStrike">
              <a:solidFill>
                <a:srgbClr val="000000"/>
              </a:solidFill>
              <a:latin typeface="Arial"/>
              <a:ea typeface="Arial"/>
              <a:cs typeface="Arial"/>
              <a:sym typeface="Arial"/>
            </a:endParaRPr>
          </a:p>
        </p:txBody>
      </p:sp>
      <p:sp>
        <p:nvSpPr>
          <p:cNvPr id="549" name="Google Shape;549;p46"/>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0" name="Google Shape;550;p46"/>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54" name="Shape 554"/>
        <p:cNvGrpSpPr/>
        <p:nvPr/>
      </p:nvGrpSpPr>
      <p:grpSpPr>
        <a:xfrm>
          <a:off x="0" y="0"/>
          <a:ext cx="0" cy="0"/>
          <a:chOff x="0" y="0"/>
          <a:chExt cx="0" cy="0"/>
        </a:xfrm>
      </p:grpSpPr>
      <p:sp>
        <p:nvSpPr>
          <p:cNvPr id="555" name="Google Shape;555;p47"/>
          <p:cNvSpPr txBox="1"/>
          <p:nvPr/>
        </p:nvSpPr>
        <p:spPr>
          <a:xfrm>
            <a:off x="771525" y="1362100"/>
            <a:ext cx="52407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556" name="Google Shape;556;p47"/>
          <p:cNvSpPr txBox="1"/>
          <p:nvPr/>
        </p:nvSpPr>
        <p:spPr>
          <a:xfrm>
            <a:off x="771525" y="1362100"/>
            <a:ext cx="6279600" cy="45747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Each thread computes partial SAD of a pixel subset within its assigned candidate block:</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Threads YZ iterate over all assigned candidate reference frame blocks. For each iteration, threads along X compute partial SAD between a pixel subset of the current frame block and the candidate reference frame block for that iteration.</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Intra-Candidate Reduction: partial SAD values are aggregated into the total SAD for each candidate position via a cooperative-groups tile reduction.</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Best Match Selection: each thread YZ with index 0 calculate the motion vector and update the best result among the assigned reference frame blocks.</a:t>
            </a:r>
            <a:endParaRPr sz="1650">
              <a:solidFill>
                <a:srgbClr val="475569"/>
              </a:solidFill>
              <a:latin typeface="Inter"/>
              <a:ea typeface="Inter"/>
              <a:cs typeface="Inter"/>
              <a:sym typeface="Inter"/>
            </a:endParaRPr>
          </a:p>
        </p:txBody>
      </p:sp>
      <p:sp>
        <p:nvSpPr>
          <p:cNvPr id="557" name="Google Shape;557;p47"/>
          <p:cNvSpPr/>
          <p:nvPr/>
        </p:nvSpPr>
        <p:spPr>
          <a:xfrm>
            <a:off x="7273325" y="1418175"/>
            <a:ext cx="4648200" cy="3318900"/>
          </a:xfrm>
          <a:prstGeom prst="roundRect">
            <a:avLst>
              <a:gd fmla="val 4701"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58" name="Google Shape;558;p47"/>
          <p:cNvSpPr txBox="1"/>
          <p:nvPr/>
        </p:nvSpPr>
        <p:spPr>
          <a:xfrm>
            <a:off x="7273325" y="1596275"/>
            <a:ext cx="4759500" cy="3140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Precalculate pixels per thread for SAD parallelization along X dimension</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pixelsPerThread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Each YZ thread processes assigned candidate positions with stride = threadsYZ</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(threadsYZ = number of threads on YZ CUDA block dimensions)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tidx_yz</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threadsYZ</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Convert candidate position to reference frame block coordinates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if current block or reference block pixels exceed frame dimension mark this </a:t>
            </a:r>
            <a:endParaRPr i="1" sz="700">
              <a:solidFill>
                <a:srgbClr val="A05000"/>
              </a:solidFill>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candidate as invalid, otherwise, compute SAD only for pixels within frame bounds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computeSAD_device_partial</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s_curr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d_ref</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width</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pixelsPerThread</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starting pixel index</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pixelsPerThread</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pixels handled by thread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chemeClr val="dk1"/>
                </a:solidFill>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Reduce partial SAD across X threads to get total SAD for current reference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total_sad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reduce_partial_sad_warp</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warp</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Thread 0 of YZ updates best match if this candidate has lower SAD (or equal with </a:t>
            </a:r>
            <a:endParaRPr i="1" sz="700">
              <a:solidFill>
                <a:srgbClr val="A05000"/>
              </a:solidFill>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lower distance)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Threads 0YZ write local best match into shared memory (best_thread_results)</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p:txBody>
      </p:sp>
      <p:sp>
        <p:nvSpPr>
          <p:cNvPr id="559" name="Google Shape;559;p47"/>
          <p:cNvSpPr txBox="1"/>
          <p:nvPr/>
        </p:nvSpPr>
        <p:spPr>
          <a:xfrm>
            <a:off x="7549100" y="1456275"/>
            <a:ext cx="4306800" cy="1230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800">
                <a:solidFill>
                  <a:srgbClr val="666666"/>
                </a:solidFill>
                <a:latin typeface="Inter"/>
                <a:ea typeface="Inter"/>
                <a:cs typeface="Inter"/>
                <a:sym typeface="Inter"/>
              </a:rPr>
              <a:t>fullSearchBM_optimized_uncoalesced.cpp: fullSearchCUDAUncoalescedOptimizedGray</a:t>
            </a:r>
            <a:endParaRPr sz="1050">
              <a:solidFill>
                <a:srgbClr val="666666"/>
              </a:solidFill>
              <a:latin typeface="Inter"/>
              <a:ea typeface="Inter"/>
              <a:cs typeface="Inter"/>
              <a:sym typeface="Inter"/>
            </a:endParaRPr>
          </a:p>
        </p:txBody>
      </p:sp>
      <p:cxnSp>
        <p:nvCxnSpPr>
          <p:cNvPr id="560" name="Google Shape;560;p47"/>
          <p:cNvCxnSpPr/>
          <p:nvPr/>
        </p:nvCxnSpPr>
        <p:spPr>
          <a:xfrm>
            <a:off x="7273325" y="1596275"/>
            <a:ext cx="4634100" cy="0"/>
          </a:xfrm>
          <a:prstGeom prst="straightConnector1">
            <a:avLst/>
          </a:prstGeom>
          <a:noFill/>
          <a:ln cap="flat" cmpd="sng" w="9525">
            <a:solidFill>
              <a:srgbClr val="B7B7B7"/>
            </a:solidFill>
            <a:prstDash val="solid"/>
            <a:round/>
            <a:headEnd len="med" w="med" type="none"/>
            <a:tailEnd len="med" w="med" type="none"/>
          </a:ln>
        </p:spPr>
      </p:cxnSp>
      <p:pic>
        <p:nvPicPr>
          <p:cNvPr descr="image.png" id="561" name="Google Shape;561;p47"/>
          <p:cNvPicPr preferRelativeResize="0"/>
          <p:nvPr/>
        </p:nvPicPr>
        <p:blipFill rotWithShape="1">
          <a:blip r:embed="rId4">
            <a:alphaModFix/>
          </a:blip>
          <a:srcRect b="0" l="0" r="0" t="0"/>
          <a:stretch/>
        </p:blipFill>
        <p:spPr>
          <a:xfrm>
            <a:off x="7398836" y="1460246"/>
            <a:ext cx="82594" cy="115068"/>
          </a:xfrm>
          <a:prstGeom prst="rect">
            <a:avLst/>
          </a:prstGeom>
          <a:noFill/>
          <a:ln>
            <a:noFill/>
          </a:ln>
        </p:spPr>
      </p:pic>
      <p:sp>
        <p:nvSpPr>
          <p:cNvPr id="562" name="Google Shape;562;p47"/>
          <p:cNvSpPr txBox="1"/>
          <p:nvPr/>
        </p:nvSpPr>
        <p:spPr>
          <a:xfrm>
            <a:off x="771525" y="608825"/>
            <a:ext cx="114204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Uncoalesced: kernel </a:t>
            </a:r>
            <a:r>
              <a:rPr lang="it-IT" sz="2900">
                <a:solidFill>
                  <a:srgbClr val="0F172A"/>
                </a:solidFill>
                <a:latin typeface="Outfit SemiBold"/>
                <a:ea typeface="Outfit SemiBold"/>
                <a:cs typeface="Outfit SemiBold"/>
                <a:sym typeface="Outfit SemiBold"/>
              </a:rPr>
              <a:t>(Intra-Candidate Reduction)</a:t>
            </a:r>
            <a:endParaRPr b="0" sz="1300" u="none" cap="none" strike="noStrike">
              <a:solidFill>
                <a:srgbClr val="000000"/>
              </a:solidFill>
              <a:latin typeface="Arial"/>
              <a:ea typeface="Arial"/>
              <a:cs typeface="Arial"/>
              <a:sym typeface="Arial"/>
            </a:endParaRPr>
          </a:p>
        </p:txBody>
      </p:sp>
      <p:sp>
        <p:nvSpPr>
          <p:cNvPr id="563" name="Google Shape;563;p47"/>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4" name="Google Shape;564;p4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565" name="Google Shape;565;p47"/>
          <p:cNvSpPr/>
          <p:nvPr/>
        </p:nvSpPr>
        <p:spPr>
          <a:xfrm>
            <a:off x="7481813" y="4877500"/>
            <a:ext cx="4162500" cy="1900200"/>
          </a:xfrm>
          <a:prstGeom prst="roundRect">
            <a:avLst>
              <a:gd fmla="val 529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66" name="Google Shape;566;p47"/>
          <p:cNvSpPr txBox="1"/>
          <p:nvPr/>
        </p:nvSpPr>
        <p:spPr>
          <a:xfrm>
            <a:off x="7481813" y="5068525"/>
            <a:ext cx="4231200" cy="1709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it-IT" sz="600">
                <a:solidFill>
                  <a:srgbClr val="3000A0"/>
                </a:solidFill>
                <a:latin typeface="Roboto Mono"/>
                <a:ea typeface="Roboto Mono"/>
                <a:cs typeface="Roboto Mono"/>
                <a:sym typeface="Roboto Mono"/>
              </a:rPr>
              <a:t>__device__</a:t>
            </a:r>
            <a:r>
              <a:rPr lang="it-IT" sz="600">
                <a:latin typeface="Roboto Mono"/>
                <a:ea typeface="Roboto Mono"/>
                <a:cs typeface="Roboto Mono"/>
                <a:sym typeface="Roboto Mono"/>
              </a:rPr>
              <a:t> </a:t>
            </a:r>
            <a:r>
              <a:rPr lang="it-IT" sz="600">
                <a:solidFill>
                  <a:srgbClr val="3000A0"/>
                </a:solidFill>
                <a:latin typeface="Roboto Mono"/>
                <a:ea typeface="Roboto Mono"/>
                <a:cs typeface="Roboto Mono"/>
                <a:sym typeface="Roboto Mono"/>
              </a:rPr>
              <a:t>__inline__</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0000F0"/>
                </a:solidFill>
                <a:latin typeface="Roboto Mono"/>
                <a:ea typeface="Roboto Mono"/>
                <a:cs typeface="Roboto Mono"/>
                <a:sym typeface="Roboto Mono"/>
              </a:rPr>
              <a:t>computeSAD_device_partial</a:t>
            </a:r>
            <a:r>
              <a:rPr lang="it-IT" sz="600">
                <a:latin typeface="Roboto Mono"/>
                <a:ea typeface="Roboto Mono"/>
                <a:cs typeface="Roboto Mono"/>
                <a:sym typeface="Roboto Mono"/>
              </a:rPr>
              <a:t>(</a:t>
            </a:r>
            <a:r>
              <a:rPr b="1" lang="it-IT" sz="600">
                <a:solidFill>
                  <a:srgbClr val="700080"/>
                </a:solidFill>
                <a:latin typeface="Roboto Mono"/>
                <a:ea typeface="Roboto Mono"/>
                <a:cs typeface="Roboto Mono"/>
                <a:sym typeface="Roboto Mono"/>
              </a:rPr>
              <a:t>const</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unsigned</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char*</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curr</a:t>
            </a:r>
            <a:r>
              <a:rPr lang="it-IT" sz="600">
                <a:latin typeface="Roboto Mono"/>
                <a:ea typeface="Roboto Mono"/>
                <a:cs typeface="Roboto Mono"/>
                <a:sym typeface="Roboto Mono"/>
              </a:rPr>
              <a:t>,   </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b="1" lang="it-IT" sz="600">
                <a:solidFill>
                  <a:srgbClr val="700080"/>
                </a:solidFill>
                <a:latin typeface="Roboto Mono"/>
                <a:ea typeface="Roboto Mono"/>
                <a:cs typeface="Roboto Mono"/>
                <a:sym typeface="Roboto Mono"/>
              </a:rPr>
              <a:t>const</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unsigned</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char*</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ref_x</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ref_y</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blockSize</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width</a:t>
            </a:r>
            <a:r>
              <a:rPr lang="it-IT" sz="600">
                <a:latin typeface="Roboto Mono"/>
                <a:ea typeface="Roboto Mono"/>
                <a:cs typeface="Roboto Mono"/>
                <a:sym typeface="Roboto Mono"/>
              </a:rPr>
              <a:t>, </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startPixel</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pixelsPerThread</a:t>
            </a:r>
            <a:r>
              <a:rPr lang="it-IT" sz="600">
                <a:latin typeface="Roboto Mono"/>
                <a:ea typeface="Roboto Mono"/>
                <a:cs typeface="Roboto Mono"/>
                <a:sym typeface="Roboto Mono"/>
              </a:rPr>
              <a:t>) {</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sad</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06040"/>
                </a:solidFill>
                <a:latin typeface="Roboto Mono"/>
                <a:ea typeface="Roboto Mono"/>
                <a:cs typeface="Roboto Mono"/>
                <a:sym typeface="Roboto Mono"/>
              </a:rPr>
              <a:t>0</a:t>
            </a:r>
            <a:r>
              <a:rPr lang="it-IT" sz="600">
                <a:latin typeface="Roboto Mono"/>
                <a:ea typeface="Roboto Mono"/>
                <a:cs typeface="Roboto Mono"/>
                <a:sym typeface="Roboto Mono"/>
              </a:rPr>
              <a:t>;</a:t>
            </a:r>
            <a:r>
              <a:rPr i="1" lang="it-IT" sz="600">
                <a:solidFill>
                  <a:srgbClr val="A05000"/>
                </a:solidFill>
                <a:latin typeface="Roboto Mono"/>
                <a:ea typeface="Roboto Mono"/>
                <a:cs typeface="Roboto Mono"/>
                <a:sym typeface="Roboto Mono"/>
              </a:rPr>
              <a:t>// Compute SAD for pixels assigned to this thread</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b="1" lang="it-IT" sz="600">
                <a:solidFill>
                  <a:srgbClr val="700080"/>
                </a:solidFill>
                <a:latin typeface="Roboto Mono"/>
                <a:ea typeface="Roboto Mono"/>
                <a:cs typeface="Roboto Mono"/>
                <a:sym typeface="Roboto Mono"/>
              </a:rPr>
              <a:t>for</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pixelIdx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startPixel</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pixelIdx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&lt;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startPixel</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pixelsPerThread</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pixelIdx</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i="1" lang="it-IT" sz="600">
                <a:solidFill>
                  <a:srgbClr val="A05000"/>
                </a:solidFill>
                <a:latin typeface="Roboto Mono"/>
                <a:ea typeface="Roboto Mono"/>
                <a:cs typeface="Roboto Mono"/>
                <a:sym typeface="Roboto Mono"/>
              </a:rPr>
              <a:t>// Check if pixel index exceeds block boundary</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i="1" lang="it-IT" sz="600">
                <a:solidFill>
                  <a:srgbClr val="A05000"/>
                </a:solidFill>
                <a:latin typeface="Roboto Mono"/>
                <a:ea typeface="Roboto Mono"/>
                <a:cs typeface="Roboto Mono"/>
                <a:sym typeface="Roboto Mono"/>
              </a:rPr>
              <a:t>// Convert linear pixel index to 2D coordinates within the block</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ry</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ref_y</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pixelIdx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blockSize</a:t>
            </a:r>
            <a:r>
              <a:rPr lang="it-IT" sz="600">
                <a:latin typeface="Roboto Mono"/>
                <a:ea typeface="Roboto Mono"/>
                <a:cs typeface="Roboto Mono"/>
                <a:sym typeface="Roboto Mono"/>
              </a:rPr>
              <a:t>; </a:t>
            </a:r>
            <a:r>
              <a:rPr lang="it-IT" sz="600">
                <a:solidFill>
                  <a:srgbClr val="008050"/>
                </a:solidFill>
                <a:latin typeface="Roboto Mono"/>
                <a:ea typeface="Roboto Mono"/>
                <a:cs typeface="Roboto Mono"/>
                <a:sym typeface="Roboto Mono"/>
              </a:rPr>
              <a:t>int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ref_x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pixelIdx</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blockSize</a:t>
            </a:r>
            <a:r>
              <a:rPr lang="it-IT" sz="6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i="1" lang="it-IT" sz="600">
                <a:solidFill>
                  <a:srgbClr val="A05000"/>
                </a:solidFill>
                <a:latin typeface="Roboto Mono"/>
                <a:ea typeface="Roboto Mono"/>
                <a:cs typeface="Roboto Mono"/>
                <a:sym typeface="Roboto Mono"/>
              </a:rPr>
              <a:t>// Accumulate SAD</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sad</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3000A0"/>
                </a:solidFill>
                <a:latin typeface="Roboto Mono"/>
                <a:ea typeface="Roboto Mono"/>
                <a:cs typeface="Roboto Mono"/>
                <a:sym typeface="Roboto Mono"/>
              </a:rPr>
              <a:t>__usad</a:t>
            </a:r>
            <a:r>
              <a:rPr lang="it-IT" sz="600">
                <a:latin typeface="Roboto Mono"/>
                <a:ea typeface="Roboto Mono"/>
                <a:cs typeface="Roboto Mono"/>
                <a:sym typeface="Roboto Mono"/>
              </a:rPr>
              <a:t>(</a:t>
            </a:r>
            <a:r>
              <a:rPr lang="it-IT" sz="600">
                <a:solidFill>
                  <a:srgbClr val="1AB1CD"/>
                </a:solidFill>
                <a:latin typeface="Roboto Mono"/>
                <a:ea typeface="Roboto Mono"/>
                <a:cs typeface="Roboto Mono"/>
                <a:sym typeface="Roboto Mono"/>
              </a:rPr>
              <a:t>curr</a:t>
            </a:r>
            <a:r>
              <a:rPr lang="it-IT" sz="600">
                <a:latin typeface="Roboto Mono"/>
                <a:ea typeface="Roboto Mono"/>
                <a:cs typeface="Roboto Mono"/>
                <a:sym typeface="Roboto Mono"/>
              </a:rPr>
              <a:t>[</a:t>
            </a:r>
            <a:r>
              <a:rPr lang="it-IT" sz="600">
                <a:solidFill>
                  <a:srgbClr val="1AB1CD"/>
                </a:solidFill>
                <a:latin typeface="Roboto Mono"/>
                <a:ea typeface="Roboto Mono"/>
                <a:cs typeface="Roboto Mono"/>
                <a:sym typeface="Roboto Mono"/>
              </a:rPr>
              <a:t>pixelIdx</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ref</a:t>
            </a:r>
            <a:r>
              <a:rPr lang="it-IT" sz="600">
                <a:latin typeface="Roboto Mono"/>
                <a:ea typeface="Roboto Mono"/>
                <a:cs typeface="Roboto Mono"/>
                <a:sym typeface="Roboto Mono"/>
              </a:rPr>
              <a:t>[</a:t>
            </a:r>
            <a:r>
              <a:rPr lang="it-IT" sz="600">
                <a:solidFill>
                  <a:srgbClr val="1AB1CD"/>
                </a:solidFill>
                <a:latin typeface="Roboto Mono"/>
                <a:ea typeface="Roboto Mono"/>
                <a:cs typeface="Roboto Mono"/>
                <a:sym typeface="Roboto Mono"/>
              </a:rPr>
              <a:t>ry</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width</a:t>
            </a:r>
            <a:r>
              <a:rPr lang="it-IT" sz="600">
                <a:latin typeface="Roboto Mono"/>
                <a:ea typeface="Roboto Mono"/>
                <a:cs typeface="Roboto Mono"/>
                <a:sym typeface="Roboto Mono"/>
              </a:rPr>
              <a:t> </a:t>
            </a:r>
            <a:r>
              <a:rPr b="1" lang="it-IT" sz="600">
                <a:solidFill>
                  <a:srgbClr val="EE11FF"/>
                </a:solidFill>
                <a:latin typeface="Roboto Mono"/>
                <a:ea typeface="Roboto Mono"/>
                <a:cs typeface="Roboto Mono"/>
                <a:sym typeface="Roboto Mono"/>
              </a:rPr>
              <a:t>+</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rx</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sad</a:t>
            </a:r>
            <a:r>
              <a:rPr lang="it-IT" sz="6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   </a:t>
            </a:r>
            <a:r>
              <a:rPr b="1" lang="it-IT" sz="600">
                <a:solidFill>
                  <a:srgbClr val="700080"/>
                </a:solidFill>
                <a:latin typeface="Roboto Mono"/>
                <a:ea typeface="Roboto Mono"/>
                <a:cs typeface="Roboto Mono"/>
                <a:sym typeface="Roboto Mono"/>
              </a:rPr>
              <a:t>return</a:t>
            </a:r>
            <a:r>
              <a:rPr lang="it-IT" sz="600">
                <a:latin typeface="Roboto Mono"/>
                <a:ea typeface="Roboto Mono"/>
                <a:cs typeface="Roboto Mono"/>
                <a:sym typeface="Roboto Mono"/>
              </a:rPr>
              <a:t> </a:t>
            </a:r>
            <a:r>
              <a:rPr lang="it-IT" sz="600">
                <a:solidFill>
                  <a:srgbClr val="1AB1CD"/>
                </a:solidFill>
                <a:latin typeface="Roboto Mono"/>
                <a:ea typeface="Roboto Mono"/>
                <a:cs typeface="Roboto Mono"/>
                <a:sym typeface="Roboto Mono"/>
              </a:rPr>
              <a:t>sad</a:t>
            </a:r>
            <a:r>
              <a:rPr lang="it-IT" sz="600">
                <a:latin typeface="Roboto Mono"/>
                <a:ea typeface="Roboto Mono"/>
                <a:cs typeface="Roboto Mono"/>
                <a:sym typeface="Roboto Mono"/>
              </a:rPr>
              <a:t>;</a:t>
            </a:r>
            <a:endParaRPr sz="6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600">
                <a:latin typeface="Roboto Mono"/>
                <a:ea typeface="Roboto Mono"/>
                <a:cs typeface="Roboto Mono"/>
                <a:sym typeface="Roboto Mono"/>
              </a:rPr>
              <a:t>}</a:t>
            </a:r>
            <a:endParaRPr sz="600">
              <a:latin typeface="Roboto Mono"/>
              <a:ea typeface="Roboto Mono"/>
              <a:cs typeface="Roboto Mono"/>
              <a:sym typeface="Roboto Mono"/>
            </a:endParaRPr>
          </a:p>
        </p:txBody>
      </p:sp>
      <p:sp>
        <p:nvSpPr>
          <p:cNvPr id="567" name="Google Shape;567;p47"/>
          <p:cNvSpPr txBox="1"/>
          <p:nvPr/>
        </p:nvSpPr>
        <p:spPr>
          <a:xfrm>
            <a:off x="7722887" y="4906475"/>
            <a:ext cx="43494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fullSearchBM_optimized_uncoalesced.cpp</a:t>
            </a:r>
            <a:endParaRPr sz="1250">
              <a:solidFill>
                <a:srgbClr val="666666"/>
              </a:solidFill>
              <a:latin typeface="Inter"/>
              <a:ea typeface="Inter"/>
              <a:cs typeface="Inter"/>
              <a:sym typeface="Inter"/>
            </a:endParaRPr>
          </a:p>
        </p:txBody>
      </p:sp>
      <p:cxnSp>
        <p:nvCxnSpPr>
          <p:cNvPr id="568" name="Google Shape;568;p47"/>
          <p:cNvCxnSpPr/>
          <p:nvPr/>
        </p:nvCxnSpPr>
        <p:spPr>
          <a:xfrm>
            <a:off x="7486463" y="5068525"/>
            <a:ext cx="4152900" cy="0"/>
          </a:xfrm>
          <a:prstGeom prst="straightConnector1">
            <a:avLst/>
          </a:prstGeom>
          <a:noFill/>
          <a:ln cap="flat" cmpd="sng" w="9525">
            <a:solidFill>
              <a:srgbClr val="B7B7B7"/>
            </a:solidFill>
            <a:prstDash val="solid"/>
            <a:round/>
            <a:headEnd len="med" w="med" type="none"/>
            <a:tailEnd len="med" w="med" type="none"/>
          </a:ln>
        </p:spPr>
      </p:cxnSp>
      <p:pic>
        <p:nvPicPr>
          <p:cNvPr descr="image.png" id="569" name="Google Shape;569;p47"/>
          <p:cNvPicPr preferRelativeResize="0"/>
          <p:nvPr/>
        </p:nvPicPr>
        <p:blipFill rotWithShape="1">
          <a:blip r:embed="rId4">
            <a:alphaModFix/>
          </a:blip>
          <a:srcRect b="0" l="0" r="0" t="0"/>
          <a:stretch/>
        </p:blipFill>
        <p:spPr>
          <a:xfrm>
            <a:off x="7594873" y="4916821"/>
            <a:ext cx="82594" cy="115068"/>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73" name="Shape 573"/>
        <p:cNvGrpSpPr/>
        <p:nvPr/>
      </p:nvGrpSpPr>
      <p:grpSpPr>
        <a:xfrm>
          <a:off x="0" y="0"/>
          <a:ext cx="0" cy="0"/>
          <a:chOff x="0" y="0"/>
          <a:chExt cx="0" cy="0"/>
        </a:xfrm>
      </p:grpSpPr>
      <p:sp>
        <p:nvSpPr>
          <p:cNvPr id="574" name="Google Shape;574;p48"/>
          <p:cNvSpPr txBox="1"/>
          <p:nvPr/>
        </p:nvSpPr>
        <p:spPr>
          <a:xfrm>
            <a:off x="771525" y="1395838"/>
            <a:ext cx="5723100" cy="4248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After each thread YZ with index 0 stores its best match, a cooperative block-wide reduction is performed to find the optimal reference frame block for the current frame block assigned to this CUDA block:</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Warp-Level Reduction: each warp processes a portion of the per-thread best results from SMEM, comparing candidates via warp-level reduction to find the best match per warp.</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Warp Leader Storage: thread rank 0 of each warp writes its warp's best result to SMEM.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Final Block Reduction: warp 0 performs a final warp-level reduction among all warp results to determine the best match for the entire CUDA block.</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Result Writing</a:t>
            </a:r>
            <a:r>
              <a:rPr lang="it-IT" sz="1650">
                <a:solidFill>
                  <a:srgbClr val="475569"/>
                </a:solidFill>
                <a:latin typeface="Inter"/>
                <a:ea typeface="Inter"/>
                <a:cs typeface="Inter"/>
                <a:sym typeface="Inter"/>
              </a:rPr>
              <a:t>: thread 0 writes the final motion vector to GMEM.</a:t>
            </a:r>
            <a:endParaRPr sz="1650">
              <a:solidFill>
                <a:srgbClr val="475569"/>
              </a:solidFill>
              <a:latin typeface="Inter"/>
              <a:ea typeface="Inter"/>
              <a:cs typeface="Inter"/>
              <a:sym typeface="Inter"/>
            </a:endParaRPr>
          </a:p>
        </p:txBody>
      </p:sp>
      <p:sp>
        <p:nvSpPr>
          <p:cNvPr id="575" name="Google Shape;575;p48"/>
          <p:cNvSpPr/>
          <p:nvPr/>
        </p:nvSpPr>
        <p:spPr>
          <a:xfrm>
            <a:off x="6665050" y="1360950"/>
            <a:ext cx="5006700" cy="4686000"/>
          </a:xfrm>
          <a:prstGeom prst="roundRect">
            <a:avLst>
              <a:gd fmla="val 3505"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576" name="Google Shape;576;p48"/>
          <p:cNvSpPr txBox="1"/>
          <p:nvPr/>
        </p:nvSpPr>
        <p:spPr>
          <a:xfrm>
            <a:off x="6676000" y="1640650"/>
            <a:ext cx="4883100" cy="4455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800">
                <a:solidFill>
                  <a:srgbClr val="A05000"/>
                </a:solidFill>
                <a:latin typeface="Roboto Mono"/>
                <a:ea typeface="Roboto Mono"/>
                <a:cs typeface="Roboto Mono"/>
                <a:sym typeface="Roboto Mono"/>
              </a:rPr>
              <a:t>//reduction: each warp scans its portion of best_thread_results</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const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warp_id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thread_rank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32</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const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num_warps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blockDim</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blockDim</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blockDim</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z</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31</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32</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warp_best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warp_id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32</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thread_rank</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threadsYZ</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num_warps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32</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candidate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best_thread_results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i</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update warp_best if candidate is better</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1AB1CD"/>
                </a:solidFill>
                <a:latin typeface="Roboto Mono"/>
                <a:ea typeface="Roboto Mono"/>
                <a:cs typeface="Roboto Mono"/>
                <a:sym typeface="Roboto Mono"/>
              </a:rPr>
              <a:t>warp_best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reduce_best_candidate_warp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warp_best</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800">
                <a:solidFill>
                  <a:srgbClr val="A05000"/>
                </a:solidFill>
                <a:latin typeface="Roboto Mono"/>
                <a:ea typeface="Roboto Mono"/>
                <a:cs typeface="Roboto Mono"/>
                <a:sym typeface="Roboto Mono"/>
              </a:rPr>
              <a:t>// Warp leader writes result to shared memory</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thread_rank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warp_results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warp_id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warp_best</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1AB1CD"/>
                </a:solidFill>
                <a:latin typeface="Roboto Mono"/>
                <a:ea typeface="Roboto Mono"/>
                <a:cs typeface="Roboto Mono"/>
                <a:sym typeface="Roboto Mono"/>
              </a:rPr>
              <a:t>block</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sync</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800">
                <a:solidFill>
                  <a:srgbClr val="A05000"/>
                </a:solidFill>
                <a:latin typeface="Roboto Mono"/>
                <a:ea typeface="Roboto Mono"/>
                <a:cs typeface="Roboto Mono"/>
                <a:sym typeface="Roboto Mono"/>
              </a:rPr>
              <a:t>// Final reduction: warp 0 finds best among all warp leaders</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block_best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warp_id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thread_rank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num_warps</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block_best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warp_results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thread_rank</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block_best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reduce_best_candidate_warp</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warp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block_best</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i="1" lang="it-IT" sz="800">
                <a:solidFill>
                  <a:srgbClr val="A05000"/>
                </a:solidFill>
                <a:latin typeface="Roboto Mono"/>
                <a:ea typeface="Roboto Mono"/>
                <a:cs typeface="Roboto Mono"/>
                <a:sym typeface="Roboto Mono"/>
              </a:rPr>
              <a:t>// Thread 0 writes final motion vector to GMEM</a:t>
            </a:r>
            <a:endParaRPr sz="800">
              <a:latin typeface="Roboto Mono"/>
              <a:ea typeface="Roboto Mono"/>
              <a:cs typeface="Roboto Mono"/>
              <a:sym typeface="Roboto Mono"/>
            </a:endParaRPr>
          </a:p>
        </p:txBody>
      </p:sp>
      <p:sp>
        <p:nvSpPr>
          <p:cNvPr id="577" name="Google Shape;577;p48"/>
          <p:cNvSpPr txBox="1"/>
          <p:nvPr/>
        </p:nvSpPr>
        <p:spPr>
          <a:xfrm>
            <a:off x="6984352" y="1456050"/>
            <a:ext cx="4471800" cy="3018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800">
                <a:solidFill>
                  <a:srgbClr val="666666"/>
                </a:solidFill>
                <a:latin typeface="Inter"/>
                <a:ea typeface="Inter"/>
                <a:cs typeface="Inter"/>
                <a:sym typeface="Inter"/>
              </a:rPr>
              <a:t>fullSearchBM_optimized_uncoalesced.cpp: fullSearchCUDAUncoalescedOptimizedGray</a:t>
            </a:r>
            <a:endParaRPr sz="1050">
              <a:solidFill>
                <a:srgbClr val="666666"/>
              </a:solidFill>
              <a:latin typeface="Inter"/>
              <a:ea typeface="Inter"/>
              <a:cs typeface="Inter"/>
              <a:sym typeface="Inter"/>
            </a:endParaRPr>
          </a:p>
          <a:p>
            <a:pPr indent="0" lvl="0" marL="0" rtl="0" algn="l">
              <a:lnSpc>
                <a:spcPct val="120000"/>
              </a:lnSpc>
              <a:spcBef>
                <a:spcPts val="0"/>
              </a:spcBef>
              <a:spcAft>
                <a:spcPts val="0"/>
              </a:spcAft>
              <a:buClr>
                <a:schemeClr val="dk1"/>
              </a:buClr>
              <a:buSzPts val="1100"/>
              <a:buFont typeface="Arial"/>
              <a:buNone/>
            </a:pPr>
            <a:r>
              <a:t/>
            </a:r>
            <a:endParaRPr sz="1000">
              <a:solidFill>
                <a:srgbClr val="666666"/>
              </a:solidFill>
              <a:latin typeface="Inter"/>
              <a:ea typeface="Inter"/>
              <a:cs typeface="Inter"/>
              <a:sym typeface="Inter"/>
            </a:endParaRPr>
          </a:p>
        </p:txBody>
      </p:sp>
      <p:cxnSp>
        <p:nvCxnSpPr>
          <p:cNvPr id="578" name="Google Shape;578;p48"/>
          <p:cNvCxnSpPr/>
          <p:nvPr/>
        </p:nvCxnSpPr>
        <p:spPr>
          <a:xfrm>
            <a:off x="6676000" y="1629200"/>
            <a:ext cx="4984800" cy="0"/>
          </a:xfrm>
          <a:prstGeom prst="straightConnector1">
            <a:avLst/>
          </a:prstGeom>
          <a:noFill/>
          <a:ln cap="flat" cmpd="sng" w="9525">
            <a:solidFill>
              <a:srgbClr val="B7B7B7"/>
            </a:solidFill>
            <a:prstDash val="solid"/>
            <a:round/>
            <a:headEnd len="med" w="med" type="none"/>
            <a:tailEnd len="med" w="med" type="none"/>
          </a:ln>
        </p:spPr>
      </p:cxnSp>
      <p:pic>
        <p:nvPicPr>
          <p:cNvPr descr="image.png" id="579" name="Google Shape;579;p48"/>
          <p:cNvPicPr preferRelativeResize="0"/>
          <p:nvPr/>
        </p:nvPicPr>
        <p:blipFill rotWithShape="1">
          <a:blip r:embed="rId4">
            <a:alphaModFix/>
          </a:blip>
          <a:srcRect b="0" l="0" r="0" t="0"/>
          <a:stretch/>
        </p:blipFill>
        <p:spPr>
          <a:xfrm>
            <a:off x="6817436" y="1479371"/>
            <a:ext cx="82594" cy="115068"/>
          </a:xfrm>
          <a:prstGeom prst="rect">
            <a:avLst/>
          </a:prstGeom>
          <a:noFill/>
          <a:ln>
            <a:noFill/>
          </a:ln>
        </p:spPr>
      </p:pic>
      <p:sp>
        <p:nvSpPr>
          <p:cNvPr id="580" name="Google Shape;580;p48"/>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Uncoalesced: kernel (Block-Wide Reduction)</a:t>
            </a:r>
            <a:endParaRPr b="0" sz="1400" u="none" cap="none" strike="noStrike">
              <a:solidFill>
                <a:srgbClr val="000000"/>
              </a:solidFill>
              <a:latin typeface="Arial"/>
              <a:ea typeface="Arial"/>
              <a:cs typeface="Arial"/>
              <a:sym typeface="Arial"/>
            </a:endParaRPr>
          </a:p>
        </p:txBody>
      </p:sp>
      <p:sp>
        <p:nvSpPr>
          <p:cNvPr id="581" name="Google Shape;581;p48"/>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2" name="Google Shape;582;p48"/>
          <p:cNvSpPr txBox="1"/>
          <p:nvPr>
            <p:ph idx="12" type="sldNum"/>
          </p:nvPr>
        </p:nvSpPr>
        <p:spPr>
          <a:xfrm>
            <a:off x="11559100" y="6356350"/>
            <a:ext cx="4005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86" name="Shape 586"/>
        <p:cNvGrpSpPr/>
        <p:nvPr/>
      </p:nvGrpSpPr>
      <p:grpSpPr>
        <a:xfrm>
          <a:off x="0" y="0"/>
          <a:ext cx="0" cy="0"/>
          <a:chOff x="0" y="0"/>
          <a:chExt cx="0" cy="0"/>
        </a:xfrm>
      </p:grpSpPr>
      <p:sp>
        <p:nvSpPr>
          <p:cNvPr id="587" name="Google Shape;587;p49"/>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Uncoalesced:</a:t>
            </a:r>
            <a:r>
              <a:rPr lang="it-IT" sz="3000">
                <a:solidFill>
                  <a:srgbClr val="0F172A"/>
                </a:solidFill>
                <a:latin typeface="Outfit SemiBold"/>
                <a:ea typeface="Outfit SemiBold"/>
                <a:cs typeface="Outfit SemiBold"/>
                <a:sym typeface="Outfit SemiBold"/>
              </a:rPr>
              <a:t> profiling</a:t>
            </a:r>
            <a:endParaRPr b="0" sz="1400" u="none" cap="none" strike="noStrike">
              <a:solidFill>
                <a:srgbClr val="000000"/>
              </a:solidFill>
              <a:latin typeface="Arial"/>
              <a:ea typeface="Arial"/>
              <a:cs typeface="Arial"/>
              <a:sym typeface="Arial"/>
            </a:endParaRPr>
          </a:p>
        </p:txBody>
      </p:sp>
      <p:sp>
        <p:nvSpPr>
          <p:cNvPr id="588" name="Google Shape;588;p49"/>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89" name="Google Shape;589;p49"/>
          <p:cNvSpPr txBox="1"/>
          <p:nvPr/>
        </p:nvSpPr>
        <p:spPr>
          <a:xfrm>
            <a:off x="771525" y="1286552"/>
            <a:ext cx="11181300" cy="19773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Profiling Sad computation with frame of 2048x2048 and block size of 32 (1024 pixels), so frame grid has 64x64 frame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Frame size: </a:t>
            </a:r>
            <a:r>
              <a:rPr lang="it-IT" sz="1650">
                <a:solidFill>
                  <a:srgbClr val="475569"/>
                </a:solidFill>
                <a:latin typeface="Inter"/>
                <a:ea typeface="Inter"/>
                <a:cs typeface="Inter"/>
                <a:sym typeface="Inter"/>
              </a:rPr>
              <a:t> 4096 KiB</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grid</a:t>
            </a:r>
            <a:r>
              <a:rPr lang="it-IT" sz="1650">
                <a:solidFill>
                  <a:srgbClr val="475569"/>
                </a:solidFill>
                <a:latin typeface="Inter"/>
                <a:ea typeface="Inter"/>
                <a:cs typeface="Inter"/>
                <a:sym typeface="Inter"/>
              </a:rPr>
              <a:t>: 64x64x1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block: </a:t>
            </a:r>
            <a:r>
              <a:rPr lang="it-IT" sz="1650">
                <a:solidFill>
                  <a:srgbClr val="475569"/>
                </a:solidFill>
                <a:latin typeface="Inter"/>
                <a:ea typeface="Inter"/>
                <a:cs typeface="Inter"/>
                <a:sym typeface="Inter"/>
              </a:rPr>
              <a:t>4x16</a:t>
            </a:r>
            <a:r>
              <a:rPr lang="it-IT" sz="1650">
                <a:solidFill>
                  <a:srgbClr val="475569"/>
                </a:solidFill>
                <a:latin typeface="Inter"/>
                <a:ea typeface="Inter"/>
                <a:cs typeface="Inter"/>
                <a:sym typeface="Inter"/>
              </a:rPr>
              <a:t>x16 threads. </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SMEM size: </a:t>
            </a:r>
            <a:r>
              <a:rPr lang="it-IT" sz="1650">
                <a:solidFill>
                  <a:srgbClr val="475569"/>
                </a:solidFill>
                <a:latin typeface="Inter"/>
                <a:ea typeface="Inter"/>
                <a:cs typeface="Inter"/>
                <a:sym typeface="Inter"/>
              </a:rPr>
              <a:t>4.375 KiB</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p:txBody>
      </p:sp>
      <p:sp>
        <p:nvSpPr>
          <p:cNvPr id="590" name="Google Shape;590;p49"/>
          <p:cNvSpPr txBox="1"/>
          <p:nvPr/>
        </p:nvSpPr>
        <p:spPr>
          <a:xfrm>
            <a:off x="1026300" y="3407850"/>
            <a:ext cx="10139400" cy="2851500"/>
          </a:xfrm>
          <a:prstGeom prst="rect">
            <a:avLst/>
          </a:prstGeom>
          <a:noFill/>
          <a:ln>
            <a:noFill/>
          </a:ln>
        </p:spPr>
        <p:txBody>
          <a:bodyPr anchorCtr="0" anchor="t" bIns="91425" lIns="91425" spcFirstLastPara="1" rIns="91425" wrap="square" tIns="91425">
            <a:spAutoFit/>
          </a:bodyPr>
          <a:lstStyle/>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Compute (SM) throughput: 61.69% &amp; Memory Throughput: 96.55%: m</a:t>
            </a:r>
            <a:r>
              <a:rPr lang="it-IT" sz="1650">
                <a:solidFill>
                  <a:srgbClr val="475569"/>
                </a:solidFill>
                <a:latin typeface="Inter"/>
                <a:ea typeface="Inter"/>
                <a:cs typeface="Inter"/>
                <a:sym typeface="Inter"/>
              </a:rPr>
              <a:t>emory-bound.</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Throughput: 97.79% &amp; L1 Cache Hit Rate: 96.87%:</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completely saturated despite high hit rate</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L2 Cache Throughput: 4.77% &amp; L2 Cache Hit Rate: 99.92%:</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acts as primary bottleneck, leaving L2 largely idle.</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u</a:t>
            </a:r>
            <a:r>
              <a:rPr lang="it-IT" sz="1650">
                <a:solidFill>
                  <a:srgbClr val="475569"/>
                </a:solidFill>
                <a:latin typeface="Inter"/>
                <a:ea typeface="Inter"/>
                <a:cs typeface="Inter"/>
                <a:sym typeface="Inter"/>
              </a:rPr>
              <a:t>ncoalesced Accesses, </a:t>
            </a:r>
            <a:r>
              <a:rPr lang="it-IT" sz="1650">
                <a:solidFill>
                  <a:srgbClr val="475569"/>
                </a:solidFill>
                <a:latin typeface="Inter"/>
                <a:ea typeface="Inter"/>
                <a:cs typeface="Inter"/>
                <a:sym typeface="Inter"/>
              </a:rPr>
              <a:t>97% waste</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Non-coalesced pattern generates wasted memory sectors.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Achieved Occupancy 49.99%: c</a:t>
            </a:r>
            <a:r>
              <a:rPr lang="it-IT" sz="1650">
                <a:solidFill>
                  <a:srgbClr val="475569"/>
                </a:solidFill>
                <a:latin typeface="Inter"/>
                <a:ea typeface="Inter"/>
                <a:cs typeface="Inter"/>
                <a:sym typeface="Inter"/>
              </a:rPr>
              <a:t>apped by register pressure and size SMEM.</a:t>
            </a:r>
            <a:endParaRPr sz="1650">
              <a:solidFill>
                <a:srgbClr val="475569"/>
              </a:solidFill>
              <a:latin typeface="Inter"/>
              <a:ea typeface="Inter"/>
              <a:cs typeface="Inter"/>
              <a:sym typeface="Inter"/>
            </a:endParaRPr>
          </a:p>
        </p:txBody>
      </p:sp>
      <p:sp>
        <p:nvSpPr>
          <p:cNvPr id="591" name="Google Shape;591;p49"/>
          <p:cNvSpPr txBox="1"/>
          <p:nvPr/>
        </p:nvSpPr>
        <p:spPr>
          <a:xfrm>
            <a:off x="5475900" y="2938350"/>
            <a:ext cx="1240200" cy="46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it-IT" sz="1850">
                <a:solidFill>
                  <a:srgbClr val="475569"/>
                </a:solidFill>
                <a:latin typeface="Inter"/>
                <a:ea typeface="Inter"/>
                <a:cs typeface="Inter"/>
                <a:sym typeface="Inter"/>
              </a:rPr>
              <a:t>Profiling</a:t>
            </a:r>
            <a:endParaRPr sz="1600"/>
          </a:p>
        </p:txBody>
      </p:sp>
      <p:sp>
        <p:nvSpPr>
          <p:cNvPr id="592" name="Google Shape;592;p4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96" name="Shape 596"/>
        <p:cNvGrpSpPr/>
        <p:nvPr/>
      </p:nvGrpSpPr>
      <p:grpSpPr>
        <a:xfrm>
          <a:off x="0" y="0"/>
          <a:ext cx="0" cy="0"/>
          <a:chOff x="0" y="0"/>
          <a:chExt cx="0" cy="0"/>
        </a:xfrm>
      </p:grpSpPr>
      <p:sp>
        <p:nvSpPr>
          <p:cNvPr id="597" name="Google Shape;597;p50"/>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Uncoalesced</a:t>
            </a:r>
            <a:r>
              <a:rPr lang="it-IT" sz="3000">
                <a:solidFill>
                  <a:srgbClr val="0F172A"/>
                </a:solidFill>
                <a:latin typeface="Outfit SemiBold"/>
                <a:ea typeface="Outfit SemiBold"/>
                <a:cs typeface="Outfit SemiBold"/>
                <a:sym typeface="Outfit SemiBold"/>
              </a:rPr>
              <a:t>: benchmark</a:t>
            </a:r>
            <a:endParaRPr b="0" sz="1400" u="none" cap="none" strike="noStrike">
              <a:solidFill>
                <a:srgbClr val="000000"/>
              </a:solidFill>
              <a:latin typeface="Arial"/>
              <a:ea typeface="Arial"/>
              <a:cs typeface="Arial"/>
              <a:sym typeface="Arial"/>
            </a:endParaRPr>
          </a:p>
        </p:txBody>
      </p:sp>
      <p:sp>
        <p:nvSpPr>
          <p:cNvPr id="598" name="Google Shape;598;p50"/>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50"/>
          <p:cNvSpPr txBox="1"/>
          <p:nvPr/>
        </p:nvSpPr>
        <p:spPr>
          <a:xfrm>
            <a:off x="771525" y="1579600"/>
            <a:ext cx="3777900" cy="438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600" name="Google Shape;600;p50"/>
          <p:cNvSpPr txBox="1"/>
          <p:nvPr/>
        </p:nvSpPr>
        <p:spPr>
          <a:xfrm>
            <a:off x="771525" y="1310625"/>
            <a:ext cx="3735900" cy="2724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No performance improvement</a:t>
            </a:r>
            <a:r>
              <a:rPr b="1" lang="it-IT" sz="1650">
                <a:solidFill>
                  <a:srgbClr val="475569"/>
                </a:solidFill>
                <a:latin typeface="Inter"/>
                <a:ea typeface="Inter"/>
                <a:cs typeface="Inter"/>
                <a:sym typeface="Inter"/>
              </a:rPr>
              <a:t>:</a:t>
            </a:r>
            <a:endParaRPr b="1"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while parallelizing the SAD computation along the Z-axis significantly accelerates the calculation of partial SADs, the subsequent reduction step required to obtain the final SAD introduces synchronization overhead that can limit overall performance improvements. </a:t>
            </a:r>
            <a:endParaRPr sz="1650">
              <a:solidFill>
                <a:srgbClr val="475569"/>
              </a:solidFill>
              <a:latin typeface="Inter"/>
              <a:ea typeface="Inter"/>
              <a:cs typeface="Inter"/>
              <a:sym typeface="Inter"/>
            </a:endParaRPr>
          </a:p>
        </p:txBody>
      </p:sp>
      <p:sp>
        <p:nvSpPr>
          <p:cNvPr id="601" name="Google Shape;601;p50"/>
          <p:cNvSpPr txBox="1"/>
          <p:nvPr/>
        </p:nvSpPr>
        <p:spPr>
          <a:xfrm>
            <a:off x="5304821" y="5696641"/>
            <a:ext cx="66480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p:txBody>
      </p:sp>
      <p:sp>
        <p:nvSpPr>
          <p:cNvPr id="602" name="Google Shape;602;p50"/>
          <p:cNvSpPr txBox="1"/>
          <p:nvPr/>
        </p:nvSpPr>
        <p:spPr>
          <a:xfrm>
            <a:off x="5304821" y="6114172"/>
            <a:ext cx="6331200" cy="184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t/>
            </a:r>
            <a:endParaRPr sz="1200">
              <a:solidFill>
                <a:srgbClr val="475569"/>
              </a:solidFill>
              <a:latin typeface="Inter"/>
              <a:ea typeface="Inter"/>
              <a:cs typeface="Inter"/>
              <a:sym typeface="Inter"/>
            </a:endParaRPr>
          </a:p>
        </p:txBody>
      </p:sp>
      <p:sp>
        <p:nvSpPr>
          <p:cNvPr id="603" name="Google Shape;603;p50"/>
          <p:cNvSpPr txBox="1"/>
          <p:nvPr/>
        </p:nvSpPr>
        <p:spPr>
          <a:xfrm>
            <a:off x="4885000" y="5612050"/>
            <a:ext cx="603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604" name="Google Shape;604;p50"/>
          <p:cNvSpPr txBox="1"/>
          <p:nvPr/>
        </p:nvSpPr>
        <p:spPr>
          <a:xfrm>
            <a:off x="5304821" y="569664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Cannot increase block size indefinitely</a:t>
            </a:r>
            <a:endParaRPr/>
          </a:p>
        </p:txBody>
      </p:sp>
      <p:sp>
        <p:nvSpPr>
          <p:cNvPr id="605" name="Google Shape;605;p50"/>
          <p:cNvSpPr txBox="1"/>
          <p:nvPr/>
        </p:nvSpPr>
        <p:spPr>
          <a:xfrm>
            <a:off x="5304821" y="6114172"/>
            <a:ext cx="63312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Since every frame block is loaded into SMEM, increasing the block size drastically increases the bytes occupied per block, quickly exceeding physical CUDA limits. </a:t>
            </a:r>
            <a:endParaRPr sz="1200">
              <a:solidFill>
                <a:srgbClr val="475569"/>
              </a:solidFill>
              <a:latin typeface="Inter"/>
              <a:ea typeface="Inter"/>
              <a:cs typeface="Inter"/>
              <a:sym typeface="Inter"/>
            </a:endParaRPr>
          </a:p>
        </p:txBody>
      </p:sp>
      <p:sp>
        <p:nvSpPr>
          <p:cNvPr id="606" name="Google Shape;606;p50"/>
          <p:cNvSpPr txBox="1"/>
          <p:nvPr/>
        </p:nvSpPr>
        <p:spPr>
          <a:xfrm>
            <a:off x="4885000" y="5612050"/>
            <a:ext cx="4197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a:p>
            <a:pPr indent="0" lvl="0" marL="0" rtl="0" algn="l">
              <a:spcBef>
                <a:spcPts val="0"/>
              </a:spcBef>
              <a:spcAft>
                <a:spcPts val="0"/>
              </a:spcAft>
              <a:buNone/>
            </a:pPr>
            <a:r>
              <a:t/>
            </a:r>
            <a:endParaRPr/>
          </a:p>
        </p:txBody>
      </p:sp>
      <p:pic>
        <p:nvPicPr>
          <p:cNvPr id="607" name="Google Shape;607;p50"/>
          <p:cNvPicPr preferRelativeResize="0"/>
          <p:nvPr/>
        </p:nvPicPr>
        <p:blipFill>
          <a:blip r:embed="rId4">
            <a:alphaModFix/>
          </a:blip>
          <a:stretch>
            <a:fillRect/>
          </a:stretch>
        </p:blipFill>
        <p:spPr>
          <a:xfrm>
            <a:off x="4689450" y="1310613"/>
            <a:ext cx="7337774" cy="3776374"/>
          </a:xfrm>
          <a:prstGeom prst="rect">
            <a:avLst/>
          </a:prstGeom>
          <a:noFill/>
          <a:ln>
            <a:noFill/>
          </a:ln>
        </p:spPr>
      </p:pic>
      <p:graphicFrame>
        <p:nvGraphicFramePr>
          <p:cNvPr id="608" name="Google Shape;608;p50"/>
          <p:cNvGraphicFramePr/>
          <p:nvPr/>
        </p:nvGraphicFramePr>
        <p:xfrm>
          <a:off x="771525" y="4193300"/>
          <a:ext cx="3000000" cy="3000000"/>
        </p:xfrm>
        <a:graphic>
          <a:graphicData uri="http://schemas.openxmlformats.org/drawingml/2006/table">
            <a:tbl>
              <a:tblPr>
                <a:noFill/>
                <a:tableStyleId>{1D995342-5EAB-4557-982D-F2C7F77A1F24}</a:tableStyleId>
              </a:tblPr>
              <a:tblGrid>
                <a:gridCol w="930075"/>
                <a:gridCol w="749250"/>
                <a:gridCol w="808100"/>
                <a:gridCol w="881275"/>
              </a:tblGrid>
              <a:tr h="589350">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8192x8192)</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 Grid Dimension</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 block dimensions</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SMEM</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Size</a:t>
                      </a:r>
                      <a:endParaRPr b="1" sz="750">
                        <a:solidFill>
                          <a:srgbClr val="475569"/>
                        </a:solidFill>
                        <a:latin typeface="Inter"/>
                        <a:ea typeface="Inter"/>
                        <a:cs typeface="Inter"/>
                        <a:sym typeface="Inter"/>
                      </a:endParaRPr>
                    </a:p>
                  </a:txBody>
                  <a:tcPr marT="91425" marB="91425" marR="91425" marL="91425"/>
                </a:tc>
              </a:tr>
              <a:tr h="3158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256x256x1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4x16x16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8 KiB</a:t>
                      </a:r>
                      <a:endParaRPr sz="750">
                        <a:solidFill>
                          <a:srgbClr val="475569"/>
                        </a:solidFill>
                        <a:latin typeface="Inter"/>
                        <a:ea typeface="Inter"/>
                        <a:cs typeface="Inter"/>
                        <a:sym typeface="Inter"/>
                      </a:endParaRPr>
                    </a:p>
                  </a:txBody>
                  <a:tcPr marT="91425" marB="91425" marR="91425" marL="91425"/>
                </a:tc>
              </a:tr>
              <a:tr h="3158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128x128x1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4x16x16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11 KiB</a:t>
                      </a:r>
                      <a:endParaRPr sz="750">
                        <a:solidFill>
                          <a:srgbClr val="475569"/>
                        </a:solidFill>
                        <a:latin typeface="Inter"/>
                        <a:ea typeface="Inter"/>
                        <a:cs typeface="Inter"/>
                        <a:sym typeface="Inter"/>
                      </a:endParaRPr>
                    </a:p>
                  </a:txBody>
                  <a:tcPr marT="91425" marB="91425" marR="91425" marL="91425"/>
                </a:tc>
              </a:tr>
              <a:tr h="3158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64x64x1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4x16x16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23 KiB</a:t>
                      </a:r>
                      <a:endParaRPr sz="750">
                        <a:solidFill>
                          <a:srgbClr val="475569"/>
                        </a:solidFill>
                        <a:latin typeface="Inter"/>
                        <a:ea typeface="Inter"/>
                        <a:cs typeface="Inter"/>
                        <a:sym typeface="Inter"/>
                      </a:endParaRPr>
                    </a:p>
                  </a:txBody>
                  <a:tcPr marT="91425" marB="91425" marR="91425" marL="91425"/>
                </a:tc>
              </a:tr>
              <a:tr h="3158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32x32x1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1x32x32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l">
                        <a:spcBef>
                          <a:spcPts val="0"/>
                        </a:spcBef>
                        <a:spcAft>
                          <a:spcPts val="0"/>
                        </a:spcAft>
                        <a:buNone/>
                      </a:pPr>
                      <a:r>
                        <a:rPr lang="it-IT" sz="750">
                          <a:solidFill>
                            <a:srgbClr val="475569"/>
                          </a:solidFill>
                          <a:latin typeface="Inter"/>
                          <a:ea typeface="Inter"/>
                          <a:cs typeface="Inter"/>
                          <a:sym typeface="Inter"/>
                        </a:rPr>
                        <a:t>      80 KiB ❌</a:t>
                      </a:r>
                      <a:endParaRPr sz="750">
                        <a:solidFill>
                          <a:srgbClr val="475569"/>
                        </a:solidFill>
                        <a:latin typeface="Inter"/>
                        <a:ea typeface="Inter"/>
                        <a:cs typeface="Inter"/>
                        <a:sym typeface="Inter"/>
                      </a:endParaRPr>
                    </a:p>
                  </a:txBody>
                  <a:tcPr marT="91425" marB="91425" marR="91425" marL="91425"/>
                </a:tc>
              </a:tr>
              <a:tr h="3158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512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16x16x1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4x16x16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263 KiB ❌</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609" name="Google Shape;609;p5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3" name="Shape 613"/>
        <p:cNvGrpSpPr/>
        <p:nvPr/>
      </p:nvGrpSpPr>
      <p:grpSpPr>
        <a:xfrm>
          <a:off x="0" y="0"/>
          <a:ext cx="0" cy="0"/>
          <a:chOff x="0" y="0"/>
          <a:chExt cx="0" cy="0"/>
        </a:xfrm>
      </p:grpSpPr>
      <p:sp>
        <p:nvSpPr>
          <p:cNvPr id="614" name="Google Shape;614;p51"/>
          <p:cNvSpPr txBox="1"/>
          <p:nvPr/>
        </p:nvSpPr>
        <p:spPr>
          <a:xfrm>
            <a:off x="771525" y="1318275"/>
            <a:ext cx="5614200" cy="256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850">
                <a:solidFill>
                  <a:srgbClr val="475569"/>
                </a:solidFill>
                <a:latin typeface="Inter"/>
                <a:ea typeface="Inter"/>
                <a:cs typeface="Inter"/>
                <a:sym typeface="Inter"/>
              </a:rPr>
              <a:t>To improve block-by-block parallelization and coalescing access to GMEM, is necessary that each cuda block access also to only one block reference frame:</a:t>
            </a:r>
            <a:endParaRPr sz="18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b="1" lang="it-IT" sz="1850">
                <a:solidFill>
                  <a:srgbClr val="475569"/>
                </a:solidFill>
                <a:latin typeface="Inter"/>
                <a:ea typeface="Inter"/>
                <a:cs typeface="Inter"/>
                <a:sym typeface="Inter"/>
              </a:rPr>
              <a:t>CUDA</a:t>
            </a:r>
            <a:r>
              <a:rPr b="1" lang="it-IT" sz="1850">
                <a:solidFill>
                  <a:srgbClr val="475569"/>
                </a:solidFill>
                <a:latin typeface="Inter"/>
                <a:ea typeface="Inter"/>
                <a:cs typeface="Inter"/>
                <a:sym typeface="Inter"/>
              </a:rPr>
              <a:t> grid 3D</a:t>
            </a:r>
            <a:r>
              <a:rPr b="1" lang="it-IT" sz="1850">
                <a:solidFill>
                  <a:srgbClr val="475569"/>
                </a:solidFill>
                <a:latin typeface="Inter"/>
                <a:ea typeface="Inter"/>
                <a:cs typeface="Inter"/>
                <a:sym typeface="Inter"/>
              </a:rPr>
              <a:t>:</a:t>
            </a:r>
            <a:r>
              <a:rPr lang="it-IT" sz="1850">
                <a:solidFill>
                  <a:srgbClr val="475569"/>
                </a:solidFill>
                <a:latin typeface="Inter"/>
                <a:ea typeface="Inter"/>
                <a:cs typeface="Inter"/>
                <a:sym typeface="Inter"/>
              </a:rPr>
              <a:t> </a:t>
            </a:r>
            <a:r>
              <a:rPr lang="it-IT" sz="1850">
                <a:solidFill>
                  <a:srgbClr val="475569"/>
                </a:solidFill>
                <a:latin typeface="Inter"/>
                <a:ea typeface="Inter"/>
                <a:cs typeface="Inter"/>
                <a:sym typeface="Inter"/>
              </a:rPr>
              <a:t>the first 2 axes</a:t>
            </a:r>
            <a:r>
              <a:rPr lang="it-IT" sz="1850">
                <a:solidFill>
                  <a:srgbClr val="475569"/>
                </a:solidFill>
                <a:latin typeface="Inter"/>
                <a:ea typeface="Inter"/>
                <a:cs typeface="Inter"/>
                <a:sym typeface="Inter"/>
              </a:rPr>
              <a:t> XY maps the frame grid. </a:t>
            </a:r>
            <a:r>
              <a:rPr lang="it-IT" sz="1850">
                <a:solidFill>
                  <a:srgbClr val="475569"/>
                </a:solidFill>
                <a:latin typeface="Inter"/>
                <a:ea typeface="Inter"/>
                <a:cs typeface="Inter"/>
                <a:sym typeface="Inter"/>
              </a:rPr>
              <a:t>Simultaneously, the Z axis maps to the candidate blocks in the reference frame.</a:t>
            </a:r>
            <a:endParaRPr sz="18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b="1" lang="it-IT" sz="1850">
                <a:solidFill>
                  <a:srgbClr val="475569"/>
                </a:solidFill>
                <a:latin typeface="Inter"/>
                <a:ea typeface="Inter"/>
                <a:cs typeface="Inter"/>
                <a:sym typeface="Inter"/>
              </a:rPr>
              <a:t>CUDA block 1D</a:t>
            </a:r>
            <a:r>
              <a:rPr lang="it-IT" sz="1850">
                <a:solidFill>
                  <a:srgbClr val="475569"/>
                </a:solidFill>
                <a:latin typeface="Inter"/>
                <a:ea typeface="Inter"/>
                <a:cs typeface="Inter"/>
                <a:sym typeface="Inter"/>
              </a:rPr>
              <a:t>: parallelize the SAD computation.</a:t>
            </a:r>
            <a:endParaRPr b="1" sz="1850">
              <a:solidFill>
                <a:srgbClr val="475569"/>
              </a:solidFill>
              <a:latin typeface="Inter"/>
              <a:ea typeface="Inter"/>
              <a:cs typeface="Inter"/>
              <a:sym typeface="Inter"/>
            </a:endParaRPr>
          </a:p>
        </p:txBody>
      </p:sp>
      <p:sp>
        <p:nvSpPr>
          <p:cNvPr id="615" name="Google Shape;615;p51"/>
          <p:cNvSpPr txBox="1"/>
          <p:nvPr/>
        </p:nvSpPr>
        <p:spPr>
          <a:xfrm>
            <a:off x="6503950" y="1378450"/>
            <a:ext cx="5405100" cy="5232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Workflow idea:</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a:t>
            </a:r>
            <a:r>
              <a:rPr lang="it-IT" sz="1650">
                <a:solidFill>
                  <a:srgbClr val="475569"/>
                </a:solidFill>
                <a:latin typeface="Inter"/>
                <a:ea typeface="Inter"/>
                <a:cs typeface="Inter"/>
                <a:sym typeface="Inter"/>
              </a:rPr>
              <a:t>: </a:t>
            </a:r>
            <a:endParaRPr sz="1650">
              <a:solidFill>
                <a:srgbClr val="475569"/>
              </a:solidFill>
              <a:latin typeface="Inter"/>
              <a:ea typeface="Inter"/>
              <a:cs typeface="Inter"/>
              <a:sym typeface="Inter"/>
            </a:endParaRPr>
          </a:p>
          <a:p>
            <a:pPr indent="-333375" lvl="1" marL="914400" rtl="0" algn="l">
              <a:lnSpc>
                <a:spcPct val="115000"/>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Transfer (H2D) the current and reference frames into GMEM.</a:t>
            </a:r>
            <a:endParaRPr sz="1650">
              <a:solidFill>
                <a:srgbClr val="475569"/>
              </a:solidFill>
              <a:latin typeface="Inter"/>
              <a:ea typeface="Inter"/>
              <a:cs typeface="Inter"/>
              <a:sym typeface="Inter"/>
            </a:endParaRPr>
          </a:p>
          <a:p>
            <a:pPr indent="-333375" lvl="1" marL="914400" rtl="0" algn="l">
              <a:lnSpc>
                <a:spcPct val="115000"/>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Dynamically evaluate available SMEM to select the optimal caching strategy.</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Kernel Side:</a:t>
            </a:r>
            <a:endParaRPr b="1"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Loading SMEM</a:t>
            </a:r>
            <a:r>
              <a:rPr lang="it-IT" sz="1650">
                <a:solidFill>
                  <a:srgbClr val="475569"/>
                </a:solidFill>
                <a:latin typeface="Inter"/>
                <a:ea typeface="Inter"/>
                <a:cs typeface="Inter"/>
                <a:sym typeface="Inter"/>
              </a:rPr>
              <a:t>: threads cooperatively load current and reference frame blocks into SMEM.</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Intra-Candidate Reduction:</a:t>
            </a:r>
            <a:r>
              <a:rPr lang="it-IT" sz="1650">
                <a:solidFill>
                  <a:srgbClr val="475569"/>
                </a:solidFill>
                <a:latin typeface="Inter"/>
                <a:ea typeface="Inter"/>
                <a:cs typeface="Inter"/>
                <a:sym typeface="Inter"/>
              </a:rPr>
              <a:t> compute partial SAD and, via blockReduce, accumulate values into a total SAD for each candidate reference frame block.</a:t>
            </a:r>
            <a:endParaRPr b="1"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Grid-Wide Reduction</a:t>
            </a:r>
            <a:r>
              <a:rPr lang="it-IT" sz="1650">
                <a:solidFill>
                  <a:srgbClr val="475569"/>
                </a:solidFill>
                <a:latin typeface="Inter"/>
                <a:ea typeface="Inter"/>
                <a:cs typeface="Inter"/>
                <a:sym typeface="Inter"/>
              </a:rPr>
              <a:t>: cooperative grid reduction to identify the candidate with minimum SAD and optimal MV, followed by a direct write of the final result to GMEM.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 </a:t>
            </a:r>
            <a:r>
              <a:rPr lang="it-IT" sz="1650">
                <a:solidFill>
                  <a:srgbClr val="475569"/>
                </a:solidFill>
                <a:latin typeface="Inter"/>
                <a:ea typeface="Inter"/>
                <a:cs typeface="Inter"/>
                <a:sym typeface="Inter"/>
              </a:rPr>
              <a:t>read final result from GMEM (D2H).</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b="1" sz="1650">
              <a:solidFill>
                <a:srgbClr val="475569"/>
              </a:solidFill>
              <a:latin typeface="Inter"/>
              <a:ea typeface="Inter"/>
              <a:cs typeface="Inter"/>
              <a:sym typeface="Inter"/>
            </a:endParaRPr>
          </a:p>
        </p:txBody>
      </p:sp>
      <p:sp>
        <p:nvSpPr>
          <p:cNvPr id="616" name="Google Shape;616;p51"/>
          <p:cNvSpPr txBox="1"/>
          <p:nvPr/>
        </p:nvSpPr>
        <p:spPr>
          <a:xfrm>
            <a:off x="1201175" y="4463190"/>
            <a:ext cx="4200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Reduction problem</a:t>
            </a:r>
            <a:endParaRPr b="1">
              <a:latin typeface="Outfit"/>
              <a:ea typeface="Outfit"/>
              <a:cs typeface="Outfit"/>
              <a:sym typeface="Outfit"/>
            </a:endParaRPr>
          </a:p>
        </p:txBody>
      </p:sp>
      <p:sp>
        <p:nvSpPr>
          <p:cNvPr id="617" name="Google Shape;617;p51"/>
          <p:cNvSpPr txBox="1"/>
          <p:nvPr/>
        </p:nvSpPr>
        <p:spPr>
          <a:xfrm>
            <a:off x="1201175" y="4880725"/>
            <a:ext cx="44571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Since SAD values are spread across the Z axis, finding the best SAD and motion vector requires a reduction step. Reusing the same 3D grid for this would lead to low SM occupancy.</a:t>
            </a:r>
            <a:endParaRPr sz="1200">
              <a:solidFill>
                <a:srgbClr val="475569"/>
              </a:solidFill>
              <a:latin typeface="Inter"/>
              <a:ea typeface="Inter"/>
              <a:cs typeface="Inter"/>
              <a:sym typeface="Inter"/>
            </a:endParaRPr>
          </a:p>
        </p:txBody>
      </p:sp>
      <p:sp>
        <p:nvSpPr>
          <p:cNvPr id="618" name="Google Shape;618;p51"/>
          <p:cNvSpPr txBox="1"/>
          <p:nvPr/>
        </p:nvSpPr>
        <p:spPr>
          <a:xfrm>
            <a:off x="820175" y="4378600"/>
            <a:ext cx="3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r>
              <a:rPr lang="it-IT"/>
              <a:t> </a:t>
            </a:r>
            <a:endParaRPr/>
          </a:p>
        </p:txBody>
      </p:sp>
      <p:sp>
        <p:nvSpPr>
          <p:cNvPr id="619" name="Google Shape;619;p51"/>
          <p:cNvSpPr/>
          <p:nvPr/>
        </p:nvSpPr>
        <p:spPr>
          <a:xfrm>
            <a:off x="5933625" y="4956950"/>
            <a:ext cx="7093200" cy="1185000"/>
          </a:xfrm>
          <a:prstGeom prst="mathMultiply">
            <a:avLst>
              <a:gd fmla="val 23520" name="adj1"/>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20" name="Google Shape;620;p51"/>
          <p:cNvSpPr txBox="1"/>
          <p:nvPr/>
        </p:nvSpPr>
        <p:spPr>
          <a:xfrm>
            <a:off x="771525" y="608825"/>
            <a:ext cx="101988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a:t>
            </a:r>
            <a:r>
              <a:rPr i="1"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621" name="Google Shape;621;p51"/>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2" name="Google Shape;622;p5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6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26" name="Shape 626"/>
        <p:cNvGrpSpPr/>
        <p:nvPr/>
      </p:nvGrpSpPr>
      <p:grpSpPr>
        <a:xfrm>
          <a:off x="0" y="0"/>
          <a:ext cx="0" cy="0"/>
          <a:chOff x="0" y="0"/>
          <a:chExt cx="0" cy="0"/>
        </a:xfrm>
      </p:grpSpPr>
      <p:sp>
        <p:nvSpPr>
          <p:cNvPr id="627" name="Google Shape;627;p52"/>
          <p:cNvSpPr txBox="1"/>
          <p:nvPr/>
        </p:nvSpPr>
        <p:spPr>
          <a:xfrm>
            <a:off x="771525" y="1222975"/>
            <a:ext cx="5405100" cy="3962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Workflow idea:</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a:t>
            </a:r>
            <a:r>
              <a:rPr lang="it-IT" sz="1650">
                <a:solidFill>
                  <a:srgbClr val="475569"/>
                </a:solidFill>
                <a:latin typeface="Inter"/>
                <a:ea typeface="Inter"/>
                <a:cs typeface="Inter"/>
                <a:sym typeface="Inter"/>
              </a:rPr>
              <a:t>: </a:t>
            </a:r>
            <a:endParaRPr sz="1650">
              <a:solidFill>
                <a:srgbClr val="475569"/>
              </a:solidFill>
              <a:latin typeface="Inter"/>
              <a:ea typeface="Inter"/>
              <a:cs typeface="Inter"/>
              <a:sym typeface="Inter"/>
            </a:endParaRPr>
          </a:p>
          <a:p>
            <a:pPr indent="-333375" lvl="1" marL="914400" rtl="0" algn="l">
              <a:lnSpc>
                <a:spcPct val="115000"/>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Transfer (H2D) the current and reference frames into GMEM.</a:t>
            </a:r>
            <a:endParaRPr sz="1650">
              <a:solidFill>
                <a:srgbClr val="475569"/>
              </a:solidFill>
              <a:latin typeface="Inter"/>
              <a:ea typeface="Inter"/>
              <a:cs typeface="Inter"/>
              <a:sym typeface="Inter"/>
            </a:endParaRPr>
          </a:p>
          <a:p>
            <a:pPr indent="-333375" lvl="1" marL="914400" rtl="0" algn="l">
              <a:lnSpc>
                <a:spcPct val="115000"/>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Dynamically evaluate available SMEM to select the optimal caching strategy.</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Kernel Side:</a:t>
            </a:r>
            <a:endParaRPr b="1"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Loading SMEM</a:t>
            </a:r>
            <a:r>
              <a:rPr lang="it-IT" sz="1650">
                <a:solidFill>
                  <a:srgbClr val="475569"/>
                </a:solidFill>
                <a:latin typeface="Inter"/>
                <a:ea typeface="Inter"/>
                <a:cs typeface="Inter"/>
                <a:sym typeface="Inter"/>
              </a:rPr>
              <a:t>: </a:t>
            </a:r>
            <a:r>
              <a:rPr lang="it-IT" sz="1650">
                <a:solidFill>
                  <a:srgbClr val="475569"/>
                </a:solidFill>
                <a:latin typeface="Inter"/>
                <a:ea typeface="Inter"/>
                <a:cs typeface="Inter"/>
                <a:sym typeface="Inter"/>
              </a:rPr>
              <a:t>threads cooperatively load current and reference frame blocks into SMEM.</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Intra-Candidate Reduction:</a:t>
            </a:r>
            <a:r>
              <a:rPr lang="it-IT" sz="1650">
                <a:solidFill>
                  <a:srgbClr val="475569"/>
                </a:solidFill>
                <a:latin typeface="Inter"/>
                <a:ea typeface="Inter"/>
                <a:cs typeface="Inter"/>
                <a:sym typeface="Inter"/>
              </a:rPr>
              <a:t> compute partial SAD and, via BlockReduce, accumulate values into a total SAD for each candidate reference frame block. Each SAD result is written to GMEM.</a:t>
            </a:r>
            <a:endParaRPr b="1" sz="1650">
              <a:solidFill>
                <a:srgbClr val="475569"/>
              </a:solidFill>
              <a:latin typeface="Inter"/>
              <a:ea typeface="Inter"/>
              <a:cs typeface="Inter"/>
              <a:sym typeface="Inter"/>
            </a:endParaRPr>
          </a:p>
        </p:txBody>
      </p:sp>
      <p:pic>
        <p:nvPicPr>
          <p:cNvPr descr="graph TD&#10;    classDef host fill:#ffffff,stroke:#76b900,stroke-width:2px,color:#333333,rx:4px,ry:4px;&#10;    classDef kernel fill:#76b900,stroke:#222222,stroke-width:2px,color:#ffffff,font-weight:bold,rx:10px,ry:10px;&#10;    classDef thread fill:#f4f9f1,stroke:#76b900,stroke-width:2px,color:#333333,rx:4px,ry:4px;&#10;    classDef memory fill:#e6ffe6,stroke:#76b900,stroke-width:1px,color:#333333,rx:10px,ry:10px;&#10;    classDef highlight fill:#ffe6e6,stroke:#ff5f56,stroke-width:2px,color:#333333,rx:10px,ry:10px;&#10;    classDef dots fill:none,stroke:none,color:#76b900,font-size:24px,font-weight:bold;&#10;&#10;    subgraph Host_In [&quot;HOST SIDE&quot;]&#10;        H_IN[&quot;Transfer frames (H2D)&lt;br/&gt;&amp; Calculate size of SMEM&quot;]:::host&#10;    end&#10;&#10;    K[&quot;Kernel Launch&lt;br/&gt;Grid: Maps Frame&lt;br/&gt;Block XY: Candidates&lt;br/&gt;Block Z: Partial SAD&quot;]:::kernel&#10;    &#10;    subgraph CUDA_Block [&quot;KERNEL SIDE&quot;]&#10;        SMEM[&quot;Loading SMEM:&lt;br/&gt;Collective load of&lt;br/&gt;current frame block&quot;]:::memory&#10;        T0[&quot;Cand 0 &lt;br/&gt;Partial SAD Aggregation&quot;]:::thread&#10;        TDots[&quot;...&quot;]:::dots&#10;        TN[&quot;Cand N &lt;br/&gt;Partial SAD Aggregation&quot;]:::thread&#10;    end&#10;&#10;    GMEM[(&quot;GMEM&quot;)]:::memory&#10;&#10;    H_IN ==&gt; K&#10;    K ===&gt; SMEM&#10;    SMEM ===&gt; T0&#10;    SMEM ===&gt; TDots&#10;    SMEM ===&gt; TN&#10;    T0 -.-&gt; GMEM&#10;    TDots -.-&gt; GMEM&#10;    TN -.-&gt; GMEM" id="628" name="Google Shape;628;p52" title="mermaid-graph/default"/>
          <p:cNvPicPr preferRelativeResize="0"/>
          <p:nvPr/>
        </p:nvPicPr>
        <p:blipFill>
          <a:blip r:embed="rId4">
            <a:alphaModFix/>
          </a:blip>
          <a:stretch>
            <a:fillRect/>
          </a:stretch>
        </p:blipFill>
        <p:spPr>
          <a:xfrm>
            <a:off x="7108600" y="1223019"/>
            <a:ext cx="4475024" cy="5292080"/>
          </a:xfrm>
          <a:prstGeom prst="rect">
            <a:avLst/>
          </a:prstGeom>
          <a:noFill/>
          <a:ln>
            <a:noFill/>
          </a:ln>
        </p:spPr>
      </p:pic>
      <p:sp>
        <p:nvSpPr>
          <p:cNvPr id="629" name="Google Shape;629;p52"/>
          <p:cNvSpPr txBox="1"/>
          <p:nvPr/>
        </p:nvSpPr>
        <p:spPr>
          <a:xfrm>
            <a:off x="771525" y="608825"/>
            <a:ext cx="101988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computeSADKernel</a:t>
            </a:r>
            <a:r>
              <a:rPr i="1"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630" name="Google Shape;630;p52"/>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1" name="Google Shape;631;p52"/>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35" name="Shape 635"/>
        <p:cNvGrpSpPr/>
        <p:nvPr/>
      </p:nvGrpSpPr>
      <p:grpSpPr>
        <a:xfrm>
          <a:off x="0" y="0"/>
          <a:ext cx="0" cy="0"/>
          <a:chOff x="0" y="0"/>
          <a:chExt cx="0" cy="0"/>
        </a:xfrm>
      </p:grpSpPr>
      <p:pic>
        <p:nvPicPr>
          <p:cNvPr id="636" name="Google Shape;636;p53"/>
          <p:cNvPicPr preferRelativeResize="0"/>
          <p:nvPr/>
        </p:nvPicPr>
        <p:blipFill>
          <a:blip r:embed="rId4">
            <a:alphaModFix/>
          </a:blip>
          <a:stretch>
            <a:fillRect/>
          </a:stretch>
        </p:blipFill>
        <p:spPr>
          <a:xfrm>
            <a:off x="1333524" y="3878450"/>
            <a:ext cx="4264800" cy="2050675"/>
          </a:xfrm>
          <a:prstGeom prst="rect">
            <a:avLst/>
          </a:prstGeom>
          <a:noFill/>
          <a:ln>
            <a:noFill/>
          </a:ln>
        </p:spPr>
      </p:pic>
      <p:sp>
        <p:nvSpPr>
          <p:cNvPr id="637" name="Google Shape;637;p53"/>
          <p:cNvSpPr txBox="1"/>
          <p:nvPr/>
        </p:nvSpPr>
        <p:spPr>
          <a:xfrm>
            <a:off x="771525" y="1253063"/>
            <a:ext cx="5614200" cy="209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GridDim: 3 dimensions [blockX, blockY, blockX*BlockY]</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XY Dimensions map directly to the position of the block within the current frame.</a:t>
            </a:r>
            <a:endParaRPr sz="16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lang="it-IT" sz="1650">
                <a:solidFill>
                  <a:srgbClr val="475569"/>
                </a:solidFill>
                <a:latin typeface="Inter"/>
                <a:ea typeface="Inter"/>
                <a:cs typeface="Inter"/>
                <a:sym typeface="Inter"/>
              </a:rPr>
              <a:t>Z </a:t>
            </a:r>
            <a:r>
              <a:rPr lang="it-IT" sz="1650">
                <a:solidFill>
                  <a:srgbClr val="475569"/>
                </a:solidFill>
                <a:latin typeface="Inter"/>
                <a:ea typeface="Inter"/>
                <a:cs typeface="Inter"/>
                <a:sym typeface="Inter"/>
              </a:rPr>
              <a:t>Dimension parallelizes the search workload. Each block computes the SAD value between the current XY block and its assigned reference frame block.</a:t>
            </a:r>
            <a:endParaRPr sz="1850">
              <a:solidFill>
                <a:srgbClr val="475569"/>
              </a:solidFill>
              <a:latin typeface="Inter"/>
              <a:ea typeface="Inter"/>
              <a:cs typeface="Inter"/>
              <a:sym typeface="Inter"/>
            </a:endParaRPr>
          </a:p>
          <a:p>
            <a:pPr indent="0" lvl="0" marL="0" rtl="0" algn="l">
              <a:spcBef>
                <a:spcPts val="0"/>
              </a:spcBef>
              <a:spcAft>
                <a:spcPts val="0"/>
              </a:spcAft>
              <a:buNone/>
            </a:pPr>
            <a:r>
              <a:t/>
            </a:r>
            <a:endParaRPr b="1" sz="1850">
              <a:solidFill>
                <a:srgbClr val="475569"/>
              </a:solidFill>
              <a:latin typeface="Inter"/>
              <a:ea typeface="Inter"/>
              <a:cs typeface="Inter"/>
              <a:sym typeface="Inter"/>
            </a:endParaRPr>
          </a:p>
        </p:txBody>
      </p:sp>
      <p:sp>
        <p:nvSpPr>
          <p:cNvPr id="638" name="Google Shape;638;p53"/>
          <p:cNvSpPr txBox="1"/>
          <p:nvPr/>
        </p:nvSpPr>
        <p:spPr>
          <a:xfrm>
            <a:off x="6385713" y="1253075"/>
            <a:ext cx="5405100" cy="2285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BlockDim: 1 dimension [</a:t>
            </a:r>
            <a:r>
              <a:rPr b="1" lang="it-IT" sz="1650">
                <a:solidFill>
                  <a:srgbClr val="475569"/>
                </a:solidFill>
                <a:latin typeface="Inter"/>
                <a:ea typeface="Inter"/>
                <a:cs typeface="Inter"/>
                <a:sym typeface="Inter"/>
              </a:rPr>
              <a:t>block size</a:t>
            </a:r>
            <a:r>
              <a:rPr b="1" lang="it-IT" sz="1650">
                <a:solidFill>
                  <a:srgbClr val="475569"/>
                </a:solidFill>
                <a:latin typeface="Inter"/>
                <a:ea typeface="Inter"/>
                <a:cs typeface="Inter"/>
                <a:sym typeface="Inter"/>
              </a:rPr>
              <a:t>*</a:t>
            </a:r>
            <a:r>
              <a:rPr b="1" lang="it-IT" sz="1650">
                <a:solidFill>
                  <a:srgbClr val="475569"/>
                </a:solidFill>
                <a:latin typeface="Inter"/>
                <a:ea typeface="Inter"/>
                <a:cs typeface="Inter"/>
                <a:sym typeface="Inter"/>
              </a:rPr>
              <a:t>block size</a:t>
            </a:r>
            <a:r>
              <a:rPr b="1" lang="it-IT" sz="1650">
                <a:solidFill>
                  <a:srgbClr val="475569"/>
                </a:solidFill>
                <a:latin typeface="Inter"/>
                <a:ea typeface="Inter"/>
                <a:cs typeface="Inter"/>
                <a:sym typeface="Inter"/>
              </a:rPr>
              <a:t>]</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pixels of the current and reference frame block pair assigned to this CUDA block are divided among threads, each thread calculates the partial SAD for its assigned subset of pixels.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host maximizes the thread count up to the hardware limit or total pixel count, strictly enforcing a power of 2 for a safe parallel reduction.</a:t>
            </a:r>
            <a:endParaRPr sz="1650">
              <a:solidFill>
                <a:srgbClr val="475569"/>
              </a:solidFill>
              <a:latin typeface="Inter"/>
              <a:ea typeface="Inter"/>
              <a:cs typeface="Inter"/>
              <a:sym typeface="Inter"/>
            </a:endParaRPr>
          </a:p>
        </p:txBody>
      </p:sp>
      <p:sp>
        <p:nvSpPr>
          <p:cNvPr id="639" name="Google Shape;639;p53"/>
          <p:cNvSpPr/>
          <p:nvPr/>
        </p:nvSpPr>
        <p:spPr>
          <a:xfrm>
            <a:off x="1082438" y="6236037"/>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grid</a:t>
            </a:r>
            <a:endParaRPr sz="1000">
              <a:solidFill>
                <a:srgbClr val="0F172A"/>
              </a:solidFill>
              <a:latin typeface="Outfit"/>
              <a:ea typeface="Outfit"/>
              <a:cs typeface="Outfit"/>
              <a:sym typeface="Outfit"/>
            </a:endParaRPr>
          </a:p>
        </p:txBody>
      </p:sp>
      <p:sp>
        <p:nvSpPr>
          <p:cNvPr id="640" name="Google Shape;640;p53"/>
          <p:cNvSpPr/>
          <p:nvPr/>
        </p:nvSpPr>
        <p:spPr>
          <a:xfrm>
            <a:off x="3592850" y="5929125"/>
            <a:ext cx="2460900" cy="5145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blockIdx.x: blockX</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blockIdx.y: BlockY</a:t>
            </a:r>
            <a:endParaRPr b="1"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blockIdx.z: BlockY*blockZ</a:t>
            </a:r>
            <a:endParaRPr b="1" sz="1150">
              <a:solidFill>
                <a:srgbClr val="475569"/>
              </a:solidFill>
              <a:latin typeface="Inter"/>
              <a:ea typeface="Inter"/>
              <a:cs typeface="Inter"/>
              <a:sym typeface="Inter"/>
            </a:endParaRPr>
          </a:p>
          <a:p>
            <a:pPr indent="0" lvl="0" marL="0" rtl="0" algn="l">
              <a:spcBef>
                <a:spcPts val="0"/>
              </a:spcBef>
              <a:spcAft>
                <a:spcPts val="0"/>
              </a:spcAft>
              <a:buNone/>
            </a:pPr>
            <a:r>
              <a:t/>
            </a:r>
            <a:endParaRPr b="1" sz="1150">
              <a:solidFill>
                <a:srgbClr val="475569"/>
              </a:solidFill>
              <a:latin typeface="Inter"/>
              <a:ea typeface="Inter"/>
              <a:cs typeface="Inter"/>
              <a:sym typeface="Inter"/>
            </a:endParaRPr>
          </a:p>
        </p:txBody>
      </p:sp>
      <p:cxnSp>
        <p:nvCxnSpPr>
          <p:cNvPr id="641" name="Google Shape;641;p53"/>
          <p:cNvCxnSpPr>
            <a:endCxn id="640" idx="0"/>
          </p:cNvCxnSpPr>
          <p:nvPr/>
        </p:nvCxnSpPr>
        <p:spPr>
          <a:xfrm flipH="1">
            <a:off x="4823300" y="5018325"/>
            <a:ext cx="699900" cy="910800"/>
          </a:xfrm>
          <a:prstGeom prst="straightConnector1">
            <a:avLst/>
          </a:prstGeom>
          <a:noFill/>
          <a:ln cap="flat" cmpd="sng" w="38100">
            <a:solidFill>
              <a:srgbClr val="757575"/>
            </a:solidFill>
            <a:prstDash val="solid"/>
            <a:round/>
            <a:headEnd len="med" w="med" type="stealth"/>
            <a:tailEnd len="med" w="med" type="none"/>
          </a:ln>
        </p:spPr>
      </p:cxnSp>
      <p:cxnSp>
        <p:nvCxnSpPr>
          <p:cNvPr id="642" name="Google Shape;642;p53"/>
          <p:cNvCxnSpPr/>
          <p:nvPr/>
        </p:nvCxnSpPr>
        <p:spPr>
          <a:xfrm flipH="1" rot="10800000">
            <a:off x="1292725" y="4012975"/>
            <a:ext cx="3114600" cy="834600"/>
          </a:xfrm>
          <a:prstGeom prst="straightConnector1">
            <a:avLst/>
          </a:prstGeom>
          <a:noFill/>
          <a:ln cap="flat" cmpd="sng" w="28575">
            <a:solidFill>
              <a:srgbClr val="757575"/>
            </a:solidFill>
            <a:prstDash val="solid"/>
            <a:round/>
            <a:headEnd len="med" w="med" type="none"/>
            <a:tailEnd len="med" w="med" type="stealth"/>
          </a:ln>
        </p:spPr>
      </p:cxnSp>
      <p:sp>
        <p:nvSpPr>
          <p:cNvPr id="643" name="Google Shape;643;p53"/>
          <p:cNvSpPr txBox="1"/>
          <p:nvPr/>
        </p:nvSpPr>
        <p:spPr>
          <a:xfrm rot="-955898">
            <a:off x="2592716" y="4085687"/>
            <a:ext cx="514772" cy="3319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Dz</a:t>
            </a:r>
            <a:endParaRPr sz="1150">
              <a:solidFill>
                <a:srgbClr val="475569"/>
              </a:solidFill>
              <a:latin typeface="Inter"/>
              <a:ea typeface="Inter"/>
              <a:cs typeface="Inter"/>
              <a:sym typeface="Inter"/>
            </a:endParaRPr>
          </a:p>
        </p:txBody>
      </p:sp>
      <p:sp>
        <p:nvSpPr>
          <p:cNvPr id="644" name="Google Shape;644;p53"/>
          <p:cNvSpPr txBox="1"/>
          <p:nvPr/>
        </p:nvSpPr>
        <p:spPr>
          <a:xfrm rot="-5400000">
            <a:off x="804400" y="5166925"/>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Dy</a:t>
            </a:r>
            <a:endParaRPr sz="1000">
              <a:solidFill>
                <a:schemeClr val="dk1"/>
              </a:solidFill>
              <a:latin typeface="Calibri"/>
              <a:ea typeface="Calibri"/>
              <a:cs typeface="Calibri"/>
              <a:sym typeface="Calibri"/>
            </a:endParaRPr>
          </a:p>
        </p:txBody>
      </p:sp>
      <p:cxnSp>
        <p:nvCxnSpPr>
          <p:cNvPr id="645" name="Google Shape;645;p53"/>
          <p:cNvCxnSpPr/>
          <p:nvPr/>
        </p:nvCxnSpPr>
        <p:spPr>
          <a:xfrm>
            <a:off x="1292725" y="5120925"/>
            <a:ext cx="0" cy="615600"/>
          </a:xfrm>
          <a:prstGeom prst="straightConnector1">
            <a:avLst/>
          </a:prstGeom>
          <a:noFill/>
          <a:ln cap="flat" cmpd="sng" w="28575">
            <a:solidFill>
              <a:srgbClr val="757575"/>
            </a:solidFill>
            <a:prstDash val="solid"/>
            <a:round/>
            <a:headEnd len="med" w="med" type="none"/>
            <a:tailEnd len="med" w="med" type="stealth"/>
          </a:ln>
        </p:spPr>
      </p:cxnSp>
      <p:sp>
        <p:nvSpPr>
          <p:cNvPr id="646" name="Google Shape;646;p53"/>
          <p:cNvSpPr/>
          <p:nvPr/>
        </p:nvSpPr>
        <p:spPr>
          <a:xfrm>
            <a:off x="885400" y="3414525"/>
            <a:ext cx="3810000" cy="5304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Compute SAD between:</a:t>
            </a:r>
            <a:endParaRPr b="1" sz="1150">
              <a:solidFill>
                <a:srgbClr val="475569"/>
              </a:solidFill>
              <a:latin typeface="Inter"/>
              <a:ea typeface="Inter"/>
              <a:cs typeface="Inter"/>
              <a:sym typeface="Inter"/>
            </a:endParaRPr>
          </a:p>
          <a:p>
            <a:pPr indent="-301625" lvl="0" marL="457200" rtl="0" algn="l">
              <a:spcBef>
                <a:spcPts val="0"/>
              </a:spcBef>
              <a:spcAft>
                <a:spcPts val="0"/>
              </a:spcAft>
              <a:buClr>
                <a:srgbClr val="475569"/>
              </a:buClr>
              <a:buSzPts val="1150"/>
              <a:buFont typeface="Inter"/>
              <a:buChar char="●"/>
            </a:pPr>
            <a:r>
              <a:rPr b="1" lang="it-IT" sz="1150">
                <a:solidFill>
                  <a:srgbClr val="475569"/>
                </a:solidFill>
                <a:latin typeface="Inter"/>
                <a:ea typeface="Inter"/>
                <a:cs typeface="Inter"/>
                <a:sym typeface="Inter"/>
              </a:rPr>
              <a:t>[x,y]</a:t>
            </a:r>
            <a:endParaRPr b="1" sz="1150">
              <a:solidFill>
                <a:srgbClr val="475569"/>
              </a:solidFill>
              <a:latin typeface="Inter"/>
              <a:ea typeface="Inter"/>
              <a:cs typeface="Inter"/>
              <a:sym typeface="Inter"/>
            </a:endParaRPr>
          </a:p>
          <a:p>
            <a:pPr indent="-301625" lvl="0" marL="457200" rtl="0" algn="l">
              <a:spcBef>
                <a:spcPts val="0"/>
              </a:spcBef>
              <a:spcAft>
                <a:spcPts val="0"/>
              </a:spcAft>
              <a:buClr>
                <a:srgbClr val="475569"/>
              </a:buClr>
              <a:buSzPts val="1150"/>
              <a:buFont typeface="Inter"/>
              <a:buChar char="●"/>
            </a:pPr>
            <a:r>
              <a:rPr b="1" lang="it-IT" sz="1150">
                <a:solidFill>
                  <a:srgbClr val="475569"/>
                </a:solidFill>
                <a:latin typeface="Inter"/>
                <a:ea typeface="Inter"/>
                <a:cs typeface="Inter"/>
                <a:sym typeface="Inter"/>
              </a:rPr>
              <a:t>[blockIdx.z % blockY, </a:t>
            </a:r>
            <a:r>
              <a:rPr b="1" lang="it-IT" sz="1150">
                <a:solidFill>
                  <a:srgbClr val="475569"/>
                </a:solidFill>
                <a:latin typeface="Inter"/>
                <a:ea typeface="Inter"/>
                <a:cs typeface="Inter"/>
                <a:sym typeface="Inter"/>
              </a:rPr>
              <a:t>blockIdx.z /blockY</a:t>
            </a:r>
            <a:r>
              <a:rPr b="1" lang="it-IT" sz="1150">
                <a:solidFill>
                  <a:srgbClr val="475569"/>
                </a:solidFill>
                <a:latin typeface="Inter"/>
                <a:ea typeface="Inter"/>
                <a:cs typeface="Inter"/>
                <a:sym typeface="Inter"/>
              </a:rPr>
              <a:t>]</a:t>
            </a:r>
            <a:endParaRPr b="1" sz="1150">
              <a:solidFill>
                <a:srgbClr val="475569"/>
              </a:solidFill>
              <a:latin typeface="Inter"/>
              <a:ea typeface="Inter"/>
              <a:cs typeface="Inter"/>
              <a:sym typeface="Inter"/>
            </a:endParaRPr>
          </a:p>
        </p:txBody>
      </p:sp>
      <p:cxnSp>
        <p:nvCxnSpPr>
          <p:cNvPr id="647" name="Google Shape;647;p53"/>
          <p:cNvCxnSpPr>
            <a:stCxn id="646" idx="2"/>
          </p:cNvCxnSpPr>
          <p:nvPr/>
        </p:nvCxnSpPr>
        <p:spPr>
          <a:xfrm>
            <a:off x="2790400" y="3944925"/>
            <a:ext cx="1010100" cy="749700"/>
          </a:xfrm>
          <a:prstGeom prst="straightConnector1">
            <a:avLst/>
          </a:prstGeom>
          <a:noFill/>
          <a:ln cap="flat" cmpd="sng" w="28575">
            <a:solidFill>
              <a:srgbClr val="757575"/>
            </a:solidFill>
            <a:prstDash val="solid"/>
            <a:round/>
            <a:headEnd len="med" w="med" type="none"/>
            <a:tailEnd len="med" w="med" type="stealth"/>
          </a:ln>
        </p:spPr>
      </p:cxnSp>
      <p:pic>
        <p:nvPicPr>
          <p:cNvPr id="648" name="Google Shape;648;p53"/>
          <p:cNvPicPr preferRelativeResize="0"/>
          <p:nvPr/>
        </p:nvPicPr>
        <p:blipFill>
          <a:blip r:embed="rId5">
            <a:alphaModFix/>
          </a:blip>
          <a:stretch>
            <a:fillRect/>
          </a:stretch>
        </p:blipFill>
        <p:spPr>
          <a:xfrm>
            <a:off x="6878036" y="4847563"/>
            <a:ext cx="4613276" cy="1008900"/>
          </a:xfrm>
          <a:prstGeom prst="rect">
            <a:avLst/>
          </a:prstGeom>
          <a:noFill/>
          <a:ln>
            <a:noFill/>
          </a:ln>
        </p:spPr>
      </p:pic>
      <p:sp>
        <p:nvSpPr>
          <p:cNvPr id="649" name="Google Shape;649;p53"/>
          <p:cNvSpPr/>
          <p:nvPr/>
        </p:nvSpPr>
        <p:spPr>
          <a:xfrm>
            <a:off x="8390263" y="6236025"/>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Block</a:t>
            </a:r>
            <a:endParaRPr sz="1000">
              <a:solidFill>
                <a:srgbClr val="0F172A"/>
              </a:solidFill>
              <a:latin typeface="Outfit"/>
              <a:ea typeface="Outfit"/>
              <a:cs typeface="Outfit"/>
              <a:sym typeface="Outfit"/>
            </a:endParaRPr>
          </a:p>
        </p:txBody>
      </p:sp>
      <p:sp>
        <p:nvSpPr>
          <p:cNvPr id="650" name="Google Shape;650;p53"/>
          <p:cNvSpPr/>
          <p:nvPr/>
        </p:nvSpPr>
        <p:spPr>
          <a:xfrm>
            <a:off x="6537425" y="4443050"/>
            <a:ext cx="16299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Compute partial SAD</a:t>
            </a:r>
            <a:endParaRPr b="1" sz="1150">
              <a:solidFill>
                <a:srgbClr val="475569"/>
              </a:solidFill>
              <a:latin typeface="Inter"/>
              <a:ea typeface="Inter"/>
              <a:cs typeface="Inter"/>
              <a:sym typeface="Inter"/>
            </a:endParaRPr>
          </a:p>
        </p:txBody>
      </p:sp>
      <p:cxnSp>
        <p:nvCxnSpPr>
          <p:cNvPr id="651" name="Google Shape;651;p53"/>
          <p:cNvCxnSpPr>
            <a:stCxn id="650" idx="2"/>
          </p:cNvCxnSpPr>
          <p:nvPr/>
        </p:nvCxnSpPr>
        <p:spPr>
          <a:xfrm>
            <a:off x="7352375" y="4904750"/>
            <a:ext cx="194700" cy="254700"/>
          </a:xfrm>
          <a:prstGeom prst="straightConnector1">
            <a:avLst/>
          </a:prstGeom>
          <a:noFill/>
          <a:ln cap="flat" cmpd="sng" w="28575">
            <a:solidFill>
              <a:srgbClr val="757575"/>
            </a:solidFill>
            <a:prstDash val="solid"/>
            <a:round/>
            <a:headEnd len="med" w="med" type="none"/>
            <a:tailEnd len="med" w="med" type="stealth"/>
          </a:ln>
        </p:spPr>
      </p:cxnSp>
      <p:cxnSp>
        <p:nvCxnSpPr>
          <p:cNvPr id="652" name="Google Shape;652;p53"/>
          <p:cNvCxnSpPr/>
          <p:nvPr/>
        </p:nvCxnSpPr>
        <p:spPr>
          <a:xfrm>
            <a:off x="8913175" y="5919875"/>
            <a:ext cx="693000" cy="0"/>
          </a:xfrm>
          <a:prstGeom prst="straightConnector1">
            <a:avLst/>
          </a:prstGeom>
          <a:noFill/>
          <a:ln cap="flat" cmpd="sng" w="28575">
            <a:solidFill>
              <a:srgbClr val="757575"/>
            </a:solidFill>
            <a:prstDash val="solid"/>
            <a:round/>
            <a:headEnd len="med" w="med" type="none"/>
            <a:tailEnd len="med" w="med" type="stealth"/>
          </a:ln>
        </p:spPr>
      </p:cxnSp>
      <p:sp>
        <p:nvSpPr>
          <p:cNvPr id="653" name="Google Shape;653;p53"/>
          <p:cNvSpPr txBox="1"/>
          <p:nvPr/>
        </p:nvSpPr>
        <p:spPr>
          <a:xfrm>
            <a:off x="9060563" y="5856438"/>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cxnSp>
        <p:nvCxnSpPr>
          <p:cNvPr id="654" name="Google Shape;654;p53"/>
          <p:cNvCxnSpPr/>
          <p:nvPr/>
        </p:nvCxnSpPr>
        <p:spPr>
          <a:xfrm>
            <a:off x="1636050" y="5983300"/>
            <a:ext cx="693000" cy="0"/>
          </a:xfrm>
          <a:prstGeom prst="straightConnector1">
            <a:avLst/>
          </a:prstGeom>
          <a:noFill/>
          <a:ln cap="flat" cmpd="sng" w="28575">
            <a:solidFill>
              <a:srgbClr val="757575"/>
            </a:solidFill>
            <a:prstDash val="solid"/>
            <a:round/>
            <a:headEnd len="med" w="med" type="none"/>
            <a:tailEnd len="med" w="med" type="stealth"/>
          </a:ln>
        </p:spPr>
      </p:cxnSp>
      <p:sp>
        <p:nvSpPr>
          <p:cNvPr id="655" name="Google Shape;655;p53"/>
          <p:cNvSpPr txBox="1"/>
          <p:nvPr/>
        </p:nvSpPr>
        <p:spPr>
          <a:xfrm>
            <a:off x="1783438" y="5919863"/>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sp>
        <p:nvSpPr>
          <p:cNvPr id="656" name="Google Shape;656;p53"/>
          <p:cNvSpPr txBox="1"/>
          <p:nvPr/>
        </p:nvSpPr>
        <p:spPr>
          <a:xfrm>
            <a:off x="771525" y="608825"/>
            <a:ext cx="111348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computeSADKernel  grid and block dimensions</a:t>
            </a:r>
            <a:endParaRPr sz="3000">
              <a:solidFill>
                <a:srgbClr val="0F172A"/>
              </a:solidFill>
              <a:latin typeface="Outfit SemiBold"/>
              <a:ea typeface="Outfit SemiBold"/>
              <a:cs typeface="Outfit SemiBold"/>
              <a:sym typeface="Outfit SemiBold"/>
            </a:endParaRPr>
          </a:p>
        </p:txBody>
      </p:sp>
      <p:sp>
        <p:nvSpPr>
          <p:cNvPr id="657" name="Google Shape;657;p53"/>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8" name="Google Shape;658;p53"/>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2" name="Shape 662"/>
        <p:cNvGrpSpPr/>
        <p:nvPr/>
      </p:nvGrpSpPr>
      <p:grpSpPr>
        <a:xfrm>
          <a:off x="0" y="0"/>
          <a:ext cx="0" cy="0"/>
          <a:chOff x="0" y="0"/>
          <a:chExt cx="0" cy="0"/>
        </a:xfrm>
      </p:grpSpPr>
      <p:sp>
        <p:nvSpPr>
          <p:cNvPr id="663" name="Google Shape;663;p54"/>
          <p:cNvSpPr txBox="1"/>
          <p:nvPr/>
        </p:nvSpPr>
        <p:spPr>
          <a:xfrm>
            <a:off x="771525" y="1831025"/>
            <a:ext cx="5614200" cy="284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t/>
            </a:r>
            <a:endParaRPr b="1" sz="1850">
              <a:solidFill>
                <a:srgbClr val="475569"/>
              </a:solidFill>
              <a:latin typeface="Inter"/>
              <a:ea typeface="Inter"/>
              <a:cs typeface="Inter"/>
              <a:sym typeface="Inter"/>
            </a:endParaRPr>
          </a:p>
        </p:txBody>
      </p:sp>
      <p:sp>
        <p:nvSpPr>
          <p:cNvPr id="664" name="Google Shape;664;p54"/>
          <p:cNvSpPr txBox="1"/>
          <p:nvPr/>
        </p:nvSpPr>
        <p:spPr>
          <a:xfrm>
            <a:off x="771525" y="1453725"/>
            <a:ext cx="6643200" cy="431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Second kernel executes a reduction on the results generated by the first kernel:</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 grid 2D: </a:t>
            </a:r>
            <a:r>
              <a:rPr lang="it-IT" sz="1650">
                <a:solidFill>
                  <a:srgbClr val="475569"/>
                </a:solidFill>
                <a:latin typeface="Inter"/>
                <a:ea typeface="Inter"/>
                <a:cs typeface="Inter"/>
                <a:sym typeface="Inter"/>
              </a:rPr>
              <a:t>maps the frame grid. Each CUDA block processes exactly one block of the current frame, comparing SAD results.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 block 1D: </a:t>
            </a:r>
            <a:r>
              <a:rPr lang="it-IT" sz="1650">
                <a:solidFill>
                  <a:srgbClr val="475569"/>
                </a:solidFill>
                <a:latin typeface="Inter"/>
                <a:ea typeface="Inter"/>
                <a:cs typeface="Inter"/>
                <a:sym typeface="Inter"/>
              </a:rPr>
              <a:t>each thread processes an assigned subset of candidate SADs.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Workflow idea:</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Kernel Side:</a:t>
            </a:r>
            <a:endParaRPr b="1"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Thread local reduction</a:t>
            </a:r>
            <a:r>
              <a:rPr lang="it-IT" sz="1650">
                <a:solidFill>
                  <a:srgbClr val="475569"/>
                </a:solidFill>
                <a:latin typeface="Inter"/>
                <a:ea typeface="Inter"/>
                <a:cs typeface="Inter"/>
                <a:sym typeface="Inter"/>
              </a:rPr>
              <a:t>: each thread independently scans its assigned portion of the previously computed results, isolating its local best candidate.</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Block-Wide Reduction: </a:t>
            </a:r>
            <a:r>
              <a:rPr lang="it-IT" sz="1650">
                <a:solidFill>
                  <a:srgbClr val="475569"/>
                </a:solidFill>
                <a:latin typeface="Inter"/>
                <a:ea typeface="Inter"/>
                <a:cs typeface="Inter"/>
                <a:sym typeface="Inter"/>
              </a:rPr>
              <a:t>cooperative reduction to identify the candidate with minimum SAD and optimal MV, followed by a direct write of the final result to GMEM.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Host Side: </a:t>
            </a:r>
            <a:r>
              <a:rPr lang="it-IT" sz="1650">
                <a:solidFill>
                  <a:srgbClr val="475569"/>
                </a:solidFill>
                <a:latin typeface="Inter"/>
                <a:ea typeface="Inter"/>
                <a:cs typeface="Inter"/>
                <a:sym typeface="Inter"/>
              </a:rPr>
              <a:t>read final result from GMEM (D2H).</a:t>
            </a:r>
            <a:endParaRPr sz="1650">
              <a:solidFill>
                <a:srgbClr val="475569"/>
              </a:solidFill>
              <a:latin typeface="Inter"/>
              <a:ea typeface="Inter"/>
              <a:cs typeface="Inter"/>
              <a:sym typeface="Inter"/>
            </a:endParaRPr>
          </a:p>
        </p:txBody>
      </p:sp>
      <p:pic>
        <p:nvPicPr>
          <p:cNvPr descr="graph TD&#10;    classDef host fill:#ffffff,stroke:#76b900,stroke-width:2px,color:#333333,rx:4px,ry:4px;&#10;    classDef kernel fill:#76b900,stroke:#222222,stroke-width:2px,color:#ffffff,font-weight:bold,rx:10px,ry:10px;&#10;    classDef highlight fill:#ffe6e6,stroke:#ff5f56,stroke-width:2px,color:#333333,rx:10px,ry:10px;&#10;    classDef memory fill:#e6ffe6,stroke:#76b900,stroke-width:1px,color:#333333,rx:10px,ry:10px;&#10;&#10;    GMEM[(&quot;GMEM&quot;)]:::memory&#10;&#10;    subgraph K2 [&quot;KERNEL SIDE&quot;]&#10;        K2_B[&quot;Grid 2D: XY Blocks&lt;br/&gt;Block 1D: Scan&quot;]:::kernel&#10;        REDUCE[&quot;Intra-block Reduction:&lt;br/&gt;Identify min SAD&lt;br/&gt;&amp; optimal MV&quot;]:::highlight&#10;    end&#10;&#10;    subgraph Host_Out [&quot;HOST SIDE&quot;]&#10;        H_OUT[&quot;Read final result&lt;br/&gt;from GMEM (D2H)&quot;]:::host&#10;    end&#10;&#10;    GMEM --&gt; K2_B&#10;    K2_B --&gt; REDUCE&#10;    REDUCE ==&gt;|&quot;Direct write to GMEM&quot;| H_OUT" id="665" name="Google Shape;665;p54" title="mermaid-graph/default"/>
          <p:cNvPicPr preferRelativeResize="0"/>
          <p:nvPr/>
        </p:nvPicPr>
        <p:blipFill>
          <a:blip r:embed="rId4">
            <a:alphaModFix/>
          </a:blip>
          <a:stretch>
            <a:fillRect/>
          </a:stretch>
        </p:blipFill>
        <p:spPr>
          <a:xfrm>
            <a:off x="8506375" y="683075"/>
            <a:ext cx="2883499" cy="5858899"/>
          </a:xfrm>
          <a:prstGeom prst="rect">
            <a:avLst/>
          </a:prstGeom>
          <a:noFill/>
          <a:ln>
            <a:noFill/>
          </a:ln>
        </p:spPr>
      </p:pic>
      <p:sp>
        <p:nvSpPr>
          <p:cNvPr id="666" name="Google Shape;666;p54"/>
          <p:cNvSpPr txBox="1"/>
          <p:nvPr/>
        </p:nvSpPr>
        <p:spPr>
          <a:xfrm>
            <a:off x="771525" y="608825"/>
            <a:ext cx="101988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findBestMVKernel</a:t>
            </a:r>
            <a:r>
              <a:rPr i="1"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667" name="Google Shape;667;p54"/>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8" name="Google Shape;668;p54"/>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72" name="Shape 672"/>
        <p:cNvGrpSpPr/>
        <p:nvPr/>
      </p:nvGrpSpPr>
      <p:grpSpPr>
        <a:xfrm>
          <a:off x="0" y="0"/>
          <a:ext cx="0" cy="0"/>
          <a:chOff x="0" y="0"/>
          <a:chExt cx="0" cy="0"/>
        </a:xfrm>
      </p:grpSpPr>
      <p:sp>
        <p:nvSpPr>
          <p:cNvPr id="673" name="Google Shape;673;p55"/>
          <p:cNvSpPr txBox="1"/>
          <p:nvPr/>
        </p:nvSpPr>
        <p:spPr>
          <a:xfrm>
            <a:off x="794375" y="1456775"/>
            <a:ext cx="6180600" cy="1269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GMEM structures</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d_sad: intermediate array, fully populated by the end of the first kernel, storing the computed SAD values for every current frame block across all its search window.</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674" name="Google Shape;674;p55"/>
          <p:cNvSpPr/>
          <p:nvPr/>
        </p:nvSpPr>
        <p:spPr>
          <a:xfrm>
            <a:off x="7640438" y="3211150"/>
            <a:ext cx="3682800" cy="3510300"/>
          </a:xfrm>
          <a:prstGeom prst="roundRect">
            <a:avLst>
              <a:gd fmla="val 416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5" name="Google Shape;675;p55"/>
          <p:cNvSpPr txBox="1"/>
          <p:nvPr/>
        </p:nvSpPr>
        <p:spPr>
          <a:xfrm>
            <a:off x="7641013" y="3361950"/>
            <a:ext cx="4270200" cy="3266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constexpr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size_t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cubSmem</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sizeof</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cub::BlockReduce</a:t>
            </a:r>
            <a:r>
              <a:rPr b="1" lang="it-IT" sz="700">
                <a:solidFill>
                  <a:srgbClr val="EE11FF"/>
                </a:solidFill>
                <a:latin typeface="Roboto Mono"/>
                <a:ea typeface="Roboto Mono"/>
                <a:cs typeface="Roboto Mono"/>
                <a:sym typeface="Roboto Mono"/>
              </a:rPr>
              <a:t>&lt;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KSAD_THREADS</a:t>
            </a:r>
            <a:r>
              <a:rPr b="1" lang="it-IT" sz="700">
                <a:solidFill>
                  <a:srgbClr val="EE11FF"/>
                </a:solidFill>
                <a:latin typeface="Roboto Mono"/>
                <a:ea typeface="Roboto Mono"/>
                <a:cs typeface="Roboto Mono"/>
                <a:sym typeface="Roboto Mono"/>
              </a:rPr>
              <a:t>&gt;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TempStorage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size_t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KSAD_smem_available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deviceProp</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sharedMemPerBlock</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cubSmem</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size_t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smOneFrame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pixelsPerBlock</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sizeof</a:t>
            </a:r>
            <a:r>
              <a:rPr lang="it-IT" sz="700">
                <a:latin typeface="Roboto Mono"/>
                <a:ea typeface="Roboto Mono"/>
                <a:cs typeface="Roboto Mono"/>
                <a:sym typeface="Roboto Mono"/>
              </a:rPr>
              <a:t>(</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size_t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smTwoFrames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2</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smOneFrame</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smTwoFrames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KSAD_smem_available</a:t>
            </a:r>
            <a:r>
              <a:rPr lang="it-IT" sz="700">
                <a:latin typeface="Roboto Mono"/>
                <a:ea typeface="Roboto Mono"/>
                <a:cs typeface="Roboto Mono"/>
                <a:sym typeface="Roboto Mono"/>
              </a:rPr>
              <a:t>) {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//FULL: enough SMEM for both current and reference blocks</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SmemStrategy::FULL</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smKSad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smTwoFrames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launch kernel</a:t>
            </a:r>
            <a:r>
              <a:rPr lang="it-IT" sz="700">
                <a:solidFill>
                  <a:srgbClr val="A05000"/>
                </a:solidFill>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(switch threadsKSad)</a:t>
            </a:r>
            <a:endParaRPr i="1"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else</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smOneFrame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KSAD_smem_available</a:t>
            </a:r>
            <a:r>
              <a:rPr lang="it-IT" sz="700">
                <a:latin typeface="Roboto Mono"/>
                <a:ea typeface="Roboto Mono"/>
                <a:cs typeface="Roboto Mono"/>
                <a:sym typeface="Roboto Mono"/>
              </a:rPr>
              <a:t>) {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//CURR_ONLY: enough SMEM for current block only</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SmemStrategy::CURR_ONLY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smKSad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smOneFrame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launch kernel </a:t>
            </a:r>
            <a:r>
              <a:rPr lang="it-IT" sz="700">
                <a:solidFill>
                  <a:srgbClr val="A05000"/>
                </a:solidFill>
                <a:latin typeface="Roboto Mono"/>
                <a:ea typeface="Roboto Mono"/>
                <a:cs typeface="Roboto Mono"/>
                <a:sym typeface="Roboto Mono"/>
              </a:rPr>
              <a:t>(switch threadsKSad)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700">
                <a:solidFill>
                  <a:srgbClr val="700080"/>
                </a:solidFill>
                <a:latin typeface="Roboto Mono"/>
                <a:ea typeface="Roboto Mono"/>
                <a:cs typeface="Roboto Mono"/>
                <a:sym typeface="Roboto Mono"/>
              </a:rPr>
              <a:t>else</a:t>
            </a:r>
            <a:r>
              <a:rPr lang="it-IT" sz="700">
                <a:latin typeface="Roboto Mono"/>
                <a:ea typeface="Roboto Mono"/>
                <a:cs typeface="Roboto Mono"/>
                <a:sym typeface="Roboto Mono"/>
              </a:rPr>
              <a:t> {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not enough SMEM for frame blocks,</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SmemStrategy::NONE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smKSad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launch kernel (switch threadsKSad)</a:t>
            </a:r>
            <a:endParaRPr i="1"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676" name="Google Shape;676;p55"/>
          <p:cNvSpPr txBox="1"/>
          <p:nvPr/>
        </p:nvSpPr>
        <p:spPr>
          <a:xfrm>
            <a:off x="7877850" y="3200250"/>
            <a:ext cx="39690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fullSearchBM__optimized.cpp: launchSADKernel</a:t>
            </a:r>
            <a:endParaRPr sz="1050">
              <a:solidFill>
                <a:srgbClr val="666666"/>
              </a:solidFill>
              <a:latin typeface="Inter"/>
              <a:ea typeface="Inter"/>
              <a:cs typeface="Inter"/>
              <a:sym typeface="Inter"/>
            </a:endParaRPr>
          </a:p>
        </p:txBody>
      </p:sp>
      <p:cxnSp>
        <p:nvCxnSpPr>
          <p:cNvPr id="677" name="Google Shape;677;p55"/>
          <p:cNvCxnSpPr/>
          <p:nvPr/>
        </p:nvCxnSpPr>
        <p:spPr>
          <a:xfrm>
            <a:off x="7641025" y="3361950"/>
            <a:ext cx="3681600" cy="0"/>
          </a:xfrm>
          <a:prstGeom prst="straightConnector1">
            <a:avLst/>
          </a:prstGeom>
          <a:noFill/>
          <a:ln cap="flat" cmpd="sng" w="9525">
            <a:solidFill>
              <a:srgbClr val="B7B7B7"/>
            </a:solidFill>
            <a:prstDash val="solid"/>
            <a:round/>
            <a:headEnd len="med" w="med" type="none"/>
            <a:tailEnd len="med" w="med" type="none"/>
          </a:ln>
        </p:spPr>
      </p:cxnSp>
      <p:pic>
        <p:nvPicPr>
          <p:cNvPr descr="image.png" id="678" name="Google Shape;678;p55"/>
          <p:cNvPicPr preferRelativeResize="0"/>
          <p:nvPr/>
        </p:nvPicPr>
        <p:blipFill rotWithShape="1">
          <a:blip r:embed="rId4">
            <a:alphaModFix/>
          </a:blip>
          <a:srcRect b="0" l="0" r="0" t="0"/>
          <a:stretch/>
        </p:blipFill>
        <p:spPr>
          <a:xfrm>
            <a:off x="7767036" y="3223559"/>
            <a:ext cx="82594" cy="115068"/>
          </a:xfrm>
          <a:prstGeom prst="rect">
            <a:avLst/>
          </a:prstGeom>
          <a:noFill/>
          <a:ln>
            <a:noFill/>
          </a:ln>
        </p:spPr>
      </p:pic>
      <p:sp>
        <p:nvSpPr>
          <p:cNvPr id="679" name="Google Shape;679;p55"/>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computeSADKernel host</a:t>
            </a:r>
            <a:endParaRPr b="0" sz="1400" u="none" cap="none" strike="noStrike">
              <a:solidFill>
                <a:srgbClr val="000000"/>
              </a:solidFill>
              <a:latin typeface="Arial"/>
              <a:ea typeface="Arial"/>
              <a:cs typeface="Arial"/>
              <a:sym typeface="Arial"/>
            </a:endParaRPr>
          </a:p>
        </p:txBody>
      </p:sp>
      <p:sp>
        <p:nvSpPr>
          <p:cNvPr id="680" name="Google Shape;680;p55"/>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1" name="Google Shape;681;p55"/>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682" name="Google Shape;682;p55"/>
          <p:cNvSpPr/>
          <p:nvPr/>
        </p:nvSpPr>
        <p:spPr>
          <a:xfrm>
            <a:off x="7340038" y="1490025"/>
            <a:ext cx="4218300" cy="1371300"/>
          </a:xfrm>
          <a:prstGeom prst="roundRect">
            <a:avLst>
              <a:gd fmla="val 635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83" name="Google Shape;683;p55"/>
          <p:cNvSpPr txBox="1"/>
          <p:nvPr/>
        </p:nvSpPr>
        <p:spPr>
          <a:xfrm>
            <a:off x="7353413" y="1733500"/>
            <a:ext cx="4270200" cy="1247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i="1" lang="it-IT" sz="800">
                <a:solidFill>
                  <a:srgbClr val="A05000"/>
                </a:solidFill>
                <a:latin typeface="Roboto Mono"/>
                <a:ea typeface="Roboto Mono"/>
                <a:cs typeface="Roboto Mono"/>
                <a:sym typeface="Roboto Mono"/>
              </a:rPr>
              <a:t>// Allocate and copy d_curr and d_ref</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i="1" lang="it-IT" sz="800">
                <a:solidFill>
                  <a:srgbClr val="A05000"/>
                </a:solidFill>
                <a:latin typeface="Roboto Mono"/>
                <a:ea typeface="Roboto Mono"/>
                <a:cs typeface="Roboto Mono"/>
                <a:sym typeface="Roboto Mono"/>
              </a:rPr>
              <a:t>// Allocate device memory for SAD values and motion vectors</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b="1" lang="it-IT" sz="800">
                <a:solidFill>
                  <a:srgbClr val="700080"/>
                </a:solidFill>
                <a:latin typeface="Roboto Mono"/>
                <a:ea typeface="Roboto Mono"/>
                <a:cs typeface="Roboto Mono"/>
                <a:sym typeface="Roboto Mono"/>
              </a:rPr>
              <a:t>const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size_t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sadBytes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size_t</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solidFill>
                  <a:srgbClr val="1AB1CD"/>
                </a:solidFill>
                <a:latin typeface="Roboto Mono"/>
                <a:ea typeface="Roboto Mono"/>
                <a:cs typeface="Roboto Mono"/>
                <a:sym typeface="Roboto Mono"/>
              </a:rPr>
              <a:t>)^2</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sizeof</a:t>
            </a:r>
            <a:r>
              <a:rPr lang="it-IT" sz="800">
                <a:latin typeface="Roboto Mono"/>
                <a:ea typeface="Roboto Mono"/>
                <a:cs typeface="Roboto Mono"/>
                <a:sym typeface="Roboto Mono"/>
              </a:rPr>
              <a:t>(</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201090"/>
                </a:solidFill>
                <a:latin typeface="Roboto Mono"/>
                <a:ea typeface="Roboto Mono"/>
                <a:cs typeface="Roboto Mono"/>
                <a:sym typeface="Roboto Mono"/>
              </a:rPr>
              <a:t>nullptr</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gpuErrorCheck</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cudaMalloc</a:t>
            </a:r>
            <a:r>
              <a:rPr lang="it-IT" sz="800">
                <a:latin typeface="Roboto Mono"/>
                <a:ea typeface="Roboto Mono"/>
                <a:cs typeface="Roboto Mono"/>
                <a:sym typeface="Roboto Mono"/>
              </a:rPr>
              <a:t>(</a:t>
            </a:r>
            <a:r>
              <a:rPr b="1" lang="it-IT" sz="800">
                <a:solidFill>
                  <a:srgbClr val="EE11FF"/>
                </a:solidFill>
                <a:latin typeface="Roboto Mono"/>
                <a:ea typeface="Roboto Mono"/>
                <a:cs typeface="Roboto Mono"/>
                <a:sym typeface="Roboto Mono"/>
              </a:rPr>
              <a:t>&amp;</a:t>
            </a:r>
            <a:r>
              <a:rPr lang="it-IT" sz="800">
                <a:solidFill>
                  <a:srgbClr val="1AB1CD"/>
                </a:solidFill>
                <a:latin typeface="Roboto Mono"/>
                <a:ea typeface="Roboto Mono"/>
                <a:cs typeface="Roboto Mono"/>
                <a:sym typeface="Roboto Mono"/>
              </a:rPr>
              <a:t>d_sad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sadBytes</a:t>
            </a: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684" name="Google Shape;684;p55"/>
          <p:cNvSpPr txBox="1"/>
          <p:nvPr/>
        </p:nvSpPr>
        <p:spPr>
          <a:xfrm>
            <a:off x="7589425" y="1546950"/>
            <a:ext cx="39690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fullSearchBM_optimized.cpp: fullSearchCUDAOptimizedGray</a:t>
            </a:r>
            <a:endParaRPr sz="1050">
              <a:solidFill>
                <a:srgbClr val="666666"/>
              </a:solidFill>
              <a:latin typeface="Inter"/>
              <a:ea typeface="Inter"/>
              <a:cs typeface="Inter"/>
              <a:sym typeface="Inter"/>
            </a:endParaRPr>
          </a:p>
        </p:txBody>
      </p:sp>
      <p:cxnSp>
        <p:nvCxnSpPr>
          <p:cNvPr id="685" name="Google Shape;685;p55"/>
          <p:cNvCxnSpPr/>
          <p:nvPr/>
        </p:nvCxnSpPr>
        <p:spPr>
          <a:xfrm flipH="1" rot="10800000">
            <a:off x="7340025" y="1719275"/>
            <a:ext cx="4218900" cy="1800"/>
          </a:xfrm>
          <a:prstGeom prst="straightConnector1">
            <a:avLst/>
          </a:prstGeom>
          <a:noFill/>
          <a:ln cap="flat" cmpd="sng" w="9525">
            <a:solidFill>
              <a:srgbClr val="B7B7B7"/>
            </a:solidFill>
            <a:prstDash val="solid"/>
            <a:round/>
            <a:headEnd len="med" w="med" type="none"/>
            <a:tailEnd len="med" w="med" type="none"/>
          </a:ln>
        </p:spPr>
      </p:cxnSp>
      <p:pic>
        <p:nvPicPr>
          <p:cNvPr descr="image.png" id="686" name="Google Shape;686;p55"/>
          <p:cNvPicPr preferRelativeResize="0"/>
          <p:nvPr/>
        </p:nvPicPr>
        <p:blipFill rotWithShape="1">
          <a:blip r:embed="rId4">
            <a:alphaModFix/>
          </a:blip>
          <a:srcRect b="0" l="0" r="0" t="0"/>
          <a:stretch/>
        </p:blipFill>
        <p:spPr>
          <a:xfrm>
            <a:off x="7415773" y="1572321"/>
            <a:ext cx="82594" cy="115068"/>
          </a:xfrm>
          <a:prstGeom prst="rect">
            <a:avLst/>
          </a:prstGeom>
          <a:noFill/>
          <a:ln>
            <a:noFill/>
          </a:ln>
        </p:spPr>
      </p:pic>
      <p:sp>
        <p:nvSpPr>
          <p:cNvPr id="687" name="Google Shape;687;p55"/>
          <p:cNvSpPr txBox="1"/>
          <p:nvPr/>
        </p:nvSpPr>
        <p:spPr>
          <a:xfrm>
            <a:off x="771525" y="3338625"/>
            <a:ext cx="61806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SMEM layout: </a:t>
            </a:r>
            <a:r>
              <a:rPr lang="it-IT" sz="1650">
                <a:solidFill>
                  <a:srgbClr val="475569"/>
                </a:solidFill>
                <a:latin typeface="Inter"/>
                <a:ea typeface="Inter"/>
                <a:cs typeface="Inter"/>
                <a:sym typeface="Inter"/>
              </a:rPr>
              <a:t>available SMEM is evaluated dynamically after reserving the static overhead required by the CUB library. The kernel adopts one of three strategies: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FULL: curr + ref frame blocks (</a:t>
            </a:r>
            <a:r>
              <a:rPr i="1" lang="it-IT" sz="1650">
                <a:solidFill>
                  <a:srgbClr val="475569"/>
                </a:solidFill>
                <a:latin typeface="Inter"/>
                <a:ea typeface="Inter"/>
                <a:cs typeface="Inter"/>
                <a:sym typeface="Inter"/>
              </a:rPr>
              <a:t>smTwoFrames</a:t>
            </a:r>
            <a:r>
              <a:rPr lang="it-IT" sz="1650">
                <a:solidFill>
                  <a:srgbClr val="475569"/>
                </a:solidFill>
                <a:latin typeface="Inter"/>
                <a:ea typeface="Inter"/>
                <a:cs typeface="Inter"/>
                <a:sym typeface="Inter"/>
              </a:rPr>
              <a:t>) fit in SMEM.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CURR: only curr frame block (smOneFrame) fit in SMEM.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NONE: neither cur and ref frame fit in SMEM.</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91" name="Shape 691"/>
        <p:cNvGrpSpPr/>
        <p:nvPr/>
      </p:nvGrpSpPr>
      <p:grpSpPr>
        <a:xfrm>
          <a:off x="0" y="0"/>
          <a:ext cx="0" cy="0"/>
          <a:chOff x="0" y="0"/>
          <a:chExt cx="0" cy="0"/>
        </a:xfrm>
      </p:grpSpPr>
      <p:sp>
        <p:nvSpPr>
          <p:cNvPr id="692" name="Google Shape;692;p56"/>
          <p:cNvSpPr/>
          <p:nvPr/>
        </p:nvSpPr>
        <p:spPr>
          <a:xfrm>
            <a:off x="7185300" y="1209375"/>
            <a:ext cx="4674300" cy="4933200"/>
          </a:xfrm>
          <a:prstGeom prst="roundRect">
            <a:avLst>
              <a:gd fmla="val 379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93" name="Google Shape;693;p56"/>
          <p:cNvSpPr txBox="1"/>
          <p:nvPr/>
        </p:nvSpPr>
        <p:spPr>
          <a:xfrm>
            <a:off x="7218675" y="1422825"/>
            <a:ext cx="5002200" cy="48960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FULL and CURR strategy: load current frame block into SMEM for FULL</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constexpr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SmemStrategy::NONE</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pixelsPerBlock</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KSAD_THREADS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s_curr</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d_curr</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frame_pixel_widith</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__syncthreads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Each Z block processes assigned candidates, stride = gridDim.z</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z</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z</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flat index -&gt; reference block (x, y), in pixels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FULL strategy: cooperatively load reference block into SMEM</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pixelsPerBlock</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KSAD_THREADS</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unsigned</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char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curr_frame_pixels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ref_frame_pixels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FULL</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load curr + ref from SMEM</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else</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STRATEGY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CURR_ONLY</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load curr from SMEM, ref from GMEM</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else</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load curr + ref from GMEM</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__usad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curr_frame_pixels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ref_frame_pixels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reduce partial SADs across threads -&gt; total SAD for this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total_sad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partial_sad_reduce_storage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Sum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partial_sad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total_sad</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3000A0"/>
                </a:solidFill>
                <a:latin typeface="Roboto Mono"/>
                <a:ea typeface="Roboto Mono"/>
                <a:cs typeface="Roboto Mono"/>
                <a:sym typeface="Roboto Mono"/>
              </a:rPr>
              <a:t>__syncthreads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694" name="Google Shape;694;p56"/>
          <p:cNvSpPr txBox="1"/>
          <p:nvPr/>
        </p:nvSpPr>
        <p:spPr>
          <a:xfrm>
            <a:off x="7503850" y="1246900"/>
            <a:ext cx="36819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fullSearchBM__optimized.cpp: c</a:t>
            </a:r>
            <a:r>
              <a:rPr lang="it-IT" sz="1050">
                <a:solidFill>
                  <a:srgbClr val="666666"/>
                </a:solidFill>
                <a:latin typeface="Inter"/>
                <a:ea typeface="Inter"/>
                <a:cs typeface="Inter"/>
                <a:sym typeface="Inter"/>
              </a:rPr>
              <a:t>omputeSADKernel</a:t>
            </a:r>
            <a:endParaRPr sz="1050">
              <a:solidFill>
                <a:srgbClr val="666666"/>
              </a:solidFill>
              <a:latin typeface="Inter"/>
              <a:ea typeface="Inter"/>
              <a:cs typeface="Inter"/>
              <a:sym typeface="Inter"/>
            </a:endParaRPr>
          </a:p>
        </p:txBody>
      </p:sp>
      <p:pic>
        <p:nvPicPr>
          <p:cNvPr descr="image.png" id="695" name="Google Shape;695;p56"/>
          <p:cNvPicPr preferRelativeResize="0"/>
          <p:nvPr/>
        </p:nvPicPr>
        <p:blipFill rotWithShape="1">
          <a:blip r:embed="rId4">
            <a:alphaModFix/>
          </a:blip>
          <a:srcRect b="0" l="0" r="0" t="0"/>
          <a:stretch/>
        </p:blipFill>
        <p:spPr>
          <a:xfrm>
            <a:off x="7372498" y="1270221"/>
            <a:ext cx="82594" cy="115068"/>
          </a:xfrm>
          <a:prstGeom prst="rect">
            <a:avLst/>
          </a:prstGeom>
          <a:noFill/>
          <a:ln>
            <a:noFill/>
          </a:ln>
        </p:spPr>
      </p:pic>
      <p:sp>
        <p:nvSpPr>
          <p:cNvPr id="696" name="Google Shape;696;p56"/>
          <p:cNvSpPr txBox="1"/>
          <p:nvPr/>
        </p:nvSpPr>
        <p:spPr>
          <a:xfrm>
            <a:off x="771525" y="1272375"/>
            <a:ext cx="6064200" cy="50796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Clr>
                <a:schemeClr val="dk1"/>
              </a:buClr>
              <a:buSzPts val="1100"/>
              <a:buFont typeface="Arial"/>
              <a:buNone/>
            </a:pPr>
            <a:r>
              <a:rPr lang="it-IT" sz="1650">
                <a:solidFill>
                  <a:srgbClr val="475569"/>
                </a:solidFill>
                <a:latin typeface="Inter"/>
                <a:ea typeface="Inter"/>
                <a:cs typeface="Inter"/>
                <a:sym typeface="Inter"/>
              </a:rPr>
              <a:t>Each thread computes partial SAD of a pixel subset within its assigned candidate reference block:</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Threads iterate over pixels of the assigned candidate block, using the selected strategy to read current and reference pixels:</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FULL: both blocks are cooperatively loaded into SMEM beforehand; pixels are read from SMEM.</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CURR_ONLY: the current block is read from SMEM; the reference block is read from GMEM.</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NONE: both blocks are read directly from GMEM.</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Intra-Candidate Reduction: partial SAD values are aggregated via cub::BlockReduce to compute the total SAD for this candidate position.</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Thread 0 writes the total SAD to GMEM.</a:t>
            </a:r>
            <a:endParaRPr sz="1650">
              <a:solidFill>
                <a:srgbClr val="475569"/>
              </a:solidFill>
              <a:latin typeface="Inter"/>
              <a:ea typeface="Inter"/>
              <a:cs typeface="Inter"/>
              <a:sym typeface="Inter"/>
            </a:endParaRPr>
          </a:p>
          <a:p>
            <a:pPr indent="0" lvl="0" marL="0" rtl="0" algn="l">
              <a:lnSpc>
                <a:spcPct val="135714"/>
              </a:lnSpc>
              <a:spcBef>
                <a:spcPts val="0"/>
              </a:spcBef>
              <a:spcAft>
                <a:spcPts val="0"/>
              </a:spcAft>
              <a:buNone/>
            </a:pPr>
            <a:r>
              <a:t/>
            </a:r>
            <a:endParaRPr sz="1650">
              <a:solidFill>
                <a:srgbClr val="475569"/>
              </a:solidFill>
              <a:latin typeface="Inter"/>
              <a:ea typeface="Inter"/>
              <a:cs typeface="Inter"/>
              <a:sym typeface="Inter"/>
            </a:endParaRPr>
          </a:p>
        </p:txBody>
      </p:sp>
      <p:cxnSp>
        <p:nvCxnSpPr>
          <p:cNvPr id="697" name="Google Shape;697;p56"/>
          <p:cNvCxnSpPr/>
          <p:nvPr/>
        </p:nvCxnSpPr>
        <p:spPr>
          <a:xfrm>
            <a:off x="7187550" y="1408600"/>
            <a:ext cx="4647000" cy="0"/>
          </a:xfrm>
          <a:prstGeom prst="straightConnector1">
            <a:avLst/>
          </a:prstGeom>
          <a:noFill/>
          <a:ln cap="flat" cmpd="sng" w="9525">
            <a:solidFill>
              <a:srgbClr val="B7B7B7"/>
            </a:solidFill>
            <a:prstDash val="solid"/>
            <a:round/>
            <a:headEnd len="med" w="med" type="none"/>
            <a:tailEnd len="med" w="med" type="none"/>
          </a:ln>
        </p:spPr>
      </p:cxnSp>
      <p:sp>
        <p:nvSpPr>
          <p:cNvPr id="698" name="Google Shape;698;p56"/>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computeSADKernel device</a:t>
            </a:r>
            <a:endParaRPr b="0" sz="1400" u="none" cap="none" strike="noStrike">
              <a:solidFill>
                <a:srgbClr val="000000"/>
              </a:solidFill>
              <a:latin typeface="Arial"/>
              <a:ea typeface="Arial"/>
              <a:cs typeface="Arial"/>
              <a:sym typeface="Arial"/>
            </a:endParaRPr>
          </a:p>
        </p:txBody>
      </p:sp>
      <p:sp>
        <p:nvSpPr>
          <p:cNvPr id="699" name="Google Shape;699;p56"/>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0" name="Google Shape;700;p56"/>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04" name="Shape 704"/>
        <p:cNvGrpSpPr/>
        <p:nvPr/>
      </p:nvGrpSpPr>
      <p:grpSpPr>
        <a:xfrm>
          <a:off x="0" y="0"/>
          <a:ext cx="0" cy="0"/>
          <a:chOff x="0" y="0"/>
          <a:chExt cx="0" cy="0"/>
        </a:xfrm>
      </p:grpSpPr>
      <p:sp>
        <p:nvSpPr>
          <p:cNvPr id="705" name="Google Shape;705;p57"/>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computeSADKernel profiling</a:t>
            </a:r>
            <a:endParaRPr b="0" sz="1400" u="none" cap="none" strike="noStrike">
              <a:solidFill>
                <a:srgbClr val="000000"/>
              </a:solidFill>
              <a:latin typeface="Arial"/>
              <a:ea typeface="Arial"/>
              <a:cs typeface="Arial"/>
              <a:sym typeface="Arial"/>
            </a:endParaRPr>
          </a:p>
        </p:txBody>
      </p:sp>
      <p:sp>
        <p:nvSpPr>
          <p:cNvPr id="706" name="Google Shape;706;p57"/>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7" name="Google Shape;707;p57"/>
          <p:cNvSpPr txBox="1"/>
          <p:nvPr/>
        </p:nvSpPr>
        <p:spPr>
          <a:xfrm>
            <a:off x="731400" y="1304671"/>
            <a:ext cx="11181300" cy="23220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Profiling Sad computation with 1024x1024 and block size of 32 (1024 pixels), so frame grid has 32x32 frame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Frame size: </a:t>
            </a:r>
            <a:r>
              <a:rPr lang="it-IT" sz="1650">
                <a:solidFill>
                  <a:srgbClr val="475569"/>
                </a:solidFill>
                <a:latin typeface="Inter"/>
                <a:ea typeface="Inter"/>
                <a:cs typeface="Inter"/>
                <a:sym typeface="Inter"/>
              </a:rPr>
              <a:t>1024 KiB</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grid</a:t>
            </a:r>
            <a:r>
              <a:rPr lang="it-IT" sz="1650">
                <a:solidFill>
                  <a:srgbClr val="475569"/>
                </a:solidFill>
                <a:latin typeface="Inter"/>
                <a:ea typeface="Inter"/>
                <a:cs typeface="Inter"/>
                <a:sym typeface="Inter"/>
              </a:rPr>
              <a:t>: 32x32x1024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block: </a:t>
            </a:r>
            <a:r>
              <a:rPr lang="it-IT" sz="1650">
                <a:solidFill>
                  <a:srgbClr val="475569"/>
                </a:solidFill>
                <a:latin typeface="Inter"/>
                <a:ea typeface="Inter"/>
                <a:cs typeface="Inter"/>
                <a:sym typeface="Inter"/>
              </a:rPr>
              <a:t>1024x1x1 threads. </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Memory: </a:t>
            </a:r>
            <a:r>
              <a:rPr lang="it-IT" sz="1650">
                <a:solidFill>
                  <a:srgbClr val="475569"/>
                </a:solidFill>
                <a:latin typeface="Inter"/>
                <a:ea typeface="Inter"/>
                <a:cs typeface="Inter"/>
                <a:sym typeface="Inter"/>
              </a:rPr>
              <a:t>SMEM 2 KiB, </a:t>
            </a:r>
            <a:r>
              <a:rPr i="1" lang="it-IT" sz="1650">
                <a:solidFill>
                  <a:srgbClr val="475569"/>
                </a:solidFill>
                <a:latin typeface="Inter"/>
                <a:ea typeface="Inter"/>
                <a:cs typeface="Inter"/>
                <a:sym typeface="Inter"/>
              </a:rPr>
              <a:t>d_sad </a:t>
            </a:r>
            <a:r>
              <a:rPr lang="it-IT" sz="1650">
                <a:solidFill>
                  <a:srgbClr val="475569"/>
                </a:solidFill>
                <a:latin typeface="Inter"/>
                <a:ea typeface="Inter"/>
                <a:cs typeface="Inter"/>
                <a:sym typeface="Inter"/>
              </a:rPr>
              <a:t>(GMEM) 4 MiB</a:t>
            </a:r>
            <a:endParaRPr sz="1650">
              <a:solidFill>
                <a:srgbClr val="475569"/>
              </a:solidFill>
              <a:latin typeface="Inter"/>
              <a:ea typeface="Inter"/>
              <a:cs typeface="Inter"/>
              <a:sym typeface="Inter"/>
            </a:endParaRPr>
          </a:p>
          <a:p>
            <a:pPr indent="0" lvl="0" marL="0" rtl="0" algn="l">
              <a:lnSpc>
                <a:spcPct val="135714"/>
              </a:lnSpc>
              <a:spcBef>
                <a:spcPts val="0"/>
              </a:spcBef>
              <a:spcAft>
                <a:spcPts val="0"/>
              </a:spcAft>
              <a:buNone/>
            </a:pPr>
            <a:r>
              <a:t/>
            </a:r>
            <a:endParaRPr sz="1650">
              <a:solidFill>
                <a:srgbClr val="475569"/>
              </a:solidFill>
              <a:latin typeface="Inter"/>
              <a:ea typeface="Inter"/>
              <a:cs typeface="Inter"/>
              <a:sym typeface="Inter"/>
            </a:endParaRPr>
          </a:p>
        </p:txBody>
      </p:sp>
      <p:sp>
        <p:nvSpPr>
          <p:cNvPr id="708" name="Google Shape;708;p57"/>
          <p:cNvSpPr txBox="1"/>
          <p:nvPr/>
        </p:nvSpPr>
        <p:spPr>
          <a:xfrm>
            <a:off x="960000" y="3663750"/>
            <a:ext cx="10791000" cy="3196200"/>
          </a:xfrm>
          <a:prstGeom prst="rect">
            <a:avLst/>
          </a:prstGeom>
          <a:noFill/>
          <a:ln>
            <a:noFill/>
          </a:ln>
        </p:spPr>
        <p:txBody>
          <a:bodyPr anchorCtr="0" anchor="t" bIns="91425" lIns="91425" spcFirstLastPara="1" rIns="91425" wrap="square" tIns="91425">
            <a:spAutoFit/>
          </a:bodyPr>
          <a:lstStyle/>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Compute (SM) throughput: 54.35% &amp; Memory Throughput: 11.38%: </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Moderate compute utilization with minimal memory pressure.</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Throughput: 12.21% &amp; L1 Cache Hit Rate: 47.98%:</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52.02% miss rate reflects reference block diversity, each candidates in the Z dimension reads different reference regions.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L2 Cache Throughput: 1.36% &amp; L2 Cache Hit Rate: 99.76%:</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Adjacent candidates in the Z dimension access andiacent reference frame block.</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GMEM Throughput: 0.01% &amp; Achieved Occupancy: 49.18%</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Occupancy of 49.18% is limited by barrier synchronization overhead during BlockReduce stages.</a:t>
            </a:r>
            <a:endParaRPr sz="1650">
              <a:solidFill>
                <a:srgbClr val="475569"/>
              </a:solidFill>
              <a:latin typeface="Inter"/>
              <a:ea typeface="Inter"/>
              <a:cs typeface="Inter"/>
              <a:sym typeface="Inter"/>
            </a:endParaRPr>
          </a:p>
        </p:txBody>
      </p:sp>
      <p:sp>
        <p:nvSpPr>
          <p:cNvPr id="709" name="Google Shape;709;p57"/>
          <p:cNvSpPr txBox="1"/>
          <p:nvPr/>
        </p:nvSpPr>
        <p:spPr>
          <a:xfrm>
            <a:off x="5742075" y="3157175"/>
            <a:ext cx="1240200" cy="46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it-IT" sz="1850">
                <a:solidFill>
                  <a:srgbClr val="475569"/>
                </a:solidFill>
                <a:latin typeface="Inter"/>
                <a:ea typeface="Inter"/>
                <a:cs typeface="Inter"/>
                <a:sym typeface="Inter"/>
              </a:rPr>
              <a:t>Profiling</a:t>
            </a:r>
            <a:endParaRPr sz="1600"/>
          </a:p>
        </p:txBody>
      </p:sp>
      <p:sp>
        <p:nvSpPr>
          <p:cNvPr id="710" name="Google Shape;710;p5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4" name="Shape 714"/>
        <p:cNvGrpSpPr/>
        <p:nvPr/>
      </p:nvGrpSpPr>
      <p:grpSpPr>
        <a:xfrm>
          <a:off x="0" y="0"/>
          <a:ext cx="0" cy="0"/>
          <a:chOff x="0" y="0"/>
          <a:chExt cx="0" cy="0"/>
        </a:xfrm>
      </p:grpSpPr>
      <p:sp>
        <p:nvSpPr>
          <p:cNvPr id="715" name="Google Shape;715;p58"/>
          <p:cNvSpPr/>
          <p:nvPr/>
        </p:nvSpPr>
        <p:spPr>
          <a:xfrm>
            <a:off x="6961425" y="1333800"/>
            <a:ext cx="5080500" cy="4361400"/>
          </a:xfrm>
          <a:prstGeom prst="roundRect">
            <a:avLst>
              <a:gd fmla="val 3035"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16" name="Google Shape;716;p58"/>
          <p:cNvSpPr txBox="1"/>
          <p:nvPr/>
        </p:nvSpPr>
        <p:spPr>
          <a:xfrm>
            <a:off x="7271950" y="1360625"/>
            <a:ext cx="4013700" cy="161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1050">
                <a:solidFill>
                  <a:srgbClr val="666666"/>
                </a:solidFill>
                <a:latin typeface="Inter"/>
                <a:ea typeface="Inter"/>
                <a:cs typeface="Inter"/>
                <a:sym typeface="Inter"/>
              </a:rPr>
              <a:t>fullSearchBM__optimized.cpp: findBestMVKernel</a:t>
            </a:r>
            <a:endParaRPr sz="1050">
              <a:solidFill>
                <a:srgbClr val="666666"/>
              </a:solidFill>
              <a:latin typeface="Inter"/>
              <a:ea typeface="Inter"/>
              <a:cs typeface="Inter"/>
              <a:sym typeface="Inter"/>
            </a:endParaRPr>
          </a:p>
        </p:txBody>
      </p:sp>
      <p:sp>
        <p:nvSpPr>
          <p:cNvPr id="717" name="Google Shape;717;p58"/>
          <p:cNvSpPr txBox="1"/>
          <p:nvPr/>
        </p:nvSpPr>
        <p:spPr>
          <a:xfrm>
            <a:off x="771525" y="1333800"/>
            <a:ext cx="6189900" cy="37008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Each thread finds the local best SAD among its assigned candidates: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Threads iterate over their assigned candidates, reading each SAD value from GMEM and keeping the best candidate found so far, with tie-breaking on motion vector distance.</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Block-Wide Reduction: local best candidates are aggregated via cub::BlockReduce to find the overall best candidate for this block.</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Thread 0 converts the winning candidate into a motion vector and writes it to GMEM.</a:t>
            </a:r>
            <a:endParaRPr b="1" sz="1650">
              <a:solidFill>
                <a:srgbClr val="475569"/>
              </a:solidFill>
              <a:latin typeface="Inter"/>
              <a:ea typeface="Inter"/>
              <a:cs typeface="Inter"/>
              <a:sym typeface="Inter"/>
            </a:endParaRPr>
          </a:p>
        </p:txBody>
      </p:sp>
      <p:cxnSp>
        <p:nvCxnSpPr>
          <p:cNvPr id="718" name="Google Shape;718;p58"/>
          <p:cNvCxnSpPr/>
          <p:nvPr/>
        </p:nvCxnSpPr>
        <p:spPr>
          <a:xfrm>
            <a:off x="6967550" y="1525425"/>
            <a:ext cx="5072100" cy="0"/>
          </a:xfrm>
          <a:prstGeom prst="straightConnector1">
            <a:avLst/>
          </a:prstGeom>
          <a:noFill/>
          <a:ln cap="flat" cmpd="sng" w="9525">
            <a:solidFill>
              <a:srgbClr val="B7B7B7"/>
            </a:solidFill>
            <a:prstDash val="solid"/>
            <a:round/>
            <a:headEnd len="med" w="med" type="none"/>
            <a:tailEnd len="med" w="med" type="none"/>
          </a:ln>
        </p:spPr>
      </p:cxnSp>
      <p:pic>
        <p:nvPicPr>
          <p:cNvPr descr="image.png" id="719" name="Google Shape;719;p58"/>
          <p:cNvPicPr preferRelativeResize="0"/>
          <p:nvPr/>
        </p:nvPicPr>
        <p:blipFill rotWithShape="1">
          <a:blip r:embed="rId4">
            <a:alphaModFix/>
          </a:blip>
          <a:srcRect b="0" l="0" r="0" t="0"/>
          <a:stretch/>
        </p:blipFill>
        <p:spPr>
          <a:xfrm>
            <a:off x="7148561" y="1383946"/>
            <a:ext cx="82594" cy="115068"/>
          </a:xfrm>
          <a:prstGeom prst="rect">
            <a:avLst/>
          </a:prstGeom>
          <a:noFill/>
          <a:ln>
            <a:noFill/>
          </a:ln>
        </p:spPr>
      </p:pic>
      <p:sp>
        <p:nvSpPr>
          <p:cNvPr id="720" name="Google Shape;720;p58"/>
          <p:cNvSpPr txBox="1"/>
          <p:nvPr/>
        </p:nvSpPr>
        <p:spPr>
          <a:xfrm>
            <a:off x="6961425" y="1529325"/>
            <a:ext cx="5080500" cy="41658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base offset into d_sad for this block's candidates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size_t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base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CandidateSadLidx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local_best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INT_MAX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CandidateSadOp</a:t>
            </a:r>
            <a:r>
              <a:rPr lang="it-IT" sz="700">
                <a:latin typeface="Roboto Mono"/>
                <a:ea typeface="Roboto Mono"/>
                <a:cs typeface="Roboto Mono"/>
                <a:sym typeface="Roboto Mono"/>
              </a:rPr>
              <a:t> </a:t>
            </a:r>
            <a:r>
              <a:rPr lang="it-IT" sz="700">
                <a:solidFill>
                  <a:srgbClr val="0000F0"/>
                </a:solidFill>
                <a:latin typeface="Roboto Mono"/>
                <a:ea typeface="Roboto Mono"/>
                <a:cs typeface="Roboto Mono"/>
                <a:sym typeface="Roboto Mono"/>
              </a:rPr>
              <a:t>op</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full search: no window offset needed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each thread scans a subset of candidates, stride = BLOCK_REDUCE_THREADS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BLOCK_REDUCE_THREADS</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CandidateSadLidx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base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SAD value for this candidate, from GMEM</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candidate index, used to recover its position later</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local_best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op</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local_best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keep the better of local_best and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Block-Wide Reduction: find the best candidate among all threads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using</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cub::BlockReduce</a:t>
            </a:r>
            <a:r>
              <a:rPr b="1" lang="it-IT" sz="700">
                <a:solidFill>
                  <a:srgbClr val="EE11FF"/>
                </a:solidFill>
                <a:latin typeface="Roboto Mono"/>
                <a:ea typeface="Roboto Mono"/>
                <a:cs typeface="Roboto Mono"/>
                <a:sym typeface="Roboto Mono"/>
              </a:rPr>
              <a:t>&lt;</a:t>
            </a:r>
            <a:r>
              <a:rPr lang="it-IT" sz="700">
                <a:solidFill>
                  <a:srgbClr val="1AB1CD"/>
                </a:solidFill>
                <a:latin typeface="Roboto Mono"/>
                <a:ea typeface="Roboto Mono"/>
                <a:cs typeface="Roboto Mono"/>
                <a:sym typeface="Roboto Mono"/>
              </a:rPr>
              <a:t>CandidateSadLidx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BLOCK_REDUCE_THREADS</a:t>
            </a:r>
            <a:r>
              <a:rPr b="1" lang="it-IT" sz="700">
                <a:solidFill>
                  <a:srgbClr val="EE11FF"/>
                </a:solidFill>
                <a:latin typeface="Roboto Mono"/>
                <a:ea typeface="Roboto Mono"/>
                <a:cs typeface="Roboto Mono"/>
                <a:sym typeface="Roboto Mono"/>
              </a:rPr>
              <a:t>&gt;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3000A0"/>
                </a:solidFill>
                <a:latin typeface="Roboto Mono"/>
                <a:ea typeface="Roboto Mono"/>
                <a:cs typeface="Roboto Mono"/>
                <a:sym typeface="Roboto Mono"/>
              </a:rPr>
              <a:t>__shared__</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typename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BlockReduce::TempStorage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reduce_storage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CandidateSadLidx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result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BlockReduce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reduce_storage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Reduce</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local_best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op</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convert winning candidate index back to reference frame block coordinates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result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result</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flat_idx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motion vector = displacement between reference and current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d_mv</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latin typeface="Roboto Mono"/>
              <a:ea typeface="Roboto Mono"/>
              <a:cs typeface="Roboto Mono"/>
              <a:sym typeface="Roboto Mono"/>
            </a:endParaRPr>
          </a:p>
        </p:txBody>
      </p:sp>
      <p:sp>
        <p:nvSpPr>
          <p:cNvPr id="721" name="Google Shape;721;p58"/>
          <p:cNvSpPr txBox="1"/>
          <p:nvPr/>
        </p:nvSpPr>
        <p:spPr>
          <a:xfrm>
            <a:off x="771525" y="608825"/>
            <a:ext cx="10198800" cy="461700"/>
          </a:xfrm>
          <a:prstGeom prst="rect">
            <a:avLst/>
          </a:prstGeom>
          <a:noFill/>
          <a:ln>
            <a:noFill/>
          </a:ln>
        </p:spPr>
        <p:txBody>
          <a:bodyPr anchorCtr="0" anchor="ctr" bIns="0" lIns="0" spcFirstLastPara="1" rIns="0" wrap="square" tIns="0">
            <a:spAutoFit/>
          </a:bodyPr>
          <a:lstStyle/>
          <a:p>
            <a:pPr indent="0" lvl="0" marL="0" rtl="0" algn="l">
              <a:lnSpc>
                <a:spcPct val="120000"/>
              </a:lnSpc>
              <a:spcBef>
                <a:spcPts val="0"/>
              </a:spcBef>
              <a:spcAft>
                <a:spcPts val="0"/>
              </a:spcAft>
              <a:buClr>
                <a:schemeClr val="dk1"/>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findBestMVKernel device</a:t>
            </a:r>
            <a:r>
              <a:rPr i="1"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722" name="Google Shape;722;p58"/>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3" name="Google Shape;723;p58"/>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27" name="Shape 727"/>
        <p:cNvGrpSpPr/>
        <p:nvPr/>
      </p:nvGrpSpPr>
      <p:grpSpPr>
        <a:xfrm>
          <a:off x="0" y="0"/>
          <a:ext cx="0" cy="0"/>
          <a:chOff x="0" y="0"/>
          <a:chExt cx="0" cy="0"/>
        </a:xfrm>
      </p:grpSpPr>
      <p:sp>
        <p:nvSpPr>
          <p:cNvPr id="728" name="Google Shape;728;p59"/>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findBestMVKernel profiling</a:t>
            </a:r>
            <a:endParaRPr b="0" sz="1400" u="none" cap="none" strike="noStrike">
              <a:solidFill>
                <a:srgbClr val="000000"/>
              </a:solidFill>
              <a:latin typeface="Arial"/>
              <a:ea typeface="Arial"/>
              <a:cs typeface="Arial"/>
              <a:sym typeface="Arial"/>
            </a:endParaRPr>
          </a:p>
        </p:txBody>
      </p:sp>
      <p:sp>
        <p:nvSpPr>
          <p:cNvPr id="729" name="Google Shape;729;p59"/>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30" name="Google Shape;730;p59"/>
          <p:cNvSpPr txBox="1"/>
          <p:nvPr/>
        </p:nvSpPr>
        <p:spPr>
          <a:xfrm>
            <a:off x="771525" y="1304671"/>
            <a:ext cx="11181300" cy="19773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Profiling Sad computation with 1024x1024 and block size of 32 (1024 pixels), so frame grid has 32x32 frame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Frame size: </a:t>
            </a:r>
            <a:r>
              <a:rPr lang="it-IT" sz="1650">
                <a:solidFill>
                  <a:srgbClr val="475569"/>
                </a:solidFill>
                <a:latin typeface="Inter"/>
                <a:ea typeface="Inter"/>
                <a:cs typeface="Inter"/>
                <a:sym typeface="Inter"/>
              </a:rPr>
              <a:t>1024 KiB</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grid</a:t>
            </a:r>
            <a:r>
              <a:rPr lang="it-IT" sz="1650">
                <a:solidFill>
                  <a:srgbClr val="475569"/>
                </a:solidFill>
                <a:latin typeface="Inter"/>
                <a:ea typeface="Inter"/>
                <a:cs typeface="Inter"/>
                <a:sym typeface="Inter"/>
              </a:rPr>
              <a:t>: 32x32x1 blocks.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CUDA</a:t>
            </a:r>
            <a:r>
              <a:rPr b="1" lang="it-IT" sz="1650">
                <a:solidFill>
                  <a:srgbClr val="475569"/>
                </a:solidFill>
                <a:latin typeface="Inter"/>
                <a:ea typeface="Inter"/>
                <a:cs typeface="Inter"/>
                <a:sym typeface="Inter"/>
              </a:rPr>
              <a:t> block: </a:t>
            </a:r>
            <a:r>
              <a:rPr lang="it-IT" sz="1650">
                <a:solidFill>
                  <a:srgbClr val="475569"/>
                </a:solidFill>
                <a:latin typeface="Inter"/>
                <a:ea typeface="Inter"/>
                <a:cs typeface="Inter"/>
                <a:sym typeface="Inter"/>
              </a:rPr>
              <a:t>1024x1x1</a:t>
            </a:r>
            <a:r>
              <a:rPr lang="it-IT" sz="1650">
                <a:solidFill>
                  <a:srgbClr val="475569"/>
                </a:solidFill>
                <a:latin typeface="Inter"/>
                <a:ea typeface="Inter"/>
                <a:cs typeface="Inter"/>
                <a:sym typeface="Inter"/>
              </a:rPr>
              <a:t> threads. </a:t>
            </a:r>
            <a:endParaRPr sz="1650">
              <a:solidFill>
                <a:srgbClr val="475569"/>
              </a:solidFill>
              <a:latin typeface="Inter"/>
              <a:ea typeface="Inter"/>
              <a:cs typeface="Inter"/>
              <a:sym typeface="Inter"/>
            </a:endParaRPr>
          </a:p>
          <a:p>
            <a:pPr indent="0" lvl="0" marL="0" rtl="0" algn="l">
              <a:lnSpc>
                <a:spcPct val="135714"/>
              </a:lnSpc>
              <a:spcBef>
                <a:spcPts val="0"/>
              </a:spcBef>
              <a:spcAft>
                <a:spcPts val="0"/>
              </a:spcAft>
              <a:buNone/>
            </a:pPr>
            <a:r>
              <a:t/>
            </a:r>
            <a:endParaRPr sz="1650">
              <a:solidFill>
                <a:srgbClr val="475569"/>
              </a:solidFill>
              <a:latin typeface="Inter"/>
              <a:ea typeface="Inter"/>
              <a:cs typeface="Inter"/>
              <a:sym typeface="Inter"/>
            </a:endParaRPr>
          </a:p>
        </p:txBody>
      </p:sp>
      <p:sp>
        <p:nvSpPr>
          <p:cNvPr id="731" name="Google Shape;731;p59"/>
          <p:cNvSpPr txBox="1"/>
          <p:nvPr/>
        </p:nvSpPr>
        <p:spPr>
          <a:xfrm>
            <a:off x="1000125" y="3663750"/>
            <a:ext cx="10139400" cy="2851500"/>
          </a:xfrm>
          <a:prstGeom prst="rect">
            <a:avLst/>
          </a:prstGeom>
          <a:noFill/>
          <a:ln>
            <a:noFill/>
          </a:ln>
        </p:spPr>
        <p:txBody>
          <a:bodyPr anchorCtr="0" anchor="t" bIns="91425" lIns="91425" spcFirstLastPara="1" rIns="91425" wrap="square" tIns="91425">
            <a:spAutoFit/>
          </a:bodyPr>
          <a:lstStyle/>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Compute (SM) throughput: 44.71% &amp; Memory Throughput: 5.66%:</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Low utilization, performs only minimal arithmetic (comparisons, indexing) with high memory access frequency. </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L1 Cache Throughput: 6.02% &amp; L1 Cache Hit Rate: 0.81%:</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Each of 1024 threads reads different SAD values from d_sad array sequentially.</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L2 Cache Throughput: 2.28% &amp; L2 Cache Hit Rate: 4.14%:</a:t>
            </a:r>
            <a:endParaRPr sz="1650">
              <a:solidFill>
                <a:srgbClr val="475569"/>
              </a:solidFill>
              <a:latin typeface="Inter"/>
              <a:ea typeface="Inter"/>
              <a:cs typeface="Inter"/>
              <a:sym typeface="Inter"/>
            </a:endParaRPr>
          </a:p>
          <a:p>
            <a:pPr indent="-333375" lvl="1" marL="9144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L2 cannot buffer the random-access pattern of SAD reads.</a:t>
            </a:r>
            <a:endParaRPr sz="1650">
              <a:solidFill>
                <a:srgbClr val="475569"/>
              </a:solidFill>
              <a:latin typeface="Inter"/>
              <a:ea typeface="Inter"/>
              <a:cs typeface="Inter"/>
              <a:sym typeface="Inter"/>
            </a:endParaRPr>
          </a:p>
          <a:p>
            <a:pPr indent="-333375" lvl="0" marL="457200" rtl="0" algn="l">
              <a:lnSpc>
                <a:spcPct val="135714"/>
              </a:lnSpc>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GMEM Throughput: 2.64% &amp; Achieved Occupancy: 39.82%</a:t>
            </a:r>
            <a:endParaRPr sz="1650">
              <a:solidFill>
                <a:srgbClr val="475569"/>
              </a:solidFill>
              <a:latin typeface="Inter"/>
              <a:ea typeface="Inter"/>
              <a:cs typeface="Inter"/>
              <a:sym typeface="Inter"/>
            </a:endParaRPr>
          </a:p>
        </p:txBody>
      </p:sp>
      <p:sp>
        <p:nvSpPr>
          <p:cNvPr id="732" name="Google Shape;732;p59"/>
          <p:cNvSpPr txBox="1"/>
          <p:nvPr/>
        </p:nvSpPr>
        <p:spPr>
          <a:xfrm>
            <a:off x="5742075" y="3157175"/>
            <a:ext cx="1240200" cy="4695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rPr b="1" lang="it-IT" sz="1850">
                <a:solidFill>
                  <a:srgbClr val="475569"/>
                </a:solidFill>
                <a:latin typeface="Inter"/>
                <a:ea typeface="Inter"/>
                <a:cs typeface="Inter"/>
                <a:sym typeface="Inter"/>
              </a:rPr>
              <a:t>Profiling</a:t>
            </a:r>
            <a:endParaRPr sz="1600"/>
          </a:p>
        </p:txBody>
      </p:sp>
      <p:sp>
        <p:nvSpPr>
          <p:cNvPr id="733" name="Google Shape;733;p5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37" name="Shape 737"/>
        <p:cNvGrpSpPr/>
        <p:nvPr/>
      </p:nvGrpSpPr>
      <p:grpSpPr>
        <a:xfrm>
          <a:off x="0" y="0"/>
          <a:ext cx="0" cy="0"/>
          <a:chOff x="0" y="0"/>
          <a:chExt cx="0" cy="0"/>
        </a:xfrm>
      </p:grpSpPr>
      <p:pic>
        <p:nvPicPr>
          <p:cNvPr id="738" name="Google Shape;738;p60"/>
          <p:cNvPicPr preferRelativeResize="0"/>
          <p:nvPr/>
        </p:nvPicPr>
        <p:blipFill rotWithShape="1">
          <a:blip r:embed="rId4">
            <a:alphaModFix/>
          </a:blip>
          <a:srcRect b="0" l="0" r="0" t="0"/>
          <a:stretch/>
        </p:blipFill>
        <p:spPr>
          <a:xfrm>
            <a:off x="5659905" y="1299825"/>
            <a:ext cx="6369326" cy="3638720"/>
          </a:xfrm>
          <a:prstGeom prst="rect">
            <a:avLst/>
          </a:prstGeom>
          <a:noFill/>
          <a:ln>
            <a:noFill/>
          </a:ln>
        </p:spPr>
      </p:pic>
      <p:sp>
        <p:nvSpPr>
          <p:cNvPr id="739" name="Google Shape;739;p60"/>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benchmark</a:t>
            </a:r>
            <a:endParaRPr b="0" sz="1400" u="none" cap="none" strike="noStrike">
              <a:solidFill>
                <a:srgbClr val="000000"/>
              </a:solidFill>
              <a:latin typeface="Arial"/>
              <a:ea typeface="Arial"/>
              <a:cs typeface="Arial"/>
              <a:sym typeface="Arial"/>
            </a:endParaRPr>
          </a:p>
        </p:txBody>
      </p:sp>
      <p:sp>
        <p:nvSpPr>
          <p:cNvPr id="740" name="Google Shape;740;p60"/>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1" name="Google Shape;741;p60"/>
          <p:cNvSpPr txBox="1"/>
          <p:nvPr/>
        </p:nvSpPr>
        <p:spPr>
          <a:xfrm>
            <a:off x="771525" y="1299825"/>
            <a:ext cx="4640100" cy="221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b="1" lang="it-IT" sz="1650">
                <a:solidFill>
                  <a:srgbClr val="475569"/>
                </a:solidFill>
                <a:latin typeface="Inter"/>
                <a:ea typeface="Inter"/>
                <a:cs typeface="Inter"/>
                <a:sym typeface="Inter"/>
              </a:rPr>
              <a:t>computeSADKernel </a:t>
            </a:r>
            <a:r>
              <a:rPr lang="it-IT" sz="1650">
                <a:solidFill>
                  <a:srgbClr val="475569"/>
                </a:solidFill>
                <a:latin typeface="Inter"/>
                <a:ea typeface="Inter"/>
                <a:cs typeface="Inter"/>
                <a:sym typeface="Inter"/>
              </a:rPr>
              <a:t>(Compute-Bound): as resolution increases and number of frame blocks increase, mathematical operations dominate the execution time. </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t/>
            </a:r>
            <a:endParaRPr sz="1650">
              <a:solidFill>
                <a:srgbClr val="475569"/>
              </a:solidFill>
              <a:latin typeface="Inter"/>
              <a:ea typeface="Inter"/>
              <a:cs typeface="Inter"/>
              <a:sym typeface="Inter"/>
            </a:endParaRPr>
          </a:p>
          <a:p>
            <a:pPr indent="0" lvl="0" marL="0" rtl="0" algn="l">
              <a:spcBef>
                <a:spcPts val="0"/>
              </a:spcBef>
              <a:spcAft>
                <a:spcPts val="0"/>
              </a:spcAft>
              <a:buClr>
                <a:schemeClr val="dk1"/>
              </a:buClr>
              <a:buSzPts val="1100"/>
              <a:buFont typeface="Arial"/>
              <a:buNone/>
            </a:pPr>
            <a:r>
              <a:rPr b="1" lang="it-IT" sz="1650">
                <a:solidFill>
                  <a:srgbClr val="475569"/>
                </a:solidFill>
                <a:latin typeface="Inter"/>
                <a:ea typeface="Inter"/>
                <a:cs typeface="Inter"/>
                <a:sym typeface="Inter"/>
              </a:rPr>
              <a:t>findBestMVKernel</a:t>
            </a:r>
            <a:r>
              <a:rPr lang="it-IT" sz="1650">
                <a:solidFill>
                  <a:srgbClr val="475569"/>
                </a:solidFill>
                <a:latin typeface="Inter"/>
                <a:ea typeface="Inter"/>
                <a:cs typeface="Inter"/>
                <a:sym typeface="Inter"/>
              </a:rPr>
              <a:t> (Memory-Bound): a lightweight reduction step. Performance is strictly dictated by GMEM access latency. </a:t>
            </a:r>
            <a:endParaRPr sz="1650">
              <a:solidFill>
                <a:srgbClr val="475569"/>
              </a:solidFill>
              <a:latin typeface="Inter"/>
              <a:ea typeface="Inter"/>
              <a:cs typeface="Inter"/>
              <a:sym typeface="Inter"/>
            </a:endParaRPr>
          </a:p>
        </p:txBody>
      </p:sp>
      <p:sp>
        <p:nvSpPr>
          <p:cNvPr id="742" name="Google Shape;742;p60"/>
          <p:cNvSpPr txBox="1"/>
          <p:nvPr/>
        </p:nvSpPr>
        <p:spPr>
          <a:xfrm>
            <a:off x="6011946" y="509864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SMEM usage</a:t>
            </a:r>
            <a:endParaRPr sz="1500">
              <a:solidFill>
                <a:srgbClr val="0F172A"/>
              </a:solidFill>
              <a:latin typeface="Outfit"/>
              <a:ea typeface="Outfit"/>
              <a:cs typeface="Outfit"/>
              <a:sym typeface="Outfit"/>
            </a:endParaRPr>
          </a:p>
        </p:txBody>
      </p:sp>
      <p:sp>
        <p:nvSpPr>
          <p:cNvPr id="743" name="Google Shape;743;p60"/>
          <p:cNvSpPr txBox="1"/>
          <p:nvPr/>
        </p:nvSpPr>
        <p:spPr>
          <a:xfrm>
            <a:off x="6011950" y="5516175"/>
            <a:ext cx="5863500" cy="461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Shared Memory footprint is strictly proportional to the frame </a:t>
            </a:r>
            <a:r>
              <a:rPr lang="it-IT" sz="1200">
                <a:solidFill>
                  <a:srgbClr val="475569"/>
                </a:solidFill>
                <a:latin typeface="Inter"/>
                <a:ea typeface="Inter"/>
                <a:cs typeface="Inter"/>
                <a:sym typeface="Inter"/>
              </a:rPr>
              <a:t>block size</a:t>
            </a:r>
            <a:r>
              <a:rPr lang="it-IT" sz="1200">
                <a:solidFill>
                  <a:srgbClr val="475569"/>
                </a:solidFill>
                <a:latin typeface="Inter"/>
                <a:ea typeface="Inter"/>
                <a:cs typeface="Inter"/>
                <a:sym typeface="Inter"/>
              </a:rPr>
              <a:t> and after the selected search strategy.</a:t>
            </a:r>
            <a:endParaRPr sz="1200">
              <a:solidFill>
                <a:srgbClr val="475569"/>
              </a:solidFill>
              <a:latin typeface="Inter"/>
              <a:ea typeface="Inter"/>
              <a:cs typeface="Inter"/>
              <a:sym typeface="Inter"/>
            </a:endParaRPr>
          </a:p>
        </p:txBody>
      </p:sp>
      <p:sp>
        <p:nvSpPr>
          <p:cNvPr id="744" name="Google Shape;744;p60"/>
          <p:cNvSpPr txBox="1"/>
          <p:nvPr/>
        </p:nvSpPr>
        <p:spPr>
          <a:xfrm>
            <a:off x="5602300" y="5014050"/>
            <a:ext cx="6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r>
              <a:rPr lang="it-IT"/>
              <a:t> </a:t>
            </a:r>
            <a:endParaRPr/>
          </a:p>
        </p:txBody>
      </p:sp>
      <p:graphicFrame>
        <p:nvGraphicFramePr>
          <p:cNvPr id="745" name="Google Shape;745;p60"/>
          <p:cNvGraphicFramePr/>
          <p:nvPr/>
        </p:nvGraphicFramePr>
        <p:xfrm>
          <a:off x="867488" y="3707425"/>
          <a:ext cx="3000000" cy="3000000"/>
        </p:xfrm>
        <a:graphic>
          <a:graphicData uri="http://schemas.openxmlformats.org/drawingml/2006/table">
            <a:tbl>
              <a:tblPr>
                <a:noFill/>
                <a:tableStyleId>{1D995342-5EAB-4557-982D-F2C7F77A1F24}</a:tableStyleId>
              </a:tblPr>
              <a:tblGrid>
                <a:gridCol w="1063875"/>
                <a:gridCol w="1379975"/>
                <a:gridCol w="1164950"/>
                <a:gridCol w="1031200"/>
              </a:tblGrid>
              <a:tr h="415850">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Resolution</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(block size 32)</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a:t>
                      </a:r>
                      <a:r>
                        <a:rPr b="1" lang="it-IT" sz="750">
                          <a:solidFill>
                            <a:srgbClr val="475569"/>
                          </a:solidFill>
                          <a:latin typeface="Inter"/>
                          <a:ea typeface="Inter"/>
                          <a:cs typeface="Inter"/>
                          <a:sym typeface="Inter"/>
                        </a:rPr>
                        <a:t> grid and block </a:t>
                      </a:r>
                      <a:endParaRPr b="1"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b="1" i="1" lang="it-IT" sz="750">
                          <a:solidFill>
                            <a:srgbClr val="475569"/>
                          </a:solidFill>
                          <a:latin typeface="Inter"/>
                          <a:ea typeface="Inter"/>
                          <a:cs typeface="Inter"/>
                          <a:sym typeface="Inter"/>
                        </a:rPr>
                        <a:t>ComputeSADKernel</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it-IT" sz="750">
                          <a:solidFill>
                            <a:srgbClr val="475569"/>
                          </a:solidFill>
                          <a:latin typeface="Inter"/>
                          <a:ea typeface="Inter"/>
                          <a:cs typeface="Inter"/>
                          <a:sym typeface="Inter"/>
                        </a:rPr>
                        <a:t>CUDA grid and block </a:t>
                      </a:r>
                      <a:endParaRPr b="1"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b="1" lang="it-IT" sz="750">
                          <a:solidFill>
                            <a:srgbClr val="475569"/>
                          </a:solidFill>
                          <a:latin typeface="Inter"/>
                          <a:ea typeface="Inter"/>
                          <a:cs typeface="Inter"/>
                          <a:sym typeface="Inter"/>
                        </a:rPr>
                        <a:t>FindBestMVKernel</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GMEM </a:t>
                      </a:r>
                      <a:endParaRPr b="1"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256x256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grid: 8 x 8 x 64 </a:t>
                      </a:r>
                      <a:endParaRPr sz="750">
                        <a:solidFill>
                          <a:srgbClr val="475569"/>
                        </a:solidFill>
                        <a:latin typeface="Inter"/>
                        <a:ea typeface="Inter"/>
                        <a:cs typeface="Inter"/>
                        <a:sym typeface="Inter"/>
                      </a:endParaRPr>
                    </a:p>
                    <a:p>
                      <a:pPr indent="0" lvl="0" marL="0" rtl="0" algn="ctr">
                        <a:spcBef>
                          <a:spcPts val="0"/>
                        </a:spcBef>
                        <a:spcAft>
                          <a:spcPts val="0"/>
                        </a:spcAft>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grid: 8 x 8 x 1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64 x 1 x 1</a:t>
                      </a:r>
                      <a:endParaRPr b="1" i="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 16 KiB</a:t>
                      </a:r>
                      <a:endParaRPr sz="750">
                        <a:solidFill>
                          <a:srgbClr val="475569"/>
                        </a:solidFill>
                        <a:latin typeface="Inter"/>
                        <a:ea typeface="Inter"/>
                        <a:cs typeface="Inter"/>
                        <a:sym typeface="Inter"/>
                      </a:endParaRPr>
                    </a:p>
                    <a:p>
                      <a:pPr indent="0" lvl="0" marL="0" rtl="0" algn="ctr">
                        <a:spcBef>
                          <a:spcPts val="0"/>
                        </a:spcBef>
                        <a:spcAft>
                          <a:spcPts val="0"/>
                        </a:spcAft>
                        <a:buNone/>
                      </a:pPr>
                      <a:r>
                        <a:rPr lang="it-IT" sz="750">
                          <a:solidFill>
                            <a:srgbClr val="475569"/>
                          </a:solidFill>
                          <a:latin typeface="Inter"/>
                          <a:ea typeface="Inter"/>
                          <a:cs typeface="Inter"/>
                          <a:sym typeface="Inter"/>
                        </a:rPr>
                        <a:t>d_mv: 0.5 KiB</a:t>
                      </a:r>
                      <a:endParaRPr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512 x 512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16 x 16 x 256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16 x 16 x 1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256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256 KiB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2 KiB</a:t>
                      </a:r>
                      <a:endParaRPr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1024 x 1024</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32 x 32 x 1024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32 x 32 x 1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8 KiB</a:t>
                      </a:r>
                      <a:endParaRPr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2048 x 2048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64 x 64 x 4096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64 x 64 x 1</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64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32 KiB</a:t>
                      </a:r>
                      <a:endParaRPr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4096 x 4096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128 x 128 x 16384</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128 x 128 x 1</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1024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128 KiB</a:t>
                      </a:r>
                      <a:endParaRPr sz="750">
                        <a:solidFill>
                          <a:srgbClr val="475569"/>
                        </a:solidFill>
                        <a:latin typeface="Inter"/>
                        <a:ea typeface="Inter"/>
                        <a:cs typeface="Inter"/>
                        <a:sym typeface="Inter"/>
                      </a:endParaRPr>
                    </a:p>
                  </a:txBody>
                  <a:tcPr marT="91425" marB="91425" marR="91425" marL="91425"/>
                </a:tc>
              </a:tr>
              <a:tr h="4145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8192 x 8192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256 x 256 x 65535</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256 x 256 x 1</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16384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512 KiB</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746" name="Google Shape;746;p6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0" name="Shape 750"/>
        <p:cNvGrpSpPr/>
        <p:nvPr/>
      </p:nvGrpSpPr>
      <p:grpSpPr>
        <a:xfrm>
          <a:off x="0" y="0"/>
          <a:ext cx="0" cy="0"/>
          <a:chOff x="0" y="0"/>
          <a:chExt cx="0" cy="0"/>
        </a:xfrm>
      </p:grpSpPr>
      <p:sp>
        <p:nvSpPr>
          <p:cNvPr id="751" name="Google Shape;751;p61"/>
          <p:cNvSpPr txBox="1"/>
          <p:nvPr/>
        </p:nvSpPr>
        <p:spPr>
          <a:xfrm>
            <a:off x="771525" y="608813"/>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benchmark</a:t>
            </a:r>
            <a:endParaRPr b="0" sz="1400" u="none" cap="none" strike="noStrike">
              <a:solidFill>
                <a:srgbClr val="000000"/>
              </a:solidFill>
              <a:latin typeface="Arial"/>
              <a:ea typeface="Arial"/>
              <a:cs typeface="Arial"/>
              <a:sym typeface="Arial"/>
            </a:endParaRPr>
          </a:p>
        </p:txBody>
      </p:sp>
      <p:sp>
        <p:nvSpPr>
          <p:cNvPr id="752" name="Google Shape;752;p61"/>
          <p:cNvSpPr/>
          <p:nvPr/>
        </p:nvSpPr>
        <p:spPr>
          <a:xfrm>
            <a:off x="771525" y="1070513"/>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3" name="Google Shape;753;p61"/>
          <p:cNvSpPr txBox="1"/>
          <p:nvPr/>
        </p:nvSpPr>
        <p:spPr>
          <a:xfrm>
            <a:off x="771525" y="1577975"/>
            <a:ext cx="41976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SMEM limits: </a:t>
            </a:r>
            <a:r>
              <a:rPr lang="it-IT" sz="1650">
                <a:solidFill>
                  <a:srgbClr val="475569"/>
                </a:solidFill>
                <a:latin typeface="Inter"/>
                <a:ea typeface="Inter"/>
                <a:cs typeface="Inter"/>
                <a:sym typeface="Inter"/>
              </a:rPr>
              <a:t>full strategy support up to </a:t>
            </a:r>
            <a:r>
              <a:rPr lang="it-IT" sz="1650">
                <a:solidFill>
                  <a:srgbClr val="475569"/>
                </a:solidFill>
                <a:latin typeface="Inter"/>
                <a:ea typeface="Inter"/>
                <a:cs typeface="Inter"/>
                <a:sym typeface="Inter"/>
              </a:rPr>
              <a:t>block size</a:t>
            </a:r>
            <a:r>
              <a:rPr lang="it-IT" sz="1650">
                <a:solidFill>
                  <a:srgbClr val="475569"/>
                </a:solidFill>
                <a:latin typeface="Inter"/>
                <a:ea typeface="Inter"/>
                <a:cs typeface="Inter"/>
                <a:sym typeface="Inter"/>
              </a:rPr>
              <a:t> 128 (32 KiB). At </a:t>
            </a:r>
            <a:r>
              <a:rPr lang="it-IT" sz="1650">
                <a:solidFill>
                  <a:srgbClr val="475569"/>
                </a:solidFill>
                <a:latin typeface="Inter"/>
                <a:ea typeface="Inter"/>
                <a:cs typeface="Inter"/>
                <a:sym typeface="Inter"/>
              </a:rPr>
              <a:t>block size</a:t>
            </a:r>
            <a:r>
              <a:rPr lang="it-IT" sz="1650">
                <a:solidFill>
                  <a:srgbClr val="475569"/>
                </a:solidFill>
                <a:latin typeface="Inter"/>
                <a:ea typeface="Inter"/>
                <a:cs typeface="Inter"/>
                <a:sym typeface="Inter"/>
              </a:rPr>
              <a:t> 256, the hardware limit is exceeded.</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GMEM: </a:t>
            </a:r>
            <a:r>
              <a:rPr lang="it-IT" sz="1650">
                <a:solidFill>
                  <a:srgbClr val="475569"/>
                </a:solidFill>
                <a:latin typeface="Inter"/>
                <a:ea typeface="Inter"/>
                <a:cs typeface="Inter"/>
                <a:sym typeface="Inter"/>
              </a:rPr>
              <a:t>the </a:t>
            </a:r>
            <a:r>
              <a:rPr i="1" lang="it-IT" sz="1650">
                <a:solidFill>
                  <a:srgbClr val="475569"/>
                </a:solidFill>
                <a:latin typeface="Inter"/>
                <a:ea typeface="Inter"/>
                <a:cs typeface="Inter"/>
                <a:sym typeface="Inter"/>
              </a:rPr>
              <a:t>d_sad</a:t>
            </a:r>
            <a:r>
              <a:rPr lang="it-IT" sz="1650">
                <a:solidFill>
                  <a:srgbClr val="475569"/>
                </a:solidFill>
                <a:latin typeface="Inter"/>
                <a:ea typeface="Inter"/>
                <a:cs typeface="Inter"/>
                <a:sym typeface="Inter"/>
              </a:rPr>
              <a:t> array dictates performance. Decreasing the </a:t>
            </a:r>
            <a:r>
              <a:rPr lang="it-IT" sz="1650">
                <a:solidFill>
                  <a:srgbClr val="475569"/>
                </a:solidFill>
                <a:latin typeface="Inter"/>
                <a:ea typeface="Inter"/>
                <a:cs typeface="Inter"/>
                <a:sym typeface="Inter"/>
              </a:rPr>
              <a:t>block size</a:t>
            </a:r>
            <a:r>
              <a:rPr lang="it-IT" sz="1650">
                <a:solidFill>
                  <a:srgbClr val="475569"/>
                </a:solidFill>
                <a:latin typeface="Inter"/>
                <a:ea typeface="Inter"/>
                <a:cs typeface="Inter"/>
                <a:sym typeface="Inter"/>
              </a:rPr>
              <a:t> triggers a quadratic growth in memory allocation.</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graphicFrame>
        <p:nvGraphicFramePr>
          <p:cNvPr id="754" name="Google Shape;754;p61"/>
          <p:cNvGraphicFramePr/>
          <p:nvPr/>
        </p:nvGraphicFramePr>
        <p:xfrm>
          <a:off x="957100" y="4517825"/>
          <a:ext cx="3000000" cy="3000000"/>
        </p:xfrm>
        <a:graphic>
          <a:graphicData uri="http://schemas.openxmlformats.org/drawingml/2006/table">
            <a:tbl>
              <a:tblPr>
                <a:noFill/>
                <a:tableStyleId>{1D995342-5EAB-4557-982D-F2C7F77A1F24}</a:tableStyleId>
              </a:tblPr>
              <a:tblGrid>
                <a:gridCol w="1449875"/>
                <a:gridCol w="1211300"/>
                <a:gridCol w="1155850"/>
              </a:tblGrid>
              <a:tr h="384725">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8192x8192)</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SMEM for frame blocks</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(computeSADKernel)</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d_sad (GMEM)</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size</a:t>
                      </a:r>
                      <a:endParaRPr b="1" sz="750">
                        <a:solidFill>
                          <a:srgbClr val="475569"/>
                        </a:solidFill>
                        <a:latin typeface="Inter"/>
                        <a:ea typeface="Inter"/>
                        <a:cs typeface="Inter"/>
                        <a:sym typeface="Inter"/>
                      </a:endParaRPr>
                    </a:p>
                  </a:txBody>
                  <a:tcPr marT="91425" marB="91425" marR="91425" marL="91425"/>
                </a:tc>
              </a:tr>
              <a:tr h="2834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FULL: 2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16384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512 KiB</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FULL: 8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 </a:t>
                      </a:r>
                      <a:r>
                        <a:rPr lang="it-IT" sz="750">
                          <a:solidFill>
                            <a:srgbClr val="475569"/>
                          </a:solidFill>
                          <a:latin typeface="Inter"/>
                          <a:ea typeface="Inter"/>
                          <a:cs typeface="Inter"/>
                          <a:sym typeface="Inter"/>
                        </a:rPr>
                        <a:t>1024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128 KiB</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FULL: 32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 </a:t>
                      </a:r>
                      <a:r>
                        <a:rPr lang="it-IT" sz="750">
                          <a:solidFill>
                            <a:srgbClr val="475569"/>
                          </a:solidFill>
                          <a:latin typeface="Inter"/>
                          <a:ea typeface="Inter"/>
                          <a:cs typeface="Inter"/>
                          <a:sym typeface="Inter"/>
                        </a:rPr>
                        <a:t>64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32 KiB</a:t>
                      </a:r>
                      <a:endParaRPr sz="750">
                        <a:solidFill>
                          <a:srgbClr val="475569"/>
                        </a:solidFill>
                        <a:latin typeface="Inter"/>
                        <a:ea typeface="Inter"/>
                        <a:cs typeface="Inter"/>
                        <a:sym typeface="Inter"/>
                      </a:endParaRPr>
                    </a:p>
                  </a:txBody>
                  <a:tcPr marT="91425" marB="91425" marR="91425" marL="91425"/>
                </a:tc>
              </a:tr>
              <a:tr h="27785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NONE: 0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a:t>
                      </a:r>
                      <a:r>
                        <a:rPr lang="it-IT" sz="750">
                          <a:solidFill>
                            <a:srgbClr val="475569"/>
                          </a:solidFill>
                          <a:latin typeface="Inter"/>
                          <a:ea typeface="Inter"/>
                          <a:cs typeface="Inter"/>
                          <a:sym typeface="Inter"/>
                        </a:rPr>
                        <a:t> </a:t>
                      </a:r>
                      <a:r>
                        <a:rPr lang="it-IT" sz="750">
                          <a:solidFill>
                            <a:srgbClr val="475569"/>
                          </a:solidFill>
                          <a:latin typeface="Inter"/>
                          <a:ea typeface="Inter"/>
                          <a:cs typeface="Inter"/>
                          <a:sym typeface="Inter"/>
                        </a:rPr>
                        <a:t>4 MiB</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d_mv: 8 KiB</a:t>
                      </a:r>
                      <a:endParaRPr sz="750">
                        <a:solidFill>
                          <a:srgbClr val="475569"/>
                        </a:solidFill>
                        <a:latin typeface="Inter"/>
                        <a:ea typeface="Inter"/>
                        <a:cs typeface="Inter"/>
                        <a:sym typeface="Inter"/>
                      </a:endParaRPr>
                    </a:p>
                  </a:txBody>
                  <a:tcPr marT="91425" marB="91425" marR="91425" marL="91425"/>
                </a:tc>
              </a:tr>
            </a:tbl>
          </a:graphicData>
        </a:graphic>
      </p:graphicFrame>
      <p:pic>
        <p:nvPicPr>
          <p:cNvPr id="755" name="Google Shape;755;p61"/>
          <p:cNvPicPr preferRelativeResize="0"/>
          <p:nvPr/>
        </p:nvPicPr>
        <p:blipFill>
          <a:blip r:embed="rId4">
            <a:alphaModFix/>
          </a:blip>
          <a:stretch>
            <a:fillRect/>
          </a:stretch>
        </p:blipFill>
        <p:spPr>
          <a:xfrm>
            <a:off x="5034750" y="1308263"/>
            <a:ext cx="6918077" cy="5381102"/>
          </a:xfrm>
          <a:prstGeom prst="rect">
            <a:avLst/>
          </a:prstGeom>
          <a:noFill/>
          <a:ln>
            <a:noFill/>
          </a:ln>
        </p:spPr>
      </p:pic>
      <p:sp>
        <p:nvSpPr>
          <p:cNvPr id="756" name="Google Shape;756;p6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0" name="Shape 760"/>
        <p:cNvGrpSpPr/>
        <p:nvPr/>
      </p:nvGrpSpPr>
      <p:grpSpPr>
        <a:xfrm>
          <a:off x="0" y="0"/>
          <a:ext cx="0" cy="0"/>
          <a:chOff x="0" y="0"/>
          <a:chExt cx="0" cy="0"/>
        </a:xfrm>
      </p:grpSpPr>
      <p:sp>
        <p:nvSpPr>
          <p:cNvPr id="761" name="Google Shape;761;p62"/>
          <p:cNvSpPr txBox="1"/>
          <p:nvPr/>
        </p:nvSpPr>
        <p:spPr>
          <a:xfrm>
            <a:off x="3235642" y="3002309"/>
            <a:ext cx="57207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Clr>
                <a:srgbClr val="000000"/>
              </a:buClr>
              <a:buSzPts val="4800"/>
              <a:buFont typeface="Arial"/>
              <a:buNone/>
            </a:pPr>
            <a:r>
              <a:rPr b="1" lang="it-IT" sz="4800">
                <a:solidFill>
                  <a:srgbClr val="0F172A"/>
                </a:solidFill>
                <a:latin typeface="Outfit"/>
                <a:ea typeface="Outfit"/>
                <a:cs typeface="Outfit"/>
                <a:sym typeface="Outfit"/>
              </a:rPr>
              <a:t>Range</a:t>
            </a:r>
            <a:r>
              <a:rPr b="1" lang="it-IT" sz="4800">
                <a:solidFill>
                  <a:srgbClr val="0F172A"/>
                </a:solidFill>
                <a:latin typeface="Outfit"/>
                <a:ea typeface="Outfit"/>
                <a:cs typeface="Outfit"/>
                <a:sym typeface="Outfit"/>
              </a:rPr>
              <a:t> Search</a:t>
            </a:r>
            <a:endParaRPr b="0" i="0" sz="1400" u="none" cap="none" strike="noStrike">
              <a:solidFill>
                <a:srgbClr val="000000"/>
              </a:solidFill>
              <a:latin typeface="Arial"/>
              <a:ea typeface="Arial"/>
              <a:cs typeface="Arial"/>
              <a:sym typeface="Arial"/>
            </a:endParaRPr>
          </a:p>
        </p:txBody>
      </p:sp>
      <p:sp>
        <p:nvSpPr>
          <p:cNvPr id="762" name="Google Shape;762;p62"/>
          <p:cNvSpPr txBox="1"/>
          <p:nvPr/>
        </p:nvSpPr>
        <p:spPr>
          <a:xfrm>
            <a:off x="3629025" y="3924300"/>
            <a:ext cx="55362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it-IT" sz="1350">
                <a:solidFill>
                  <a:srgbClr val="475569"/>
                </a:solidFill>
                <a:latin typeface="Inter"/>
                <a:ea typeface="Inter"/>
                <a:cs typeface="Inter"/>
                <a:sym typeface="Inter"/>
              </a:rPr>
              <a:t>Comparing range search with full Search and OpenMP </a:t>
            </a:r>
            <a:r>
              <a:rPr lang="it-IT" sz="1350">
                <a:solidFill>
                  <a:srgbClr val="475569"/>
                </a:solidFill>
                <a:latin typeface="Inter"/>
                <a:ea typeface="Inter"/>
                <a:cs typeface="Inter"/>
                <a:sym typeface="Inter"/>
              </a:rPr>
              <a:t>optimization</a:t>
            </a:r>
            <a:endParaRPr b="0" i="0" sz="1400" u="none" cap="none" strike="noStrike">
              <a:solidFill>
                <a:srgbClr val="000000"/>
              </a:solidFill>
              <a:latin typeface="Arial"/>
              <a:ea typeface="Arial"/>
              <a:cs typeface="Arial"/>
              <a:sym typeface="Arial"/>
            </a:endParaRPr>
          </a:p>
        </p:txBody>
      </p:sp>
      <p:sp>
        <p:nvSpPr>
          <p:cNvPr id="763" name="Google Shape;763;p6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7" name="Shape 767"/>
        <p:cNvGrpSpPr/>
        <p:nvPr/>
      </p:nvGrpSpPr>
      <p:grpSpPr>
        <a:xfrm>
          <a:off x="0" y="0"/>
          <a:ext cx="0" cy="0"/>
          <a:chOff x="0" y="0"/>
          <a:chExt cx="0" cy="0"/>
        </a:xfrm>
      </p:grpSpPr>
      <p:sp>
        <p:nvSpPr>
          <p:cNvPr id="768" name="Google Shape;768;p63"/>
          <p:cNvSpPr txBox="1"/>
          <p:nvPr/>
        </p:nvSpPr>
        <p:spPr>
          <a:xfrm>
            <a:off x="771525" y="1258888"/>
            <a:ext cx="5039700" cy="1523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Full Search:</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Evaluates every possible block in the entire frame. Guarantees finding the mathematical global minimum SAD.</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Highly computational computational cost to handle frame with higher resolutions.</a:t>
            </a:r>
            <a:endParaRPr sz="1650">
              <a:solidFill>
                <a:srgbClr val="475569"/>
              </a:solidFill>
              <a:latin typeface="Inter"/>
              <a:ea typeface="Inter"/>
              <a:cs typeface="Inter"/>
              <a:sym typeface="Inter"/>
            </a:endParaRPr>
          </a:p>
        </p:txBody>
      </p:sp>
      <p:sp>
        <p:nvSpPr>
          <p:cNvPr id="769" name="Google Shape;769;p63"/>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Full Search vs Range Search </a:t>
            </a:r>
            <a:endParaRPr b="0" sz="1400" u="none" cap="none" strike="noStrike">
              <a:solidFill>
                <a:srgbClr val="000000"/>
              </a:solidFill>
              <a:latin typeface="Arial"/>
              <a:ea typeface="Arial"/>
              <a:cs typeface="Arial"/>
              <a:sym typeface="Arial"/>
            </a:endParaRPr>
          </a:p>
        </p:txBody>
      </p:sp>
      <p:sp>
        <p:nvSpPr>
          <p:cNvPr id="770" name="Google Shape;770;p63"/>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71" name="Google Shape;771;p63"/>
          <p:cNvSpPr txBox="1"/>
          <p:nvPr/>
        </p:nvSpPr>
        <p:spPr>
          <a:xfrm>
            <a:off x="5811225" y="1100038"/>
            <a:ext cx="5975100" cy="24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Range Search:</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Localized approach restricting candidate blocks. Significantly improves performance by reducing search complexity.</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Does not guarantee finding the global minimum SAD across the entire frame, but gains:</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Noise Reduction: ignores distance matches.</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Spatial Constraint: acts as a regularizer, forcing motion vectors to remain physically plausible.</a:t>
            </a:r>
            <a:endParaRPr sz="1650">
              <a:solidFill>
                <a:srgbClr val="475569"/>
              </a:solidFill>
              <a:latin typeface="Inter"/>
              <a:ea typeface="Inter"/>
              <a:cs typeface="Inter"/>
              <a:sym typeface="Inter"/>
            </a:endParaRPr>
          </a:p>
        </p:txBody>
      </p:sp>
      <p:sp>
        <p:nvSpPr>
          <p:cNvPr id="772" name="Google Shape;772;p63"/>
          <p:cNvSpPr/>
          <p:nvPr/>
        </p:nvSpPr>
        <p:spPr>
          <a:xfrm>
            <a:off x="2415300" y="613167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Reference Frame</a:t>
            </a:r>
            <a:endParaRPr sz="1000">
              <a:solidFill>
                <a:srgbClr val="0F172A"/>
              </a:solidFill>
              <a:latin typeface="Outfit"/>
              <a:ea typeface="Outfit"/>
              <a:cs typeface="Outfit"/>
              <a:sym typeface="Outfit"/>
            </a:endParaRPr>
          </a:p>
        </p:txBody>
      </p:sp>
      <p:sp>
        <p:nvSpPr>
          <p:cNvPr id="773" name="Google Shape;773;p63"/>
          <p:cNvSpPr/>
          <p:nvPr/>
        </p:nvSpPr>
        <p:spPr>
          <a:xfrm>
            <a:off x="7922700" y="613167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Current frame</a:t>
            </a:r>
            <a:endParaRPr sz="1000">
              <a:solidFill>
                <a:srgbClr val="0F172A"/>
              </a:solidFill>
              <a:latin typeface="Outfit"/>
              <a:ea typeface="Outfit"/>
              <a:cs typeface="Outfit"/>
              <a:sym typeface="Outfit"/>
            </a:endParaRPr>
          </a:p>
        </p:txBody>
      </p:sp>
      <p:pic>
        <p:nvPicPr>
          <p:cNvPr id="774" name="Google Shape;774;p63"/>
          <p:cNvPicPr preferRelativeResize="0"/>
          <p:nvPr/>
        </p:nvPicPr>
        <p:blipFill>
          <a:blip r:embed="rId4">
            <a:alphaModFix/>
          </a:blip>
          <a:stretch>
            <a:fillRect/>
          </a:stretch>
        </p:blipFill>
        <p:spPr>
          <a:xfrm>
            <a:off x="1128052" y="3570562"/>
            <a:ext cx="4313300" cy="2411862"/>
          </a:xfrm>
          <a:prstGeom prst="rect">
            <a:avLst/>
          </a:prstGeom>
          <a:noFill/>
          <a:ln>
            <a:noFill/>
          </a:ln>
        </p:spPr>
      </p:pic>
      <p:pic>
        <p:nvPicPr>
          <p:cNvPr id="775" name="Google Shape;775;p63"/>
          <p:cNvPicPr preferRelativeResize="0"/>
          <p:nvPr/>
        </p:nvPicPr>
        <p:blipFill>
          <a:blip r:embed="rId5">
            <a:alphaModFix/>
          </a:blip>
          <a:stretch>
            <a:fillRect/>
          </a:stretch>
        </p:blipFill>
        <p:spPr>
          <a:xfrm>
            <a:off x="6635453" y="3570550"/>
            <a:ext cx="4313296" cy="2408725"/>
          </a:xfrm>
          <a:prstGeom prst="rect">
            <a:avLst/>
          </a:prstGeom>
          <a:noFill/>
          <a:ln>
            <a:noFill/>
          </a:ln>
        </p:spPr>
      </p:pic>
      <p:sp>
        <p:nvSpPr>
          <p:cNvPr id="776" name="Google Shape;776;p63"/>
          <p:cNvSpPr txBox="1"/>
          <p:nvPr>
            <p:ph idx="12" type="sldNum"/>
          </p:nvPr>
        </p:nvSpPr>
        <p:spPr>
          <a:xfrm>
            <a:off x="9819225"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7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0" name="Shape 780"/>
        <p:cNvGrpSpPr/>
        <p:nvPr/>
      </p:nvGrpSpPr>
      <p:grpSpPr>
        <a:xfrm>
          <a:off x="0" y="0"/>
          <a:ext cx="0" cy="0"/>
          <a:chOff x="0" y="0"/>
          <a:chExt cx="0" cy="0"/>
        </a:xfrm>
      </p:grpSpPr>
      <p:pic>
        <p:nvPicPr>
          <p:cNvPr id="781" name="Google Shape;781;p64"/>
          <p:cNvPicPr preferRelativeResize="0"/>
          <p:nvPr/>
        </p:nvPicPr>
        <p:blipFill>
          <a:blip r:embed="rId4">
            <a:alphaModFix/>
          </a:blip>
          <a:stretch>
            <a:fillRect/>
          </a:stretch>
        </p:blipFill>
        <p:spPr>
          <a:xfrm>
            <a:off x="6642125" y="3570550"/>
            <a:ext cx="4313299" cy="2408731"/>
          </a:xfrm>
          <a:prstGeom prst="rect">
            <a:avLst/>
          </a:prstGeom>
          <a:noFill/>
          <a:ln>
            <a:noFill/>
          </a:ln>
        </p:spPr>
      </p:pic>
      <p:sp>
        <p:nvSpPr>
          <p:cNvPr id="782" name="Google Shape;782;p64"/>
          <p:cNvSpPr txBox="1"/>
          <p:nvPr/>
        </p:nvSpPr>
        <p:spPr>
          <a:xfrm>
            <a:off x="771525" y="1258888"/>
            <a:ext cx="5039700" cy="1523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Full Search:</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Resolution: 768x432.</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block size</a:t>
            </a:r>
            <a:r>
              <a:rPr lang="it-IT" sz="1650">
                <a:solidFill>
                  <a:srgbClr val="475569"/>
                </a:solidFill>
                <a:latin typeface="Inter"/>
                <a:ea typeface="Inter"/>
                <a:cs typeface="Inter"/>
                <a:sym typeface="Inter"/>
              </a:rPr>
              <a:t>: 32.</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Current frame blocks: 24 x 13.</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Window search area: 24 x 13 blocks.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783" name="Google Shape;783;p64"/>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Full Search vs Range Search</a:t>
            </a:r>
            <a:r>
              <a:rPr lang="it-IT" sz="3000">
                <a:solidFill>
                  <a:srgbClr val="0F172A"/>
                </a:solidFill>
                <a:latin typeface="Outfit SemiBold"/>
                <a:ea typeface="Outfit SemiBold"/>
                <a:cs typeface="Outfit SemiBold"/>
                <a:sym typeface="Outfit SemiBold"/>
              </a:rPr>
              <a:t> </a:t>
            </a:r>
            <a:endParaRPr b="0" sz="1400" u="none" cap="none" strike="noStrike">
              <a:solidFill>
                <a:srgbClr val="000000"/>
              </a:solidFill>
              <a:latin typeface="Arial"/>
              <a:ea typeface="Arial"/>
              <a:cs typeface="Arial"/>
              <a:sym typeface="Arial"/>
            </a:endParaRPr>
          </a:p>
        </p:txBody>
      </p:sp>
      <p:sp>
        <p:nvSpPr>
          <p:cNvPr id="784" name="Google Shape;784;p64"/>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85" name="Google Shape;785;p64"/>
          <p:cNvSpPr txBox="1"/>
          <p:nvPr/>
        </p:nvSpPr>
        <p:spPr>
          <a:xfrm>
            <a:off x="5811225" y="1100038"/>
            <a:ext cx="5975100" cy="1708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Range Search:</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Resolution: 768x432</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block size: 32</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Current frame blocks: 24 x 13</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Range: 4</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Window search area: 9 x 9.</a:t>
            </a:r>
            <a:endParaRPr sz="1650">
              <a:solidFill>
                <a:srgbClr val="475569"/>
              </a:solidFill>
              <a:latin typeface="Inter"/>
              <a:ea typeface="Inter"/>
              <a:cs typeface="Inter"/>
              <a:sym typeface="Inter"/>
            </a:endParaRPr>
          </a:p>
        </p:txBody>
      </p:sp>
      <p:sp>
        <p:nvSpPr>
          <p:cNvPr id="786" name="Google Shape;786;p64"/>
          <p:cNvSpPr/>
          <p:nvPr/>
        </p:nvSpPr>
        <p:spPr>
          <a:xfrm>
            <a:off x="2421975" y="613167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Full Search Motion Vector</a:t>
            </a:r>
            <a:endParaRPr sz="1000">
              <a:solidFill>
                <a:srgbClr val="0F172A"/>
              </a:solidFill>
              <a:latin typeface="Outfit"/>
              <a:ea typeface="Outfit"/>
              <a:cs typeface="Outfit"/>
              <a:sym typeface="Outfit"/>
            </a:endParaRPr>
          </a:p>
        </p:txBody>
      </p:sp>
      <p:sp>
        <p:nvSpPr>
          <p:cNvPr id="787" name="Google Shape;787;p64"/>
          <p:cNvSpPr/>
          <p:nvPr/>
        </p:nvSpPr>
        <p:spPr>
          <a:xfrm>
            <a:off x="7820625" y="6131675"/>
            <a:ext cx="19563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Range search Motion Vector</a:t>
            </a:r>
            <a:endParaRPr sz="1000">
              <a:solidFill>
                <a:srgbClr val="0F172A"/>
              </a:solidFill>
              <a:latin typeface="Outfit"/>
              <a:ea typeface="Outfit"/>
              <a:cs typeface="Outfit"/>
              <a:sym typeface="Outfit"/>
            </a:endParaRPr>
          </a:p>
        </p:txBody>
      </p:sp>
      <p:pic>
        <p:nvPicPr>
          <p:cNvPr id="788" name="Google Shape;788;p64"/>
          <p:cNvPicPr preferRelativeResize="0"/>
          <p:nvPr/>
        </p:nvPicPr>
        <p:blipFill>
          <a:blip r:embed="rId5">
            <a:alphaModFix/>
          </a:blip>
          <a:stretch>
            <a:fillRect/>
          </a:stretch>
        </p:blipFill>
        <p:spPr>
          <a:xfrm>
            <a:off x="1134725" y="3570550"/>
            <a:ext cx="4313299" cy="2408719"/>
          </a:xfrm>
          <a:prstGeom prst="rect">
            <a:avLst/>
          </a:prstGeom>
          <a:noFill/>
          <a:ln>
            <a:noFill/>
          </a:ln>
        </p:spPr>
      </p:pic>
      <p:pic>
        <p:nvPicPr>
          <p:cNvPr id="789" name="Google Shape;789;p64"/>
          <p:cNvPicPr preferRelativeResize="0"/>
          <p:nvPr/>
        </p:nvPicPr>
        <p:blipFill>
          <a:blip r:embed="rId6">
            <a:alphaModFix/>
          </a:blip>
          <a:stretch>
            <a:fillRect/>
          </a:stretch>
        </p:blipFill>
        <p:spPr>
          <a:xfrm>
            <a:off x="1134725" y="3570550"/>
            <a:ext cx="4313299" cy="2408726"/>
          </a:xfrm>
          <a:prstGeom prst="rect">
            <a:avLst/>
          </a:prstGeom>
          <a:noFill/>
          <a:ln>
            <a:noFill/>
          </a:ln>
        </p:spPr>
      </p:pic>
      <p:sp>
        <p:nvSpPr>
          <p:cNvPr id="790" name="Google Shape;790;p64"/>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94" name="Shape 794"/>
        <p:cNvGrpSpPr/>
        <p:nvPr/>
      </p:nvGrpSpPr>
      <p:grpSpPr>
        <a:xfrm>
          <a:off x="0" y="0"/>
          <a:ext cx="0" cy="0"/>
          <a:chOff x="0" y="0"/>
          <a:chExt cx="0" cy="0"/>
        </a:xfrm>
      </p:grpSpPr>
      <p:sp>
        <p:nvSpPr>
          <p:cNvPr id="795" name="Google Shape;795;p65"/>
          <p:cNvSpPr txBox="1"/>
          <p:nvPr/>
        </p:nvSpPr>
        <p:spPr>
          <a:xfrm>
            <a:off x="771525" y="1212200"/>
            <a:ext cx="6174600" cy="380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Each CUDA implementation maps the CUDA block dimensions to the maximum search window size.</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A thread stays idle if its linear index (</a:t>
            </a:r>
            <a:r>
              <a:rPr i="1" lang="it-IT" sz="1650">
                <a:solidFill>
                  <a:srgbClr val="475569"/>
                </a:solidFill>
                <a:latin typeface="Inter"/>
                <a:ea typeface="Inter"/>
                <a:cs typeface="Inter"/>
                <a:sym typeface="Inter"/>
              </a:rPr>
              <a:t>tidx</a:t>
            </a:r>
            <a:r>
              <a:rPr lang="it-IT" sz="1650">
                <a:solidFill>
                  <a:srgbClr val="475569"/>
                </a:solidFill>
                <a:latin typeface="Inter"/>
                <a:ea typeface="Inter"/>
                <a:cs typeface="Inter"/>
                <a:sym typeface="Inter"/>
              </a:rPr>
              <a:t>) exceeds the number of valid candidate in the search window.</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Central Block:</a:t>
            </a:r>
            <a:endParaRPr b="1"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The search window fits entirely within the frame, every thread runs at least one iteration, so hardware utilization is full.</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Border Blocks:</a:t>
            </a:r>
            <a:endParaRPr b="1"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The search window gets clipped at the frame edges. Fewer candidate positions means the last threads in the block stay idle.</a:t>
            </a:r>
            <a:endParaRPr sz="1650">
              <a:solidFill>
                <a:srgbClr val="475569"/>
              </a:solidFill>
              <a:latin typeface="Inter"/>
              <a:ea typeface="Inter"/>
              <a:cs typeface="Inter"/>
              <a:sym typeface="Inter"/>
            </a:endParaRPr>
          </a:p>
        </p:txBody>
      </p:sp>
      <p:pic>
        <p:nvPicPr>
          <p:cNvPr id="796" name="Google Shape;796;p65"/>
          <p:cNvPicPr preferRelativeResize="0"/>
          <p:nvPr/>
        </p:nvPicPr>
        <p:blipFill>
          <a:blip r:embed="rId4">
            <a:alphaModFix/>
          </a:blip>
          <a:stretch>
            <a:fillRect/>
          </a:stretch>
        </p:blipFill>
        <p:spPr>
          <a:xfrm>
            <a:off x="771525" y="2665093"/>
            <a:ext cx="4648202" cy="233763"/>
          </a:xfrm>
          <a:prstGeom prst="rect">
            <a:avLst/>
          </a:prstGeom>
          <a:noFill/>
          <a:ln>
            <a:noFill/>
          </a:ln>
        </p:spPr>
      </p:pic>
      <p:sp>
        <p:nvSpPr>
          <p:cNvPr id="797" name="Google Shape;797;p65"/>
          <p:cNvSpPr txBox="1"/>
          <p:nvPr/>
        </p:nvSpPr>
        <p:spPr>
          <a:xfrm>
            <a:off x="771525" y="576525"/>
            <a:ext cx="61407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kernel load imbalance</a:t>
            </a:r>
            <a:r>
              <a:rPr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798" name="Google Shape;798;p65"/>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9" name="Google Shape;799;p65"/>
          <p:cNvSpPr/>
          <p:nvPr/>
        </p:nvSpPr>
        <p:spPr>
          <a:xfrm>
            <a:off x="7098075" y="1212200"/>
            <a:ext cx="4409100" cy="2316600"/>
          </a:xfrm>
          <a:prstGeom prst="roundRect">
            <a:avLst>
              <a:gd fmla="val 447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0" name="Google Shape;800;p65"/>
          <p:cNvSpPr txBox="1"/>
          <p:nvPr/>
        </p:nvSpPr>
        <p:spPr>
          <a:xfrm>
            <a:off x="7098075" y="1399725"/>
            <a:ext cx="4582500" cy="2129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linear thread id within the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constexpr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threadsPerBlockDim</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threadsPerBlockDim</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current block top-left corner, in pixels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search window for this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CudaSearchBounds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calculateCudaSearchBounds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initialize best match found by this thread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tidx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totalPositions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pos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threadsPerBlock</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p:txBody>
      </p:sp>
      <p:sp>
        <p:nvSpPr>
          <p:cNvPr id="801" name="Google Shape;801;p65"/>
          <p:cNvSpPr txBox="1"/>
          <p:nvPr/>
        </p:nvSpPr>
        <p:spPr>
          <a:xfrm>
            <a:off x="7379125" y="1233225"/>
            <a:ext cx="43494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fullSearchBM_cuda_naive.cpp: fullSearchNaiveKernel</a:t>
            </a:r>
            <a:endParaRPr sz="1250">
              <a:solidFill>
                <a:srgbClr val="666666"/>
              </a:solidFill>
              <a:latin typeface="Inter"/>
              <a:ea typeface="Inter"/>
              <a:cs typeface="Inter"/>
              <a:sym typeface="Inter"/>
            </a:endParaRPr>
          </a:p>
        </p:txBody>
      </p:sp>
      <p:cxnSp>
        <p:nvCxnSpPr>
          <p:cNvPr id="802" name="Google Shape;802;p65"/>
          <p:cNvCxnSpPr/>
          <p:nvPr/>
        </p:nvCxnSpPr>
        <p:spPr>
          <a:xfrm>
            <a:off x="7098075" y="1393425"/>
            <a:ext cx="4413900" cy="0"/>
          </a:xfrm>
          <a:prstGeom prst="straightConnector1">
            <a:avLst/>
          </a:prstGeom>
          <a:noFill/>
          <a:ln cap="flat" cmpd="sng" w="9525">
            <a:solidFill>
              <a:srgbClr val="B7B7B7"/>
            </a:solidFill>
            <a:prstDash val="solid"/>
            <a:round/>
            <a:headEnd len="med" w="med" type="none"/>
            <a:tailEnd len="med" w="med" type="none"/>
          </a:ln>
        </p:spPr>
      </p:cxnSp>
      <p:pic>
        <p:nvPicPr>
          <p:cNvPr descr="image.png" id="803" name="Google Shape;803;p65"/>
          <p:cNvPicPr preferRelativeResize="0"/>
          <p:nvPr/>
        </p:nvPicPr>
        <p:blipFill rotWithShape="1">
          <a:blip r:embed="rId5">
            <a:alphaModFix/>
          </a:blip>
          <a:srcRect b="0" l="0" r="0" t="0"/>
          <a:stretch/>
        </p:blipFill>
        <p:spPr>
          <a:xfrm>
            <a:off x="7236461" y="1252646"/>
            <a:ext cx="82594" cy="115068"/>
          </a:xfrm>
          <a:prstGeom prst="rect">
            <a:avLst/>
          </a:prstGeom>
          <a:noFill/>
          <a:ln>
            <a:noFill/>
          </a:ln>
        </p:spPr>
      </p:pic>
      <p:sp>
        <p:nvSpPr>
          <p:cNvPr id="804" name="Google Shape;804;p65"/>
          <p:cNvSpPr/>
          <p:nvPr/>
        </p:nvSpPr>
        <p:spPr>
          <a:xfrm>
            <a:off x="7100300" y="3638050"/>
            <a:ext cx="4228500" cy="2718300"/>
          </a:xfrm>
          <a:prstGeom prst="roundRect">
            <a:avLst>
              <a:gd fmla="val 5982"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05" name="Google Shape;805;p65"/>
          <p:cNvSpPr txBox="1"/>
          <p:nvPr/>
        </p:nvSpPr>
        <p:spPr>
          <a:xfrm>
            <a:off x="7098075" y="3793025"/>
            <a:ext cx="4582500" cy="2384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it-IT" sz="700">
                <a:solidFill>
                  <a:srgbClr val="1AB1CD"/>
                </a:solidFill>
                <a:latin typeface="Roboto Mono"/>
                <a:ea typeface="Roboto Mono"/>
                <a:cs typeface="Roboto Mono"/>
                <a:sym typeface="Roboto Mono"/>
              </a:rPr>
              <a:t>CudaSearchBounds</a:t>
            </a:r>
            <a:r>
              <a:rPr lang="it-IT" sz="700">
                <a:latin typeface="Roboto Mono"/>
                <a:ea typeface="Roboto Mono"/>
                <a:cs typeface="Roboto Mono"/>
                <a:sym typeface="Roboto Mono"/>
              </a:rPr>
              <a:t> </a:t>
            </a:r>
            <a:r>
              <a:rPr lang="it-IT" sz="700">
                <a:solidFill>
                  <a:srgbClr val="0000F0"/>
                </a:solidFill>
                <a:latin typeface="Roboto Mono"/>
                <a:ea typeface="Roboto Mono"/>
                <a:cs typeface="Roboto Mono"/>
                <a:sym typeface="Roboto Mono"/>
              </a:rPr>
              <a:t>calculateCudaSearchBounds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gridDimX</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gridDimY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CudaSearchBounds</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&gt;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 </a:t>
            </a:r>
            <a:r>
              <a:rPr lang="it-IT" sz="700">
                <a:solidFill>
                  <a:srgbClr val="1AB1CD"/>
                </a:solidFill>
                <a:latin typeface="Roboto Mono"/>
                <a:ea typeface="Roboto Mono"/>
                <a:cs typeface="Roboto Mono"/>
                <a:sym typeface="Roboto Mono"/>
              </a:rPr>
              <a:t>\\range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a:t>
            </a:r>
            <a:endParaRPr sz="700">
              <a:solidFill>
                <a:srgbClr val="1AB1CD"/>
              </a:solidFill>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startX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max</a:t>
            </a:r>
            <a:r>
              <a:rPr lang="it-IT" sz="700">
                <a:latin typeface="Roboto Mono"/>
                <a:ea typeface="Roboto Mono"/>
                <a:cs typeface="Roboto Mono"/>
                <a:sym typeface="Roboto Mono"/>
              </a:rPr>
              <a:t>(</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endX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min</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gridDimX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startY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max</a:t>
            </a:r>
            <a:r>
              <a:rPr lang="it-IT" sz="700">
                <a:latin typeface="Roboto Mono"/>
                <a:ea typeface="Roboto Mono"/>
                <a:cs typeface="Roboto Mono"/>
                <a:sym typeface="Roboto Mono"/>
              </a:rPr>
              <a:t>(</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endY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min</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gridDimY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blockIdxY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searchRange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 </a:t>
            </a:r>
            <a:r>
              <a:rPr b="1" lang="it-IT" sz="700">
                <a:solidFill>
                  <a:srgbClr val="700080"/>
                </a:solidFill>
                <a:latin typeface="Roboto Mono"/>
                <a:ea typeface="Roboto Mono"/>
                <a:cs typeface="Roboto Mono"/>
                <a:sym typeface="Roboto Mono"/>
              </a:rPr>
              <a:t>else</a:t>
            </a:r>
            <a:r>
              <a:rPr lang="it-IT" sz="700">
                <a:latin typeface="Roboto Mono"/>
                <a:ea typeface="Roboto Mono"/>
                <a:cs typeface="Roboto Mono"/>
                <a:sym typeface="Roboto Mono"/>
              </a:rPr>
              <a:t> { </a:t>
            </a:r>
            <a:r>
              <a:rPr i="1" lang="it-IT" sz="700">
                <a:solidFill>
                  <a:srgbClr val="A05000"/>
                </a:solidFill>
                <a:latin typeface="Roboto Mono"/>
                <a:ea typeface="Roboto Mono"/>
                <a:cs typeface="Roboto Mono"/>
                <a:sym typeface="Roboto Mono"/>
              </a:rPr>
              <a:t>// full search </a:t>
            </a:r>
            <a:r>
              <a:rPr lang="it-IT" sz="700">
                <a:solidFill>
                  <a:schemeClr val="dk1"/>
                </a:solidFill>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number of candidate positions in the window</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width</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endX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startX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height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endY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startY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totalPositions</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width</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height</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return</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bounds</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p:txBody>
      </p:sp>
      <p:sp>
        <p:nvSpPr>
          <p:cNvPr id="806" name="Google Shape;806;p65"/>
          <p:cNvSpPr txBox="1"/>
          <p:nvPr/>
        </p:nvSpPr>
        <p:spPr>
          <a:xfrm>
            <a:off x="7379125" y="3639113"/>
            <a:ext cx="43494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cuda_utils.h</a:t>
            </a:r>
            <a:endParaRPr sz="1250">
              <a:solidFill>
                <a:srgbClr val="666666"/>
              </a:solidFill>
              <a:latin typeface="Inter"/>
              <a:ea typeface="Inter"/>
              <a:cs typeface="Inter"/>
              <a:sym typeface="Inter"/>
            </a:endParaRPr>
          </a:p>
        </p:txBody>
      </p:sp>
      <p:cxnSp>
        <p:nvCxnSpPr>
          <p:cNvPr id="807" name="Google Shape;807;p65"/>
          <p:cNvCxnSpPr/>
          <p:nvPr/>
        </p:nvCxnSpPr>
        <p:spPr>
          <a:xfrm>
            <a:off x="7100300" y="3793025"/>
            <a:ext cx="4241400" cy="0"/>
          </a:xfrm>
          <a:prstGeom prst="straightConnector1">
            <a:avLst/>
          </a:prstGeom>
          <a:noFill/>
          <a:ln cap="flat" cmpd="sng" w="9525">
            <a:solidFill>
              <a:srgbClr val="B7B7B7"/>
            </a:solidFill>
            <a:prstDash val="solid"/>
            <a:round/>
            <a:headEnd len="med" w="med" type="none"/>
            <a:tailEnd len="med" w="med" type="none"/>
          </a:ln>
        </p:spPr>
      </p:cxnSp>
      <p:pic>
        <p:nvPicPr>
          <p:cNvPr descr="image.png" id="808" name="Google Shape;808;p65"/>
          <p:cNvPicPr preferRelativeResize="0"/>
          <p:nvPr/>
        </p:nvPicPr>
        <p:blipFill rotWithShape="1">
          <a:blip r:embed="rId5">
            <a:alphaModFix/>
          </a:blip>
          <a:srcRect b="0" l="0" r="0" t="0"/>
          <a:stretch/>
        </p:blipFill>
        <p:spPr>
          <a:xfrm>
            <a:off x="7220036" y="3658521"/>
            <a:ext cx="82594" cy="115068"/>
          </a:xfrm>
          <a:prstGeom prst="rect">
            <a:avLst/>
          </a:prstGeom>
          <a:noFill/>
          <a:ln>
            <a:noFill/>
          </a:ln>
        </p:spPr>
      </p:pic>
      <p:sp>
        <p:nvSpPr>
          <p:cNvPr id="809" name="Google Shape;809;p65"/>
          <p:cNvSpPr txBox="1"/>
          <p:nvPr/>
        </p:nvSpPr>
        <p:spPr>
          <a:xfrm>
            <a:off x="1949025" y="5142615"/>
            <a:ext cx="4200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Warp Divergence</a:t>
            </a:r>
            <a:endParaRPr/>
          </a:p>
        </p:txBody>
      </p:sp>
      <p:sp>
        <p:nvSpPr>
          <p:cNvPr id="810" name="Google Shape;810;p65"/>
          <p:cNvSpPr txBox="1"/>
          <p:nvPr/>
        </p:nvSpPr>
        <p:spPr>
          <a:xfrm>
            <a:off x="1949025" y="5560150"/>
            <a:ext cx="4067700" cy="11007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300">
                <a:solidFill>
                  <a:srgbClr val="475569"/>
                </a:solidFill>
                <a:latin typeface="Inter"/>
                <a:ea typeface="Inter"/>
                <a:cs typeface="Inter"/>
                <a:sym typeface="Inter"/>
              </a:rPr>
              <a:t>At the borders, the shrinking search window leaves some threads idle before others, warp divergence only hits warps split between active and idle threads.</a:t>
            </a:r>
            <a:endParaRPr sz="1300">
              <a:solidFill>
                <a:srgbClr val="475569"/>
              </a:solidFill>
              <a:latin typeface="Inter"/>
              <a:ea typeface="Inter"/>
              <a:cs typeface="Inter"/>
              <a:sym typeface="Inter"/>
            </a:endParaRPr>
          </a:p>
        </p:txBody>
      </p:sp>
      <p:sp>
        <p:nvSpPr>
          <p:cNvPr id="811" name="Google Shape;811;p65"/>
          <p:cNvSpPr txBox="1"/>
          <p:nvPr/>
        </p:nvSpPr>
        <p:spPr>
          <a:xfrm>
            <a:off x="1568025" y="5058025"/>
            <a:ext cx="3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sp>
        <p:nvSpPr>
          <p:cNvPr id="812" name="Google Shape;812;p65"/>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pic>
        <p:nvPicPr>
          <p:cNvPr id="813" name="Google Shape;813;p65"/>
          <p:cNvPicPr preferRelativeResize="0"/>
          <p:nvPr/>
        </p:nvPicPr>
        <p:blipFill>
          <a:blip r:embed="rId6">
            <a:alphaModFix/>
          </a:blip>
          <a:stretch>
            <a:fillRect/>
          </a:stretch>
        </p:blipFill>
        <p:spPr>
          <a:xfrm>
            <a:off x="2252550" y="3004325"/>
            <a:ext cx="832973" cy="196050"/>
          </a:xfrm>
          <a:prstGeom prst="rect">
            <a:avLst/>
          </a:prstGeom>
          <a:noFill/>
          <a:ln>
            <a:noFill/>
          </a:ln>
        </p:spPr>
      </p:pic>
      <p:pic>
        <p:nvPicPr>
          <p:cNvPr id="814" name="Google Shape;814;p65"/>
          <p:cNvPicPr preferRelativeResize="0"/>
          <p:nvPr/>
        </p:nvPicPr>
        <p:blipFill>
          <a:blip r:embed="rId7">
            <a:alphaModFix/>
          </a:blip>
          <a:stretch>
            <a:fillRect/>
          </a:stretch>
        </p:blipFill>
        <p:spPr>
          <a:xfrm>
            <a:off x="2280573" y="4031175"/>
            <a:ext cx="832993" cy="196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8" name="Shape 818"/>
        <p:cNvGrpSpPr/>
        <p:nvPr/>
      </p:nvGrpSpPr>
      <p:grpSpPr>
        <a:xfrm>
          <a:off x="0" y="0"/>
          <a:ext cx="0" cy="0"/>
          <a:chOff x="0" y="0"/>
          <a:chExt cx="0" cy="0"/>
        </a:xfrm>
      </p:grpSpPr>
      <p:sp>
        <p:nvSpPr>
          <p:cNvPr id="819" name="Google Shape;819;p66"/>
          <p:cNvSpPr txBox="1"/>
          <p:nvPr/>
        </p:nvSpPr>
        <p:spPr>
          <a:xfrm>
            <a:off x="771525" y="576525"/>
            <a:ext cx="61407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a:t>
            </a:r>
            <a:r>
              <a:rPr lang="it-IT" sz="3000">
                <a:solidFill>
                  <a:srgbClr val="0F172A"/>
                </a:solidFill>
                <a:latin typeface="Outfit SemiBold"/>
                <a:ea typeface="Outfit SemiBold"/>
                <a:cs typeface="Outfit SemiBold"/>
                <a:sym typeface="Outfit SemiBold"/>
              </a:rPr>
              <a:t> </a:t>
            </a:r>
            <a:endParaRPr sz="3000">
              <a:solidFill>
                <a:srgbClr val="0F172A"/>
              </a:solidFill>
              <a:latin typeface="Outfit SemiBold"/>
              <a:ea typeface="Outfit SemiBold"/>
              <a:cs typeface="Outfit SemiBold"/>
              <a:sym typeface="Outfit SemiBold"/>
            </a:endParaRPr>
          </a:p>
        </p:txBody>
      </p:sp>
      <p:sp>
        <p:nvSpPr>
          <p:cNvPr id="820" name="Google Shape;820;p66"/>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p66"/>
          <p:cNvSpPr txBox="1"/>
          <p:nvPr/>
        </p:nvSpPr>
        <p:spPr>
          <a:xfrm>
            <a:off x="771525" y="1212200"/>
            <a:ext cx="4760100" cy="4317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The OpenMP solution employs a Single Program, Multiple Data model (SPMD). A single block of code is executed in parallel by multiple threads, each thread operating on independent frame blocks.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Unlike CUDA's SIMT architecture, CPU cores are physically independent. This eliminates warp-level lock-step constraints.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In Range Search, blocks near the frame borders have fewer valid candidates than inner blocks, making the per-block workload non-uniform. The OpenMP runtime can dynamically reassign work to threads that finish early, rebalancing the load across cores.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pic>
        <p:nvPicPr>
          <p:cNvPr descr="graph TD&#10;    %% Styling&#10;    classDef queue fill:#ffffff,stroke:#76b900,stroke-width:2px,color:#333333;&#10;    classDef scheduler fill:#76b900,stroke:#222222,stroke-width:2px,color:#ffffff,font-weight:bold;&#10;    classDef thread fill:#f4f9f1,stroke:#76b900,stroke-width:2px,color:#333333;&#10;    classDef dots fill:none,stroke:none,color:#76b900;&#10;    classDef early fill:#ffe6e6,stroke:#ff5f56,stroke-width:1px,color:#333333;&#10;    classDef working fill:#e6ffe6,stroke:#76b900,stroke-width:1px,color:#333333;&#10;&#10;    %% Task Queue&#10;    subgraph &quot;Current Frame blocks&quot;&#10;        Q[&quot;[ B1, B2, B3, B4,&lt;br/&gt;B5, B6, B7, B8,&lt;br/&gt;B9, B10... ]&quot;]:::queue&#10;    end&#10;&#10;    %% Scheduler&#10;    S{{&quot;OpenMP&lt;br/&gt;Dynamic&lt;br/&gt;Scheduler&quot;}}:::scheduler&#10;    Q --&gt; S&#10;&#10;    %% Fixed Thread Pool&#10;    subgraph &quot;CPU Thread Pool &quot;&#10;        T0[&quot;Thread 0&quot;]:::thread&#10;        T1[&quot;Thread 1&quot;]:::thread&#10;        T2[&quot;Thread 2&quot;]:::thread&#10;        TDots[&quot;...&quot;]:::dots&#10;        TN[&quot;Thread N&quot;]:::thread&#10;    end&#10;&#10;    %% Intertwined/Dynamic Assignments&#10;    S -. &quot;Assigns&lt;br/&gt;B1&quot; .-&gt; T0&#10;    S -. &quot;Assigns&lt;br/&gt;B10&quot; .-&gt; T1&#10;    S -. &quot;Assigns&lt;br/&gt;B2&quot; .-&gt; T2&#10;    S -.-&gt; TDots&#10;    S -. &quot;Assigns&lt;br/&gt;B5&quot; .-&gt; TN&#10;&#10;    %% Processing States&#10;    T0 --&gt;|Window&lt;br/&gt;clipped| E0((Finishes&lt;br/&gt;EARLY)):::early&#10;    T1 --&gt;|Inner&lt;br/&gt;Block| W1((Working...)):::working&#10;    T2 --&gt;|Inner&lt;br/&gt;Block| W2((Working...)):::working&#10;    TN --&gt;|Inner&lt;br/&gt;Block| WN((Working...)):::working&#10;&#10;    %% Dynamic Feedback Loop&#10;    E0 -. &quot;Thread&lt;br/&gt;becomes&lt;br/&gt;idle&quot; .-&gt; S&#10;    S == &quot;Reassigns&lt;br/&gt;next block&lt;br/&gt;(B3)&quot; ==&gt; T0" id="822" name="Google Shape;822;p66" title="mermaid-graph/default"/>
          <p:cNvPicPr preferRelativeResize="0"/>
          <p:nvPr/>
        </p:nvPicPr>
        <p:blipFill>
          <a:blip r:embed="rId4">
            <a:alphaModFix/>
          </a:blip>
          <a:stretch>
            <a:fillRect/>
          </a:stretch>
        </p:blipFill>
        <p:spPr>
          <a:xfrm>
            <a:off x="6034788" y="1076325"/>
            <a:ext cx="5878644" cy="4493941"/>
          </a:xfrm>
          <a:prstGeom prst="rect">
            <a:avLst/>
          </a:prstGeom>
          <a:noFill/>
          <a:ln>
            <a:noFill/>
          </a:ln>
        </p:spPr>
      </p:pic>
      <p:sp>
        <p:nvSpPr>
          <p:cNvPr id="823" name="Google Shape;823;p66"/>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27" name="Shape 827"/>
        <p:cNvGrpSpPr/>
        <p:nvPr/>
      </p:nvGrpSpPr>
      <p:grpSpPr>
        <a:xfrm>
          <a:off x="0" y="0"/>
          <a:ext cx="0" cy="0"/>
          <a:chOff x="0" y="0"/>
          <a:chExt cx="0" cy="0"/>
        </a:xfrm>
      </p:grpSpPr>
      <p:sp>
        <p:nvSpPr>
          <p:cNvPr id="828" name="Google Shape;828;p67"/>
          <p:cNvSpPr txBox="1"/>
          <p:nvPr/>
        </p:nvSpPr>
        <p:spPr>
          <a:xfrm>
            <a:off x="771525" y="576525"/>
            <a:ext cx="91518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 a</a:t>
            </a:r>
            <a:r>
              <a:rPr lang="it-IT" sz="3000">
                <a:solidFill>
                  <a:srgbClr val="0F172A"/>
                </a:solidFill>
                <a:latin typeface="Outfit SemiBold"/>
                <a:ea typeface="Outfit SemiBold"/>
                <a:cs typeface="Outfit SemiBold"/>
                <a:sym typeface="Outfit SemiBold"/>
              </a:rPr>
              <a:t>daptive scheduling strategy</a:t>
            </a:r>
            <a:endParaRPr sz="3000">
              <a:solidFill>
                <a:srgbClr val="0F172A"/>
              </a:solidFill>
              <a:latin typeface="Outfit SemiBold"/>
              <a:ea typeface="Outfit SemiBold"/>
              <a:cs typeface="Outfit SemiBold"/>
              <a:sym typeface="Outfit SemiBold"/>
            </a:endParaRPr>
          </a:p>
        </p:txBody>
      </p:sp>
      <p:sp>
        <p:nvSpPr>
          <p:cNvPr id="829" name="Google Shape;829;p67"/>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30" name="Google Shape;830;p67"/>
          <p:cNvSpPr txBox="1"/>
          <p:nvPr/>
        </p:nvSpPr>
        <p:spPr>
          <a:xfrm>
            <a:off x="771525" y="1478500"/>
            <a:ext cx="5480700" cy="380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Profiling Factors:</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i="1" lang="it-IT" sz="1650">
                <a:solidFill>
                  <a:srgbClr val="475569"/>
                </a:solidFill>
                <a:latin typeface="Inter"/>
                <a:ea typeface="Inter"/>
                <a:cs typeface="Inter"/>
                <a:sym typeface="Inter"/>
              </a:rPr>
              <a:t>borderRatio</a:t>
            </a:r>
            <a:r>
              <a:rPr lang="it-IT" sz="1650">
                <a:solidFill>
                  <a:srgbClr val="475569"/>
                </a:solidFill>
                <a:latin typeface="Inter"/>
                <a:ea typeface="Inter"/>
                <a:cs typeface="Inter"/>
                <a:sym typeface="Inter"/>
              </a:rPr>
              <a:t>: fraction of the frame affected by border clamping.</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i="1" lang="it-IT" sz="1650">
                <a:solidFill>
                  <a:srgbClr val="475569"/>
                </a:solidFill>
                <a:latin typeface="Inter"/>
                <a:ea typeface="Inter"/>
                <a:cs typeface="Inter"/>
                <a:sym typeface="Inter"/>
              </a:rPr>
              <a:t>fragmentationFactor</a:t>
            </a:r>
            <a:r>
              <a:rPr lang="it-IT" sz="1650">
                <a:solidFill>
                  <a:srgbClr val="475569"/>
                </a:solidFill>
                <a:latin typeface="Inter"/>
                <a:ea typeface="Inter"/>
                <a:cs typeface="Inter"/>
                <a:sym typeface="Inter"/>
              </a:rPr>
              <a:t>: sets the optimal chunk size for the task queue.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i="1" lang="it-IT" sz="1650">
                <a:solidFill>
                  <a:srgbClr val="475569"/>
                </a:solidFill>
                <a:latin typeface="Inter"/>
                <a:ea typeface="Inter"/>
                <a:cs typeface="Inter"/>
                <a:sym typeface="Inter"/>
              </a:rPr>
              <a:t>costPerBlock</a:t>
            </a:r>
            <a:r>
              <a:rPr lang="it-IT" sz="1650">
                <a:solidFill>
                  <a:srgbClr val="475569"/>
                </a:solidFill>
                <a:latin typeface="Inter"/>
                <a:ea typeface="Inter"/>
                <a:cs typeface="Inter"/>
                <a:sym typeface="Inter"/>
              </a:rPr>
              <a:t>:</a:t>
            </a:r>
            <a:r>
              <a:rPr b="1" lang="it-IT" sz="1650">
                <a:solidFill>
                  <a:srgbClr val="475569"/>
                </a:solidFill>
                <a:latin typeface="Inter"/>
                <a:ea typeface="Inter"/>
                <a:cs typeface="Inter"/>
                <a:sym typeface="Inter"/>
              </a:rPr>
              <a:t> </a:t>
            </a:r>
            <a:r>
              <a:rPr lang="it-IT" sz="1650">
                <a:solidFill>
                  <a:srgbClr val="475569"/>
                </a:solidFill>
                <a:latin typeface="Inter"/>
                <a:ea typeface="Inter"/>
                <a:cs typeface="Inter"/>
                <a:sym typeface="Inter"/>
              </a:rPr>
              <a:t>cost of an inner block, in number of SAD operations.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b="1"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Adaptive Scheduling Strategy: </a:t>
            </a:r>
            <a:r>
              <a:rPr lang="it-IT" sz="1650">
                <a:solidFill>
                  <a:srgbClr val="475569"/>
                </a:solidFill>
                <a:latin typeface="Inter"/>
                <a:ea typeface="Inter"/>
                <a:cs typeface="Inter"/>
                <a:sym typeface="Inter"/>
              </a:rPr>
              <a:t>chooses static or dynamic scheduling based on cost per block and workload balance: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Static: </a:t>
            </a:r>
            <a:r>
              <a:rPr lang="it-IT" sz="1650">
                <a:solidFill>
                  <a:srgbClr val="475569"/>
                </a:solidFill>
                <a:latin typeface="Inter"/>
                <a:ea typeface="Inter"/>
                <a:cs typeface="Inter"/>
                <a:sym typeface="Inter"/>
              </a:rPr>
              <a:t>high cost per block, too few blocks to distribute, or uniform workload.</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b="1" lang="it-IT" sz="1650">
                <a:solidFill>
                  <a:srgbClr val="475569"/>
                </a:solidFill>
                <a:latin typeface="Inter"/>
                <a:ea typeface="Inter"/>
                <a:cs typeface="Inter"/>
                <a:sym typeface="Inter"/>
              </a:rPr>
              <a:t>Dynamic: </a:t>
            </a:r>
            <a:r>
              <a:rPr lang="it-IT" sz="1650">
                <a:solidFill>
                  <a:srgbClr val="475569"/>
                </a:solidFill>
                <a:latin typeface="Inter"/>
                <a:ea typeface="Inter"/>
                <a:cs typeface="Inter"/>
                <a:sym typeface="Inter"/>
              </a:rPr>
              <a:t>non-uniform workload with low cost per block, balances border frame blocks.</a:t>
            </a:r>
            <a:endParaRPr sz="1650">
              <a:solidFill>
                <a:srgbClr val="475569"/>
              </a:solidFill>
              <a:latin typeface="Inter"/>
              <a:ea typeface="Inter"/>
              <a:cs typeface="Inter"/>
              <a:sym typeface="Inter"/>
            </a:endParaRPr>
          </a:p>
        </p:txBody>
      </p:sp>
      <p:sp>
        <p:nvSpPr>
          <p:cNvPr id="831" name="Google Shape;831;p67"/>
          <p:cNvSpPr/>
          <p:nvPr/>
        </p:nvSpPr>
        <p:spPr>
          <a:xfrm>
            <a:off x="6922500" y="1478488"/>
            <a:ext cx="5013300" cy="4437600"/>
          </a:xfrm>
          <a:prstGeom prst="roundRect">
            <a:avLst>
              <a:gd fmla="val 3674"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32" name="Google Shape;832;p67"/>
          <p:cNvSpPr txBox="1"/>
          <p:nvPr/>
        </p:nvSpPr>
        <p:spPr>
          <a:xfrm>
            <a:off x="6922500" y="1680588"/>
            <a:ext cx="5037000" cy="42354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totalBlocks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numThreadsAvail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omp_get_max_threads</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fragmentationFactor</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1</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searchRange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&gt;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innerBlocks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blocks with a full search window</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float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borderRatio</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1.0f</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float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innerBlocks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totalBlocks</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0% border -&gt; factor 1, 100% border -&gt; factor 8</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fragmentationFactor</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1</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borderRatio</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7.0f</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chunk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max</a:t>
            </a:r>
            <a:r>
              <a:rPr lang="it-IT" sz="800">
                <a:latin typeface="Roboto Mono"/>
                <a:ea typeface="Roboto Mono"/>
                <a:cs typeface="Roboto Mono"/>
                <a:sym typeface="Roboto Mono"/>
              </a:rPr>
              <a:t>(</a:t>
            </a:r>
            <a:r>
              <a:rPr lang="it-IT" sz="800">
                <a:solidFill>
                  <a:srgbClr val="106040"/>
                </a:solidFill>
                <a:latin typeface="Roboto Mono"/>
                <a:ea typeface="Roboto Mono"/>
                <a:cs typeface="Roboto Mono"/>
                <a:sym typeface="Roboto Mono"/>
              </a:rPr>
              <a:t>1</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totalBlocks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numThreadsAvail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fragmentationFactor</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searchRange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omp_set_schedule</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omp_sched_static</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chunk</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else</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costPerBlock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candidates for a center block */</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costPerBlock</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&gt;=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50000</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totalBlocks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numThreadsAvail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fragmentationFactor</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omp_set_schedule</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omp_sched_static</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chunk</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 </a:t>
            </a:r>
            <a:r>
              <a:rPr b="1" lang="it-IT" sz="800">
                <a:solidFill>
                  <a:srgbClr val="700080"/>
                </a:solidFill>
                <a:latin typeface="Roboto Mono"/>
                <a:ea typeface="Roboto Mono"/>
                <a:cs typeface="Roboto Mono"/>
                <a:sym typeface="Roboto Mono"/>
              </a:rPr>
              <a:t>else</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omp_set_schedule</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omp_sched_dynamic</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chunk</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833" name="Google Shape;833;p67"/>
          <p:cNvSpPr txBox="1"/>
          <p:nvPr/>
        </p:nvSpPr>
        <p:spPr>
          <a:xfrm>
            <a:off x="7201300" y="1526688"/>
            <a:ext cx="43494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fullSearchBM_cpu_OpenMP.cpp: fullSearchCPUOpenMPGray </a:t>
            </a:r>
            <a:endParaRPr sz="1250">
              <a:solidFill>
                <a:srgbClr val="666666"/>
              </a:solidFill>
              <a:latin typeface="Inter"/>
              <a:ea typeface="Inter"/>
              <a:cs typeface="Inter"/>
              <a:sym typeface="Inter"/>
            </a:endParaRPr>
          </a:p>
        </p:txBody>
      </p:sp>
      <p:cxnSp>
        <p:nvCxnSpPr>
          <p:cNvPr id="834" name="Google Shape;834;p67"/>
          <p:cNvCxnSpPr/>
          <p:nvPr/>
        </p:nvCxnSpPr>
        <p:spPr>
          <a:xfrm>
            <a:off x="6922500" y="1680588"/>
            <a:ext cx="5004300" cy="0"/>
          </a:xfrm>
          <a:prstGeom prst="straightConnector1">
            <a:avLst/>
          </a:prstGeom>
          <a:noFill/>
          <a:ln cap="flat" cmpd="sng" w="9525">
            <a:solidFill>
              <a:srgbClr val="B7B7B7"/>
            </a:solidFill>
            <a:prstDash val="solid"/>
            <a:round/>
            <a:headEnd len="med" w="med" type="none"/>
            <a:tailEnd len="med" w="med" type="none"/>
          </a:ln>
        </p:spPr>
      </p:cxnSp>
      <p:pic>
        <p:nvPicPr>
          <p:cNvPr descr="image.png" id="835" name="Google Shape;835;p67"/>
          <p:cNvPicPr preferRelativeResize="0"/>
          <p:nvPr/>
        </p:nvPicPr>
        <p:blipFill rotWithShape="1">
          <a:blip r:embed="rId4">
            <a:alphaModFix/>
          </a:blip>
          <a:srcRect b="0" l="0" r="0" t="0"/>
          <a:stretch/>
        </p:blipFill>
        <p:spPr>
          <a:xfrm>
            <a:off x="7039661" y="1546109"/>
            <a:ext cx="82594" cy="115068"/>
          </a:xfrm>
          <a:prstGeom prst="rect">
            <a:avLst/>
          </a:prstGeom>
          <a:noFill/>
          <a:ln>
            <a:noFill/>
          </a:ln>
        </p:spPr>
      </p:pic>
      <p:sp>
        <p:nvSpPr>
          <p:cNvPr id="836" name="Google Shape;836;p6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40" name="Shape 840"/>
        <p:cNvGrpSpPr/>
        <p:nvPr/>
      </p:nvGrpSpPr>
      <p:grpSpPr>
        <a:xfrm>
          <a:off x="0" y="0"/>
          <a:ext cx="0" cy="0"/>
          <a:chOff x="0" y="0"/>
          <a:chExt cx="0" cy="0"/>
        </a:xfrm>
      </p:grpSpPr>
      <p:sp>
        <p:nvSpPr>
          <p:cNvPr id="841" name="Google Shape;841;p68"/>
          <p:cNvSpPr txBox="1"/>
          <p:nvPr/>
        </p:nvSpPr>
        <p:spPr>
          <a:xfrm>
            <a:off x="771525" y="576525"/>
            <a:ext cx="63960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 two-level parallelism</a:t>
            </a:r>
            <a:endParaRPr sz="3000">
              <a:solidFill>
                <a:srgbClr val="0F172A"/>
              </a:solidFill>
              <a:latin typeface="Outfit SemiBold"/>
              <a:ea typeface="Outfit SemiBold"/>
              <a:cs typeface="Outfit SemiBold"/>
              <a:sym typeface="Outfit SemiBold"/>
            </a:endParaRPr>
          </a:p>
        </p:txBody>
      </p:sp>
      <p:sp>
        <p:nvSpPr>
          <p:cNvPr id="842" name="Google Shape;842;p68"/>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43" name="Google Shape;843;p68"/>
          <p:cNvSpPr txBox="1"/>
          <p:nvPr/>
        </p:nvSpPr>
        <p:spPr>
          <a:xfrm>
            <a:off x="771525" y="1212200"/>
            <a:ext cx="5606100" cy="1523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it-IT" sz="1650">
                <a:solidFill>
                  <a:srgbClr val="475569"/>
                </a:solidFill>
                <a:latin typeface="Inter"/>
                <a:ea typeface="Inter"/>
                <a:cs typeface="Inter"/>
                <a:sym typeface="Inter"/>
              </a:rPr>
              <a:t>Current-Frame Block-Level Thread Parallelism</a:t>
            </a:r>
            <a:endParaRPr b="1" sz="1650">
              <a:solidFill>
                <a:srgbClr val="475569"/>
              </a:solidFill>
              <a:latin typeface="Inter"/>
              <a:ea typeface="Inter"/>
              <a:cs typeface="Inter"/>
              <a:sym typeface="Inter"/>
            </a:endParaRPr>
          </a:p>
          <a:p>
            <a:pPr indent="0" lvl="0" marL="0" rtl="0" algn="l">
              <a:spcBef>
                <a:spcPts val="0"/>
              </a:spcBef>
              <a:spcAft>
                <a:spcPts val="0"/>
              </a:spcAft>
              <a:buNone/>
            </a:pPr>
            <a:r>
              <a:rPr i="1" lang="it-IT" sz="1650">
                <a:solidFill>
                  <a:srgbClr val="475569"/>
                </a:solidFill>
                <a:latin typeface="Inter"/>
                <a:ea typeface="Inter"/>
                <a:cs typeface="Inter"/>
                <a:sym typeface="Inter"/>
              </a:rPr>
              <a:t>collapse(2)</a:t>
            </a:r>
            <a:r>
              <a:rPr lang="it-IT" sz="1650">
                <a:solidFill>
                  <a:srgbClr val="475569"/>
                </a:solidFill>
                <a:latin typeface="Inter"/>
                <a:ea typeface="Inter"/>
                <a:cs typeface="Inter"/>
                <a:sym typeface="Inter"/>
              </a:rPr>
              <a:t> flattens the two nested loops into a single iteration space, giving OpenMP more, smaller chunks of work to spread across threads, resulting in better load balancing, especially for the border blocks.</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844" name="Google Shape;844;p68"/>
          <p:cNvSpPr/>
          <p:nvPr/>
        </p:nvSpPr>
        <p:spPr>
          <a:xfrm>
            <a:off x="1000200" y="2735900"/>
            <a:ext cx="4445400" cy="4052100"/>
          </a:xfrm>
          <a:prstGeom prst="roundRect">
            <a:avLst>
              <a:gd fmla="val 2302"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45" name="Google Shape;845;p68"/>
          <p:cNvSpPr txBox="1"/>
          <p:nvPr/>
        </p:nvSpPr>
        <p:spPr>
          <a:xfrm>
            <a:off x="1000125" y="2912100"/>
            <a:ext cx="4558800" cy="3812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800">
                <a:solidFill>
                  <a:srgbClr val="A05000"/>
                </a:solidFill>
                <a:latin typeface="Roboto Mono"/>
                <a:ea typeface="Roboto Mono"/>
                <a:cs typeface="Roboto Mono"/>
                <a:sym typeface="Roboto Mono"/>
              </a:rPr>
              <a:t>// collapse(2): merge loops</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solidFill>
                  <a:srgbClr val="505050"/>
                </a:solidFill>
                <a:latin typeface="Roboto Mono"/>
                <a:ea typeface="Roboto Mono"/>
                <a:cs typeface="Roboto Mono"/>
                <a:sym typeface="Roboto Mono"/>
              </a:rPr>
              <a:t>#pragma omp parallel for collapse(2) schedule(runtime)</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bx</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best match so far</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MotionVector</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bestMV</a:t>
            </a:r>
            <a:r>
              <a:rPr lang="it-IT" sz="800">
                <a:latin typeface="Roboto Mono"/>
                <a:ea typeface="Roboto Mono"/>
                <a:cs typeface="Roboto Mono"/>
                <a:sym typeface="Roboto Mono"/>
              </a:rPr>
              <a:t>{</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bestDist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candidate search range</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SearchBounds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bounds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calculateSearchBounds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searchRange</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bounds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startY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bounds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endY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irefY</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bounds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startX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bounds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endX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irefX</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motion vector</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computeSAD</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curr</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irefY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dist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dy</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if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&amp;&amp;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dist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bestDist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bestDist</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dist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bestMV</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dy</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mv</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bx</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by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bestMV</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846" name="Google Shape;846;p68"/>
          <p:cNvSpPr txBox="1"/>
          <p:nvPr/>
        </p:nvSpPr>
        <p:spPr>
          <a:xfrm>
            <a:off x="1238387" y="2758188"/>
            <a:ext cx="43494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fullSearchBM_cpu_OpenMP.cpp: fullSearchCPUOpenMPGray </a:t>
            </a:r>
            <a:endParaRPr sz="1250">
              <a:solidFill>
                <a:srgbClr val="666666"/>
              </a:solidFill>
              <a:latin typeface="Inter"/>
              <a:ea typeface="Inter"/>
              <a:cs typeface="Inter"/>
              <a:sym typeface="Inter"/>
            </a:endParaRPr>
          </a:p>
        </p:txBody>
      </p:sp>
      <p:cxnSp>
        <p:nvCxnSpPr>
          <p:cNvPr id="847" name="Google Shape;847;p68"/>
          <p:cNvCxnSpPr/>
          <p:nvPr/>
        </p:nvCxnSpPr>
        <p:spPr>
          <a:xfrm>
            <a:off x="1000188" y="2912100"/>
            <a:ext cx="4444500" cy="0"/>
          </a:xfrm>
          <a:prstGeom prst="straightConnector1">
            <a:avLst/>
          </a:prstGeom>
          <a:noFill/>
          <a:ln cap="flat" cmpd="sng" w="9525">
            <a:solidFill>
              <a:srgbClr val="B7B7B7"/>
            </a:solidFill>
            <a:prstDash val="solid"/>
            <a:round/>
            <a:headEnd len="med" w="med" type="none"/>
            <a:tailEnd len="med" w="med" type="none"/>
          </a:ln>
        </p:spPr>
      </p:cxnSp>
      <p:pic>
        <p:nvPicPr>
          <p:cNvPr descr="image.png" id="848" name="Google Shape;848;p68"/>
          <p:cNvPicPr preferRelativeResize="0"/>
          <p:nvPr/>
        </p:nvPicPr>
        <p:blipFill rotWithShape="1">
          <a:blip r:embed="rId4">
            <a:alphaModFix/>
          </a:blip>
          <a:srcRect b="0" l="0" r="0" t="0"/>
          <a:stretch/>
        </p:blipFill>
        <p:spPr>
          <a:xfrm>
            <a:off x="1136348" y="2777596"/>
            <a:ext cx="82594" cy="115068"/>
          </a:xfrm>
          <a:prstGeom prst="rect">
            <a:avLst/>
          </a:prstGeom>
          <a:noFill/>
          <a:ln>
            <a:noFill/>
          </a:ln>
        </p:spPr>
      </p:pic>
      <p:sp>
        <p:nvSpPr>
          <p:cNvPr id="849" name="Google Shape;849;p68"/>
          <p:cNvSpPr/>
          <p:nvPr/>
        </p:nvSpPr>
        <p:spPr>
          <a:xfrm>
            <a:off x="6943400" y="3293850"/>
            <a:ext cx="4444500" cy="3048600"/>
          </a:xfrm>
          <a:prstGeom prst="roundRect">
            <a:avLst>
              <a:gd fmla="val 3580"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850" name="Google Shape;850;p68"/>
          <p:cNvSpPr txBox="1"/>
          <p:nvPr/>
        </p:nvSpPr>
        <p:spPr>
          <a:xfrm>
            <a:off x="6945300" y="3467075"/>
            <a:ext cx="4531200" cy="2384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0000F0"/>
                </a:solidFill>
                <a:latin typeface="Roboto Mono"/>
                <a:ea typeface="Roboto Mono"/>
                <a:cs typeface="Roboto Mono"/>
                <a:sym typeface="Roboto Mono"/>
              </a:rPr>
              <a:t>computeSAD</a:t>
            </a:r>
            <a:r>
              <a:rPr lang="it-IT" sz="800">
                <a:latin typeface="Roboto Mono"/>
                <a:ea typeface="Roboto Mono"/>
                <a:cs typeface="Roboto Mono"/>
                <a:sym typeface="Roboto Mono"/>
              </a:rPr>
              <a:t>(</a:t>
            </a:r>
            <a:r>
              <a:rPr b="1" lang="it-IT" sz="800">
                <a:solidFill>
                  <a:srgbClr val="700080"/>
                </a:solidFill>
                <a:latin typeface="Roboto Mono"/>
                <a:ea typeface="Roboto Mono"/>
                <a:cs typeface="Roboto Mono"/>
                <a:sym typeface="Roboto Mono"/>
              </a:rPr>
              <a:t>const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ImageGray</a:t>
            </a:r>
            <a:r>
              <a:rPr b="1" lang="it-IT" sz="800">
                <a:solidFill>
                  <a:srgbClr val="EE11FF"/>
                </a:solidFill>
                <a:latin typeface="Roboto Mono"/>
                <a:ea typeface="Roboto Mono"/>
                <a:cs typeface="Roboto Mono"/>
                <a:sym typeface="Roboto Mono"/>
              </a:rPr>
              <a:t>&amp;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a:t>
            </a: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const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ImageGray</a:t>
            </a:r>
            <a:r>
              <a:rPr b="1" lang="it-IT" sz="800">
                <a:solidFill>
                  <a:srgbClr val="EE11FF"/>
                </a:solidFill>
                <a:latin typeface="Roboto Mono"/>
                <a:ea typeface="Roboto Mono"/>
                <a:cs typeface="Roboto Mono"/>
                <a:sym typeface="Roboto Mono"/>
              </a:rPr>
              <a:t>&amp;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currX</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currY</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refX</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refY</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vectorize inner loop, sum partial results across SIMD lanes</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505050"/>
                </a:solidFill>
                <a:latin typeface="Roboto Mono"/>
                <a:ea typeface="Roboto Mono"/>
                <a:cs typeface="Roboto Mono"/>
                <a:sym typeface="Roboto Mono"/>
              </a:rPr>
              <a:t>#pragma omp simd reduction(+:sad)</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row</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row</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row</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&lt;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col</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current block pixel</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c_pixel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data</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currY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row</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width</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col</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candidate block pixel</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r_pixel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data</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refY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row</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width</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refX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col</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abs</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c_pixel</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r_pixel</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return</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sad</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851" name="Google Shape;851;p68"/>
          <p:cNvSpPr txBox="1"/>
          <p:nvPr/>
        </p:nvSpPr>
        <p:spPr>
          <a:xfrm>
            <a:off x="7161925" y="3309250"/>
            <a:ext cx="3246600" cy="153900"/>
          </a:xfrm>
          <a:prstGeom prst="rect">
            <a:avLst/>
          </a:prstGeom>
          <a:noFill/>
          <a:ln>
            <a:noFill/>
          </a:ln>
        </p:spPr>
        <p:txBody>
          <a:bodyPr anchorCtr="0" anchor="t" bIns="0" lIns="0" spcFirstLastPara="1" rIns="0" wrap="square" tIns="0">
            <a:spAutoFit/>
          </a:bodyPr>
          <a:lstStyle/>
          <a:p>
            <a:pPr indent="0" lvl="0" marL="0" rtl="0" algn="l">
              <a:lnSpc>
                <a:spcPct val="120000"/>
              </a:lnSpc>
              <a:spcBef>
                <a:spcPts val="0"/>
              </a:spcBef>
              <a:spcAft>
                <a:spcPts val="0"/>
              </a:spcAft>
              <a:buClr>
                <a:schemeClr val="dk1"/>
              </a:buClr>
              <a:buSzPts val="1100"/>
              <a:buFont typeface="Arial"/>
              <a:buNone/>
            </a:pPr>
            <a:r>
              <a:rPr lang="it-IT" sz="1000">
                <a:solidFill>
                  <a:srgbClr val="666666"/>
                </a:solidFill>
                <a:latin typeface="Inter"/>
                <a:ea typeface="Inter"/>
                <a:cs typeface="Inter"/>
                <a:sym typeface="Inter"/>
              </a:rPr>
              <a:t>fullSearchBM_cpu_OpenMP.cpp</a:t>
            </a:r>
            <a:endParaRPr sz="1000">
              <a:solidFill>
                <a:srgbClr val="666666"/>
              </a:solidFill>
              <a:latin typeface="Inter"/>
              <a:ea typeface="Inter"/>
              <a:cs typeface="Inter"/>
              <a:sym typeface="Inter"/>
            </a:endParaRPr>
          </a:p>
        </p:txBody>
      </p:sp>
      <p:cxnSp>
        <p:nvCxnSpPr>
          <p:cNvPr id="852" name="Google Shape;852;p68"/>
          <p:cNvCxnSpPr/>
          <p:nvPr/>
        </p:nvCxnSpPr>
        <p:spPr>
          <a:xfrm>
            <a:off x="6945300" y="3478800"/>
            <a:ext cx="4438200" cy="0"/>
          </a:xfrm>
          <a:prstGeom prst="straightConnector1">
            <a:avLst/>
          </a:prstGeom>
          <a:noFill/>
          <a:ln cap="flat" cmpd="sng" w="9525">
            <a:solidFill>
              <a:srgbClr val="B7B7B7"/>
            </a:solidFill>
            <a:prstDash val="solid"/>
            <a:round/>
            <a:headEnd len="med" w="med" type="none"/>
            <a:tailEnd len="med" w="med" type="none"/>
          </a:ln>
        </p:spPr>
      </p:cxnSp>
      <p:pic>
        <p:nvPicPr>
          <p:cNvPr descr="image.png" id="853" name="Google Shape;853;p68"/>
          <p:cNvPicPr preferRelativeResize="0"/>
          <p:nvPr/>
        </p:nvPicPr>
        <p:blipFill rotWithShape="1">
          <a:blip r:embed="rId4">
            <a:alphaModFix/>
          </a:blip>
          <a:srcRect b="0" l="0" r="0" t="0"/>
          <a:stretch/>
        </p:blipFill>
        <p:spPr>
          <a:xfrm>
            <a:off x="7038661" y="3328659"/>
            <a:ext cx="82594" cy="115068"/>
          </a:xfrm>
          <a:prstGeom prst="rect">
            <a:avLst/>
          </a:prstGeom>
          <a:noFill/>
          <a:ln>
            <a:noFill/>
          </a:ln>
        </p:spPr>
      </p:pic>
      <p:sp>
        <p:nvSpPr>
          <p:cNvPr id="854" name="Google Shape;854;p68"/>
          <p:cNvSpPr txBox="1"/>
          <p:nvPr/>
        </p:nvSpPr>
        <p:spPr>
          <a:xfrm>
            <a:off x="6653200" y="1212200"/>
            <a:ext cx="5113500" cy="15237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it-IT" sz="1650">
                <a:solidFill>
                  <a:srgbClr val="475569"/>
                </a:solidFill>
                <a:latin typeface="Inter"/>
                <a:ea typeface="Inter"/>
                <a:cs typeface="Inter"/>
                <a:sym typeface="Inter"/>
              </a:rPr>
              <a:t>Pixel-Level SIMD Parallelism</a:t>
            </a:r>
            <a:endParaRPr b="1" sz="1650">
              <a:solidFill>
                <a:srgbClr val="475569"/>
              </a:solidFill>
              <a:latin typeface="Inter"/>
              <a:ea typeface="Inter"/>
              <a:cs typeface="Inter"/>
              <a:sym typeface="Inter"/>
            </a:endParaRPr>
          </a:p>
          <a:p>
            <a:pPr indent="0" lvl="0" marL="0" rtl="0" algn="l">
              <a:spcBef>
                <a:spcPts val="0"/>
              </a:spcBef>
              <a:spcAft>
                <a:spcPts val="0"/>
              </a:spcAft>
              <a:buNone/>
            </a:pPr>
            <a:r>
              <a:rPr i="1" lang="it-IT" sz="1650">
                <a:solidFill>
                  <a:srgbClr val="475569"/>
                </a:solidFill>
                <a:latin typeface="Inter"/>
                <a:ea typeface="Inter"/>
                <a:cs typeface="Inter"/>
                <a:sym typeface="Inter"/>
              </a:rPr>
              <a:t>#pragma omp simd </a:t>
            </a:r>
            <a:r>
              <a:rPr lang="it-IT" sz="1650">
                <a:solidFill>
                  <a:srgbClr val="475569"/>
                </a:solidFill>
                <a:latin typeface="Inter"/>
                <a:ea typeface="Inter"/>
                <a:cs typeface="Inter"/>
                <a:sym typeface="Inter"/>
              </a:rPr>
              <a:t>vectorizes the innermost SAD loop, telling the compiler to use CPU vector registers so it computes several pixel differences in a single instruction instead of one at a time.</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855" name="Google Shape;855;p68"/>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59" name="Shape 859"/>
        <p:cNvGrpSpPr/>
        <p:nvPr/>
      </p:nvGrpSpPr>
      <p:grpSpPr>
        <a:xfrm>
          <a:off x="0" y="0"/>
          <a:ext cx="0" cy="0"/>
          <a:chOff x="0" y="0"/>
          <a:chExt cx="0" cy="0"/>
        </a:xfrm>
      </p:grpSpPr>
      <p:sp>
        <p:nvSpPr>
          <p:cNvPr id="860" name="Google Shape;860;p69"/>
          <p:cNvSpPr txBox="1"/>
          <p:nvPr/>
        </p:nvSpPr>
        <p:spPr>
          <a:xfrm>
            <a:off x="771525" y="576525"/>
            <a:ext cx="106617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 benchmark with CUDA Optimized Uncoalesced</a:t>
            </a:r>
            <a:endParaRPr sz="3000">
              <a:solidFill>
                <a:srgbClr val="0F172A"/>
              </a:solidFill>
              <a:latin typeface="Outfit SemiBold"/>
              <a:ea typeface="Outfit SemiBold"/>
              <a:cs typeface="Outfit SemiBold"/>
              <a:sym typeface="Outfit SemiBold"/>
            </a:endParaRPr>
          </a:p>
        </p:txBody>
      </p:sp>
      <p:sp>
        <p:nvSpPr>
          <p:cNvPr id="861" name="Google Shape;861;p69"/>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2" name="Google Shape;862;p69"/>
          <p:cNvSpPr txBox="1"/>
          <p:nvPr/>
        </p:nvSpPr>
        <p:spPr>
          <a:xfrm>
            <a:off x="771525" y="1212200"/>
            <a:ext cx="10661700" cy="762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Increasing the number of blocks in the frame grid allows the GPU to better mask GMEM management overhead. This maximizes the utilization of the CUDA architecture, shifting the bottleneck to pure computation, giving better performance over the CPU OpenMP implementation.</a:t>
            </a:r>
            <a:endParaRPr sz="1650">
              <a:solidFill>
                <a:srgbClr val="475569"/>
              </a:solidFill>
              <a:latin typeface="Inter"/>
              <a:ea typeface="Inter"/>
              <a:cs typeface="Inter"/>
              <a:sym typeface="Inter"/>
            </a:endParaRPr>
          </a:p>
        </p:txBody>
      </p:sp>
      <p:pic>
        <p:nvPicPr>
          <p:cNvPr id="863" name="Google Shape;863;p69"/>
          <p:cNvPicPr preferRelativeResize="0"/>
          <p:nvPr/>
        </p:nvPicPr>
        <p:blipFill>
          <a:blip r:embed="rId4">
            <a:alphaModFix/>
          </a:blip>
          <a:stretch>
            <a:fillRect/>
          </a:stretch>
        </p:blipFill>
        <p:spPr>
          <a:xfrm>
            <a:off x="771525" y="2507899"/>
            <a:ext cx="5229102" cy="3485190"/>
          </a:xfrm>
          <a:prstGeom prst="rect">
            <a:avLst/>
          </a:prstGeom>
          <a:noFill/>
          <a:ln>
            <a:noFill/>
          </a:ln>
        </p:spPr>
      </p:pic>
      <p:pic>
        <p:nvPicPr>
          <p:cNvPr id="864" name="Google Shape;864;p69"/>
          <p:cNvPicPr preferRelativeResize="0"/>
          <p:nvPr/>
        </p:nvPicPr>
        <p:blipFill>
          <a:blip r:embed="rId5">
            <a:alphaModFix/>
          </a:blip>
          <a:stretch>
            <a:fillRect/>
          </a:stretch>
        </p:blipFill>
        <p:spPr>
          <a:xfrm>
            <a:off x="6204125" y="2507899"/>
            <a:ext cx="5229102" cy="3485190"/>
          </a:xfrm>
          <a:prstGeom prst="rect">
            <a:avLst/>
          </a:prstGeom>
          <a:noFill/>
          <a:ln>
            <a:noFill/>
          </a:ln>
        </p:spPr>
      </p:pic>
      <p:sp>
        <p:nvSpPr>
          <p:cNvPr id="865" name="Google Shape;865;p6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69" name="Shape 869"/>
        <p:cNvGrpSpPr/>
        <p:nvPr/>
      </p:nvGrpSpPr>
      <p:grpSpPr>
        <a:xfrm>
          <a:off x="0" y="0"/>
          <a:ext cx="0" cy="0"/>
          <a:chOff x="0" y="0"/>
          <a:chExt cx="0" cy="0"/>
        </a:xfrm>
      </p:grpSpPr>
      <p:pic>
        <p:nvPicPr>
          <p:cNvPr id="870" name="Google Shape;870;p70"/>
          <p:cNvPicPr preferRelativeResize="0"/>
          <p:nvPr/>
        </p:nvPicPr>
        <p:blipFill>
          <a:blip r:embed="rId4">
            <a:alphaModFix/>
          </a:blip>
          <a:stretch>
            <a:fillRect/>
          </a:stretch>
        </p:blipFill>
        <p:spPr>
          <a:xfrm>
            <a:off x="6204125" y="2507875"/>
            <a:ext cx="5229102" cy="3485244"/>
          </a:xfrm>
          <a:prstGeom prst="rect">
            <a:avLst/>
          </a:prstGeom>
          <a:noFill/>
          <a:ln>
            <a:noFill/>
          </a:ln>
        </p:spPr>
      </p:pic>
      <p:sp>
        <p:nvSpPr>
          <p:cNvPr id="871" name="Google Shape;871;p70"/>
          <p:cNvSpPr txBox="1"/>
          <p:nvPr/>
        </p:nvSpPr>
        <p:spPr>
          <a:xfrm>
            <a:off x="771525" y="576525"/>
            <a:ext cx="106617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 benchmark with CUDA Optimized</a:t>
            </a:r>
            <a:endParaRPr sz="3000">
              <a:solidFill>
                <a:srgbClr val="0F172A"/>
              </a:solidFill>
              <a:latin typeface="Outfit SemiBold"/>
              <a:ea typeface="Outfit SemiBold"/>
              <a:cs typeface="Outfit SemiBold"/>
              <a:sym typeface="Outfit SemiBold"/>
            </a:endParaRPr>
          </a:p>
        </p:txBody>
      </p:sp>
      <p:sp>
        <p:nvSpPr>
          <p:cNvPr id="872" name="Google Shape;872;p70"/>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70"/>
          <p:cNvSpPr txBox="1"/>
          <p:nvPr/>
        </p:nvSpPr>
        <p:spPr>
          <a:xfrm>
            <a:off x="771525" y="1212200"/>
            <a:ext cx="10661700" cy="7620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With a block size of 32, the overhead from massive </a:t>
            </a:r>
            <a:r>
              <a:rPr i="1" lang="it-IT" sz="1650">
                <a:solidFill>
                  <a:srgbClr val="475569"/>
                </a:solidFill>
                <a:latin typeface="Inter"/>
                <a:ea typeface="Inter"/>
                <a:cs typeface="Inter"/>
                <a:sym typeface="Inter"/>
              </a:rPr>
              <a:t>d_sad</a:t>
            </a:r>
            <a:r>
              <a:rPr lang="it-IT" sz="1650">
                <a:solidFill>
                  <a:srgbClr val="475569"/>
                </a:solidFill>
                <a:latin typeface="Inter"/>
                <a:ea typeface="Inter"/>
                <a:cs typeface="Inter"/>
                <a:sym typeface="Inter"/>
              </a:rPr>
              <a:t> buffer allocation, repeated GMEM accesses, and two-kernel synchronization heavily outweighs the benefits of CUDA optimized approach. Consequently, CPU OpenMP handles this specific grid density more efficiently and achieves superior performance.</a:t>
            </a:r>
            <a:endParaRPr sz="1650">
              <a:solidFill>
                <a:srgbClr val="475569"/>
              </a:solidFill>
              <a:latin typeface="Inter"/>
              <a:ea typeface="Inter"/>
              <a:cs typeface="Inter"/>
              <a:sym typeface="Inter"/>
            </a:endParaRPr>
          </a:p>
        </p:txBody>
      </p:sp>
      <p:pic>
        <p:nvPicPr>
          <p:cNvPr id="874" name="Google Shape;874;p70"/>
          <p:cNvPicPr preferRelativeResize="0"/>
          <p:nvPr/>
        </p:nvPicPr>
        <p:blipFill>
          <a:blip r:embed="rId5">
            <a:alphaModFix/>
          </a:blip>
          <a:stretch>
            <a:fillRect/>
          </a:stretch>
        </p:blipFill>
        <p:spPr>
          <a:xfrm>
            <a:off x="771525" y="2507899"/>
            <a:ext cx="5229102" cy="3485190"/>
          </a:xfrm>
          <a:prstGeom prst="rect">
            <a:avLst/>
          </a:prstGeom>
          <a:noFill/>
          <a:ln>
            <a:noFill/>
          </a:ln>
        </p:spPr>
      </p:pic>
      <p:pic>
        <p:nvPicPr>
          <p:cNvPr id="875" name="Google Shape;875;p70"/>
          <p:cNvPicPr preferRelativeResize="0"/>
          <p:nvPr/>
        </p:nvPicPr>
        <p:blipFill>
          <a:blip r:embed="rId6">
            <a:alphaModFix/>
          </a:blip>
          <a:stretch>
            <a:fillRect/>
          </a:stretch>
        </p:blipFill>
        <p:spPr>
          <a:xfrm>
            <a:off x="771525" y="2507875"/>
            <a:ext cx="5229102" cy="3485251"/>
          </a:xfrm>
          <a:prstGeom prst="rect">
            <a:avLst/>
          </a:prstGeom>
          <a:noFill/>
          <a:ln>
            <a:noFill/>
          </a:ln>
        </p:spPr>
      </p:pic>
      <p:sp>
        <p:nvSpPr>
          <p:cNvPr id="876" name="Google Shape;876;p7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80" name="Shape 880"/>
        <p:cNvGrpSpPr/>
        <p:nvPr/>
      </p:nvGrpSpPr>
      <p:grpSpPr>
        <a:xfrm>
          <a:off x="0" y="0"/>
          <a:ext cx="0" cy="0"/>
          <a:chOff x="0" y="0"/>
          <a:chExt cx="0" cy="0"/>
        </a:xfrm>
      </p:grpSpPr>
      <p:sp>
        <p:nvSpPr>
          <p:cNvPr id="881" name="Google Shape;881;p71"/>
          <p:cNvSpPr txBox="1"/>
          <p:nvPr/>
        </p:nvSpPr>
        <p:spPr>
          <a:xfrm>
            <a:off x="771525" y="576525"/>
            <a:ext cx="106617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OpenMP: benchmark with CUDA Optimized</a:t>
            </a:r>
            <a:endParaRPr sz="3000">
              <a:solidFill>
                <a:srgbClr val="0F172A"/>
              </a:solidFill>
              <a:latin typeface="Outfit SemiBold"/>
              <a:ea typeface="Outfit SemiBold"/>
              <a:cs typeface="Outfit SemiBold"/>
              <a:sym typeface="Outfit SemiBold"/>
            </a:endParaRPr>
          </a:p>
        </p:txBody>
      </p:sp>
      <p:sp>
        <p:nvSpPr>
          <p:cNvPr id="882" name="Google Shape;882;p71"/>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3" name="Google Shape;883;p71"/>
          <p:cNvSpPr txBox="1"/>
          <p:nvPr/>
        </p:nvSpPr>
        <p:spPr>
          <a:xfrm>
            <a:off x="771525" y="1212200"/>
            <a:ext cx="10661700" cy="1015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Increasing the block size reduces the total number of blocks in the frame grid. This results in fewer block pairs for SAD computation, but a higher computational workload per pair. Consequently, the </a:t>
            </a:r>
            <a:r>
              <a:rPr i="1" lang="it-IT" sz="1650">
                <a:solidFill>
                  <a:srgbClr val="475569"/>
                </a:solidFill>
                <a:latin typeface="Inter"/>
                <a:ea typeface="Inter"/>
                <a:cs typeface="Inter"/>
                <a:sym typeface="Inter"/>
              </a:rPr>
              <a:t>d_sad</a:t>
            </a:r>
            <a:r>
              <a:rPr lang="it-IT" sz="1650">
                <a:solidFill>
                  <a:srgbClr val="475569"/>
                </a:solidFill>
                <a:latin typeface="Inter"/>
                <a:ea typeface="Inter"/>
                <a:cs typeface="Inter"/>
                <a:sym typeface="Inter"/>
              </a:rPr>
              <a:t> buffer shrinks, significantly reducing GMEM overhead. This shift allows the GPU to utilize its massive parallelism much more effectively than the OpenMP implementation.</a:t>
            </a:r>
            <a:endParaRPr sz="1650">
              <a:solidFill>
                <a:srgbClr val="475569"/>
              </a:solidFill>
              <a:latin typeface="Inter"/>
              <a:ea typeface="Inter"/>
              <a:cs typeface="Inter"/>
              <a:sym typeface="Inter"/>
            </a:endParaRPr>
          </a:p>
        </p:txBody>
      </p:sp>
      <p:pic>
        <p:nvPicPr>
          <p:cNvPr id="884" name="Google Shape;884;p71"/>
          <p:cNvPicPr preferRelativeResize="0"/>
          <p:nvPr/>
        </p:nvPicPr>
        <p:blipFill>
          <a:blip r:embed="rId4">
            <a:alphaModFix/>
          </a:blip>
          <a:stretch>
            <a:fillRect/>
          </a:stretch>
        </p:blipFill>
        <p:spPr>
          <a:xfrm>
            <a:off x="771525" y="2507899"/>
            <a:ext cx="5229102" cy="3485190"/>
          </a:xfrm>
          <a:prstGeom prst="rect">
            <a:avLst/>
          </a:prstGeom>
          <a:noFill/>
          <a:ln>
            <a:noFill/>
          </a:ln>
        </p:spPr>
      </p:pic>
      <p:pic>
        <p:nvPicPr>
          <p:cNvPr id="885" name="Google Shape;885;p71"/>
          <p:cNvPicPr preferRelativeResize="0"/>
          <p:nvPr/>
        </p:nvPicPr>
        <p:blipFill>
          <a:blip r:embed="rId5">
            <a:alphaModFix/>
          </a:blip>
          <a:stretch>
            <a:fillRect/>
          </a:stretch>
        </p:blipFill>
        <p:spPr>
          <a:xfrm>
            <a:off x="837725" y="2552025"/>
            <a:ext cx="5229102" cy="3485220"/>
          </a:xfrm>
          <a:prstGeom prst="rect">
            <a:avLst/>
          </a:prstGeom>
          <a:noFill/>
          <a:ln>
            <a:noFill/>
          </a:ln>
        </p:spPr>
      </p:pic>
      <p:pic>
        <p:nvPicPr>
          <p:cNvPr id="886" name="Google Shape;886;p71"/>
          <p:cNvPicPr preferRelativeResize="0"/>
          <p:nvPr/>
        </p:nvPicPr>
        <p:blipFill>
          <a:blip r:embed="rId6">
            <a:alphaModFix/>
          </a:blip>
          <a:stretch>
            <a:fillRect/>
          </a:stretch>
        </p:blipFill>
        <p:spPr>
          <a:xfrm>
            <a:off x="6066825" y="2507888"/>
            <a:ext cx="5229102" cy="3485214"/>
          </a:xfrm>
          <a:prstGeom prst="rect">
            <a:avLst/>
          </a:prstGeom>
          <a:noFill/>
          <a:ln>
            <a:noFill/>
          </a:ln>
        </p:spPr>
      </p:pic>
      <p:sp>
        <p:nvSpPr>
          <p:cNvPr id="887" name="Google Shape;887;p7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1" name="Shape 891"/>
        <p:cNvGrpSpPr/>
        <p:nvPr/>
      </p:nvGrpSpPr>
      <p:grpSpPr>
        <a:xfrm>
          <a:off x="0" y="0"/>
          <a:ext cx="0" cy="0"/>
          <a:chOff x="0" y="0"/>
          <a:chExt cx="0" cy="0"/>
        </a:xfrm>
      </p:grpSpPr>
      <p:sp>
        <p:nvSpPr>
          <p:cNvPr id="892" name="Google Shape;892;p72"/>
          <p:cNvSpPr txBox="1"/>
          <p:nvPr/>
        </p:nvSpPr>
        <p:spPr>
          <a:xfrm>
            <a:off x="3235642" y="3002309"/>
            <a:ext cx="5720700" cy="738900"/>
          </a:xfrm>
          <a:prstGeom prst="rect">
            <a:avLst/>
          </a:prstGeom>
          <a:noFill/>
          <a:ln>
            <a:noFill/>
          </a:ln>
        </p:spPr>
        <p:txBody>
          <a:bodyPr anchorCtr="0" anchor="t" bIns="0" lIns="0" spcFirstLastPara="1" rIns="0" wrap="square" tIns="0">
            <a:spAutoFit/>
          </a:bodyPr>
          <a:lstStyle/>
          <a:p>
            <a:pPr indent="0" lvl="0" marL="0" marR="0" rtl="0" algn="ctr">
              <a:lnSpc>
                <a:spcPct val="119979"/>
              </a:lnSpc>
              <a:spcBef>
                <a:spcPts val="0"/>
              </a:spcBef>
              <a:spcAft>
                <a:spcPts val="0"/>
              </a:spcAft>
              <a:buClr>
                <a:srgbClr val="000000"/>
              </a:buClr>
              <a:buSzPts val="4800"/>
              <a:buFont typeface="Arial"/>
              <a:buNone/>
            </a:pPr>
            <a:r>
              <a:rPr b="1" lang="it-IT" sz="4800">
                <a:solidFill>
                  <a:srgbClr val="0F172A"/>
                </a:solidFill>
                <a:latin typeface="Outfit"/>
                <a:ea typeface="Outfit"/>
                <a:cs typeface="Outfit"/>
                <a:sym typeface="Outfit"/>
              </a:rPr>
              <a:t>Logarithmic</a:t>
            </a:r>
            <a:r>
              <a:rPr b="1" lang="it-IT" sz="4800">
                <a:solidFill>
                  <a:srgbClr val="0F172A"/>
                </a:solidFill>
                <a:latin typeface="Outfit"/>
                <a:ea typeface="Outfit"/>
                <a:cs typeface="Outfit"/>
                <a:sym typeface="Outfit"/>
              </a:rPr>
              <a:t> Search</a:t>
            </a:r>
            <a:endParaRPr b="0" i="0" sz="1400" u="none" cap="none" strike="noStrike">
              <a:solidFill>
                <a:srgbClr val="000000"/>
              </a:solidFill>
              <a:latin typeface="Arial"/>
              <a:ea typeface="Arial"/>
              <a:cs typeface="Arial"/>
              <a:sym typeface="Arial"/>
            </a:endParaRPr>
          </a:p>
        </p:txBody>
      </p:sp>
      <p:sp>
        <p:nvSpPr>
          <p:cNvPr id="893" name="Google Shape;893;p72"/>
          <p:cNvSpPr txBox="1"/>
          <p:nvPr/>
        </p:nvSpPr>
        <p:spPr>
          <a:xfrm>
            <a:off x="3629025" y="3924300"/>
            <a:ext cx="4934100" cy="207900"/>
          </a:xfrm>
          <a:prstGeom prst="rect">
            <a:avLst/>
          </a:prstGeom>
          <a:noFill/>
          <a:ln>
            <a:noFill/>
          </a:ln>
        </p:spPr>
        <p:txBody>
          <a:bodyPr anchorCtr="0" anchor="t" bIns="0" lIns="0" spcFirstLastPara="1" rIns="0" wrap="square" tIns="0">
            <a:spAutoFit/>
          </a:bodyPr>
          <a:lstStyle/>
          <a:p>
            <a:pPr indent="0" lvl="0" marL="0" marR="0" rtl="0" algn="ctr">
              <a:lnSpc>
                <a:spcPct val="160000"/>
              </a:lnSpc>
              <a:spcBef>
                <a:spcPts val="0"/>
              </a:spcBef>
              <a:spcAft>
                <a:spcPts val="0"/>
              </a:spcAft>
              <a:buClr>
                <a:srgbClr val="000000"/>
              </a:buClr>
              <a:buSzPts val="1350"/>
              <a:buFont typeface="Arial"/>
              <a:buNone/>
            </a:pPr>
            <a:r>
              <a:rPr lang="it-IT" sz="1350">
                <a:solidFill>
                  <a:srgbClr val="475569"/>
                </a:solidFill>
                <a:latin typeface="Inter"/>
                <a:ea typeface="Inter"/>
                <a:cs typeface="Inter"/>
                <a:sym typeface="Inter"/>
              </a:rPr>
              <a:t>Implementations of logarithmic search algorithm</a:t>
            </a:r>
            <a:endParaRPr b="0" i="0" sz="1400" u="none" cap="none" strike="noStrike">
              <a:solidFill>
                <a:srgbClr val="000000"/>
              </a:solidFill>
              <a:latin typeface="Arial"/>
              <a:ea typeface="Arial"/>
              <a:cs typeface="Arial"/>
              <a:sym typeface="Arial"/>
            </a:endParaRPr>
          </a:p>
        </p:txBody>
      </p:sp>
      <p:sp>
        <p:nvSpPr>
          <p:cNvPr id="894" name="Google Shape;894;p7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98" name="Shape 898"/>
        <p:cNvGrpSpPr/>
        <p:nvPr/>
      </p:nvGrpSpPr>
      <p:grpSpPr>
        <a:xfrm>
          <a:off x="0" y="0"/>
          <a:ext cx="0" cy="0"/>
          <a:chOff x="0" y="0"/>
          <a:chExt cx="0" cy="0"/>
        </a:xfrm>
      </p:grpSpPr>
      <p:pic>
        <p:nvPicPr>
          <p:cNvPr id="899" name="Google Shape;899;p73"/>
          <p:cNvPicPr preferRelativeResize="0"/>
          <p:nvPr/>
        </p:nvPicPr>
        <p:blipFill rotWithShape="1">
          <a:blip r:embed="rId4">
            <a:alphaModFix/>
          </a:blip>
          <a:srcRect b="0" l="0" r="369" t="0"/>
          <a:stretch/>
        </p:blipFill>
        <p:spPr>
          <a:xfrm>
            <a:off x="7001763" y="1527800"/>
            <a:ext cx="2163500" cy="2158750"/>
          </a:xfrm>
          <a:prstGeom prst="rect">
            <a:avLst/>
          </a:prstGeom>
          <a:noFill/>
          <a:ln>
            <a:noFill/>
          </a:ln>
        </p:spPr>
      </p:pic>
      <p:pic>
        <p:nvPicPr>
          <p:cNvPr id="900" name="Google Shape;900;p73"/>
          <p:cNvPicPr preferRelativeResize="0"/>
          <p:nvPr/>
        </p:nvPicPr>
        <p:blipFill>
          <a:blip r:embed="rId5">
            <a:alphaModFix/>
          </a:blip>
          <a:stretch>
            <a:fillRect/>
          </a:stretch>
        </p:blipFill>
        <p:spPr>
          <a:xfrm>
            <a:off x="9169262" y="3707714"/>
            <a:ext cx="2171475" cy="2158705"/>
          </a:xfrm>
          <a:prstGeom prst="rect">
            <a:avLst/>
          </a:prstGeom>
          <a:noFill/>
          <a:ln>
            <a:noFill/>
          </a:ln>
        </p:spPr>
      </p:pic>
      <p:sp>
        <p:nvSpPr>
          <p:cNvPr id="901" name="Google Shape;901;p73"/>
          <p:cNvSpPr txBox="1"/>
          <p:nvPr>
            <p:ph idx="12" type="sldNum"/>
          </p:nvPr>
        </p:nvSpPr>
        <p:spPr>
          <a:xfrm>
            <a:off x="9978300" y="65087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902" name="Google Shape;902;p73"/>
          <p:cNvSpPr txBox="1"/>
          <p:nvPr/>
        </p:nvSpPr>
        <p:spPr>
          <a:xfrm>
            <a:off x="771525" y="1447975"/>
            <a:ext cx="5521500" cy="2539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Performing a logarithmic search with a search distance defined as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Yields an approximate result of the full search in a significantly shorter time.</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While the cost to perform a full search for one frame block is computing the SAD for                           pairs, the cost for the logarithmic search is just</a:t>
            </a:r>
            <a:endParaRPr sz="1650">
              <a:solidFill>
                <a:srgbClr val="475569"/>
              </a:solidFill>
              <a:latin typeface="Inter"/>
              <a:ea typeface="Inter"/>
              <a:cs typeface="Inter"/>
              <a:sym typeface="Inter"/>
            </a:endParaRPr>
          </a:p>
        </p:txBody>
      </p:sp>
      <p:pic>
        <p:nvPicPr>
          <p:cNvPr id="903" name="Google Shape;903;p73"/>
          <p:cNvPicPr preferRelativeResize="0"/>
          <p:nvPr/>
        </p:nvPicPr>
        <p:blipFill>
          <a:blip r:embed="rId6">
            <a:alphaModFix/>
          </a:blip>
          <a:stretch>
            <a:fillRect/>
          </a:stretch>
        </p:blipFill>
        <p:spPr>
          <a:xfrm>
            <a:off x="820375" y="1944225"/>
            <a:ext cx="4343400" cy="314325"/>
          </a:xfrm>
          <a:prstGeom prst="rect">
            <a:avLst/>
          </a:prstGeom>
          <a:noFill/>
          <a:ln>
            <a:noFill/>
          </a:ln>
        </p:spPr>
      </p:pic>
      <p:pic>
        <p:nvPicPr>
          <p:cNvPr id="904" name="Google Shape;904;p73"/>
          <p:cNvPicPr preferRelativeResize="0"/>
          <p:nvPr/>
        </p:nvPicPr>
        <p:blipFill>
          <a:blip r:embed="rId7">
            <a:alphaModFix/>
          </a:blip>
          <a:stretch>
            <a:fillRect/>
          </a:stretch>
        </p:blipFill>
        <p:spPr>
          <a:xfrm>
            <a:off x="3889550" y="3479975"/>
            <a:ext cx="1554780" cy="231000"/>
          </a:xfrm>
          <a:prstGeom prst="rect">
            <a:avLst/>
          </a:prstGeom>
          <a:noFill/>
          <a:ln>
            <a:noFill/>
          </a:ln>
        </p:spPr>
      </p:pic>
      <p:pic>
        <p:nvPicPr>
          <p:cNvPr id="905" name="Google Shape;905;p73"/>
          <p:cNvPicPr preferRelativeResize="0"/>
          <p:nvPr/>
        </p:nvPicPr>
        <p:blipFill>
          <a:blip r:embed="rId8">
            <a:alphaModFix/>
          </a:blip>
          <a:stretch>
            <a:fillRect/>
          </a:stretch>
        </p:blipFill>
        <p:spPr>
          <a:xfrm>
            <a:off x="771525" y="3987775"/>
            <a:ext cx="2305050" cy="314325"/>
          </a:xfrm>
          <a:prstGeom prst="rect">
            <a:avLst/>
          </a:prstGeom>
          <a:noFill/>
          <a:ln>
            <a:noFill/>
          </a:ln>
        </p:spPr>
      </p:pic>
      <p:sp>
        <p:nvSpPr>
          <p:cNvPr id="906" name="Google Shape;906;p73"/>
          <p:cNvSpPr txBox="1"/>
          <p:nvPr/>
        </p:nvSpPr>
        <p:spPr>
          <a:xfrm>
            <a:off x="1223921" y="471159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Load imbalance</a:t>
            </a:r>
            <a:endParaRPr/>
          </a:p>
        </p:txBody>
      </p:sp>
      <p:sp>
        <p:nvSpPr>
          <p:cNvPr id="907" name="Google Shape;907;p73"/>
          <p:cNvSpPr txBox="1"/>
          <p:nvPr/>
        </p:nvSpPr>
        <p:spPr>
          <a:xfrm>
            <a:off x="1191350" y="5129125"/>
            <a:ext cx="55215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Similar to Range Search, there is a load imbalance on the border frame blocks. With this specific search distance, this behavior reaches an extreme: every single block acts as a border block, except for the one in the exact center of the frame.</a:t>
            </a:r>
            <a:endParaRPr sz="1200">
              <a:solidFill>
                <a:srgbClr val="475569"/>
              </a:solidFill>
              <a:latin typeface="Inter"/>
              <a:ea typeface="Inter"/>
              <a:cs typeface="Inter"/>
              <a:sym typeface="Inter"/>
            </a:endParaRPr>
          </a:p>
        </p:txBody>
      </p:sp>
      <p:sp>
        <p:nvSpPr>
          <p:cNvPr id="908" name="Google Shape;908;p73"/>
          <p:cNvSpPr txBox="1"/>
          <p:nvPr/>
        </p:nvSpPr>
        <p:spPr>
          <a:xfrm>
            <a:off x="771525" y="4627000"/>
            <a:ext cx="6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pic>
        <p:nvPicPr>
          <p:cNvPr id="909" name="Google Shape;909;p73"/>
          <p:cNvPicPr preferRelativeResize="0"/>
          <p:nvPr/>
        </p:nvPicPr>
        <p:blipFill>
          <a:blip r:embed="rId4">
            <a:alphaModFix/>
          </a:blip>
          <a:stretch>
            <a:fillRect/>
          </a:stretch>
        </p:blipFill>
        <p:spPr>
          <a:xfrm>
            <a:off x="6997775" y="1527800"/>
            <a:ext cx="2171475" cy="2158750"/>
          </a:xfrm>
          <a:prstGeom prst="rect">
            <a:avLst/>
          </a:prstGeom>
          <a:noFill/>
          <a:ln>
            <a:noFill/>
          </a:ln>
        </p:spPr>
      </p:pic>
      <p:sp>
        <p:nvSpPr>
          <p:cNvPr id="910" name="Google Shape;910;p73"/>
          <p:cNvSpPr/>
          <p:nvPr/>
        </p:nvSpPr>
        <p:spPr>
          <a:xfrm>
            <a:off x="7214113" y="381962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Reference Frame</a:t>
            </a:r>
            <a:endParaRPr sz="1000">
              <a:solidFill>
                <a:srgbClr val="0F172A"/>
              </a:solidFill>
              <a:latin typeface="Outfit"/>
              <a:ea typeface="Outfit"/>
              <a:cs typeface="Outfit"/>
              <a:sym typeface="Outfit"/>
            </a:endParaRPr>
          </a:p>
        </p:txBody>
      </p:sp>
      <p:sp>
        <p:nvSpPr>
          <p:cNvPr id="911" name="Google Shape;911;p73"/>
          <p:cNvSpPr/>
          <p:nvPr/>
        </p:nvSpPr>
        <p:spPr>
          <a:xfrm>
            <a:off x="9385588" y="6017700"/>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Curren Frame</a:t>
            </a:r>
            <a:endParaRPr sz="1000">
              <a:solidFill>
                <a:srgbClr val="0F172A"/>
              </a:solidFill>
              <a:latin typeface="Outfit"/>
              <a:ea typeface="Outfit"/>
              <a:cs typeface="Outfit"/>
              <a:sym typeface="Outfit"/>
            </a:endParaRPr>
          </a:p>
        </p:txBody>
      </p:sp>
      <p:sp>
        <p:nvSpPr>
          <p:cNvPr id="912" name="Google Shape;912;p73"/>
          <p:cNvSpPr txBox="1"/>
          <p:nvPr/>
        </p:nvSpPr>
        <p:spPr>
          <a:xfrm>
            <a:off x="771525" y="5810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Full Search vs Logarithmic Search</a:t>
            </a:r>
            <a:endParaRPr b="0" i="0" sz="1400" u="none" cap="none" strike="noStrike">
              <a:solidFill>
                <a:srgbClr val="000000"/>
              </a:solidFill>
              <a:latin typeface="Arial"/>
              <a:ea typeface="Arial"/>
              <a:cs typeface="Arial"/>
              <a:sym typeface="Arial"/>
            </a:endParaRPr>
          </a:p>
        </p:txBody>
      </p:sp>
      <p:sp>
        <p:nvSpPr>
          <p:cNvPr id="913" name="Google Shape;913;p73"/>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17" name="Shape 917"/>
        <p:cNvGrpSpPr/>
        <p:nvPr/>
      </p:nvGrpSpPr>
      <p:grpSpPr>
        <a:xfrm>
          <a:off x="0" y="0"/>
          <a:ext cx="0" cy="0"/>
          <a:chOff x="0" y="0"/>
          <a:chExt cx="0" cy="0"/>
        </a:xfrm>
      </p:grpSpPr>
      <p:pic>
        <p:nvPicPr>
          <p:cNvPr id="918" name="Google Shape;918;p74"/>
          <p:cNvPicPr preferRelativeResize="0"/>
          <p:nvPr/>
        </p:nvPicPr>
        <p:blipFill>
          <a:blip r:embed="rId4">
            <a:alphaModFix/>
          </a:blip>
          <a:stretch>
            <a:fillRect/>
          </a:stretch>
        </p:blipFill>
        <p:spPr>
          <a:xfrm>
            <a:off x="9169263" y="3701325"/>
            <a:ext cx="2171475" cy="2171475"/>
          </a:xfrm>
          <a:prstGeom prst="rect">
            <a:avLst/>
          </a:prstGeom>
          <a:noFill/>
          <a:ln>
            <a:noFill/>
          </a:ln>
        </p:spPr>
      </p:pic>
      <p:sp>
        <p:nvSpPr>
          <p:cNvPr id="919" name="Google Shape;919;p74"/>
          <p:cNvSpPr txBox="1"/>
          <p:nvPr/>
        </p:nvSpPr>
        <p:spPr>
          <a:xfrm>
            <a:off x="771525" y="5810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Full Search vs Logarithmic Search</a:t>
            </a:r>
            <a:endParaRPr b="0" i="0" sz="1400" u="none" cap="none" strike="noStrike">
              <a:solidFill>
                <a:srgbClr val="000000"/>
              </a:solidFill>
              <a:latin typeface="Arial"/>
              <a:ea typeface="Arial"/>
              <a:cs typeface="Arial"/>
              <a:sym typeface="Arial"/>
            </a:endParaRPr>
          </a:p>
        </p:txBody>
      </p:sp>
      <p:sp>
        <p:nvSpPr>
          <p:cNvPr id="920" name="Google Shape;920;p74"/>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1" name="Google Shape;921;p74"/>
          <p:cNvSpPr txBox="1"/>
          <p:nvPr/>
        </p:nvSpPr>
        <p:spPr>
          <a:xfrm>
            <a:off x="771525" y="1447975"/>
            <a:ext cx="5521500" cy="2539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650">
                <a:solidFill>
                  <a:srgbClr val="475569"/>
                </a:solidFill>
                <a:latin typeface="Inter"/>
                <a:ea typeface="Inter"/>
                <a:cs typeface="Inter"/>
                <a:sym typeface="Inter"/>
              </a:rPr>
              <a:t>Performing a logarithmic search with a search distance defined as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Yields an approximate result of the full search in a significantly shorter time.</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lang="it-IT" sz="1650">
                <a:solidFill>
                  <a:srgbClr val="475569"/>
                </a:solidFill>
                <a:latin typeface="Inter"/>
                <a:ea typeface="Inter"/>
                <a:cs typeface="Inter"/>
                <a:sym typeface="Inter"/>
              </a:rPr>
              <a:t>While the cost to perform a full search for one frame block is computing the SAD for                           pairs, the cost for the logarithmic search is just</a:t>
            </a:r>
            <a:endParaRPr sz="1650">
              <a:solidFill>
                <a:srgbClr val="475569"/>
              </a:solidFill>
              <a:latin typeface="Inter"/>
              <a:ea typeface="Inter"/>
              <a:cs typeface="Inter"/>
              <a:sym typeface="Inter"/>
            </a:endParaRPr>
          </a:p>
        </p:txBody>
      </p:sp>
      <p:pic>
        <p:nvPicPr>
          <p:cNvPr id="922" name="Google Shape;922;p74"/>
          <p:cNvPicPr preferRelativeResize="0"/>
          <p:nvPr/>
        </p:nvPicPr>
        <p:blipFill>
          <a:blip r:embed="rId5">
            <a:alphaModFix/>
          </a:blip>
          <a:stretch>
            <a:fillRect/>
          </a:stretch>
        </p:blipFill>
        <p:spPr>
          <a:xfrm>
            <a:off x="820375" y="1944225"/>
            <a:ext cx="4343400" cy="314325"/>
          </a:xfrm>
          <a:prstGeom prst="rect">
            <a:avLst/>
          </a:prstGeom>
          <a:noFill/>
          <a:ln>
            <a:noFill/>
          </a:ln>
        </p:spPr>
      </p:pic>
      <p:pic>
        <p:nvPicPr>
          <p:cNvPr id="923" name="Google Shape;923;p74"/>
          <p:cNvPicPr preferRelativeResize="0"/>
          <p:nvPr/>
        </p:nvPicPr>
        <p:blipFill>
          <a:blip r:embed="rId6">
            <a:alphaModFix/>
          </a:blip>
          <a:stretch>
            <a:fillRect/>
          </a:stretch>
        </p:blipFill>
        <p:spPr>
          <a:xfrm>
            <a:off x="3889550" y="3479975"/>
            <a:ext cx="1554780" cy="231000"/>
          </a:xfrm>
          <a:prstGeom prst="rect">
            <a:avLst/>
          </a:prstGeom>
          <a:noFill/>
          <a:ln>
            <a:noFill/>
          </a:ln>
        </p:spPr>
      </p:pic>
      <p:pic>
        <p:nvPicPr>
          <p:cNvPr id="924" name="Google Shape;924;p74"/>
          <p:cNvPicPr preferRelativeResize="0"/>
          <p:nvPr/>
        </p:nvPicPr>
        <p:blipFill>
          <a:blip r:embed="rId7">
            <a:alphaModFix/>
          </a:blip>
          <a:stretch>
            <a:fillRect/>
          </a:stretch>
        </p:blipFill>
        <p:spPr>
          <a:xfrm>
            <a:off x="771525" y="3987775"/>
            <a:ext cx="2305050" cy="314325"/>
          </a:xfrm>
          <a:prstGeom prst="rect">
            <a:avLst/>
          </a:prstGeom>
          <a:noFill/>
          <a:ln>
            <a:noFill/>
          </a:ln>
        </p:spPr>
      </p:pic>
      <p:sp>
        <p:nvSpPr>
          <p:cNvPr id="925" name="Google Shape;925;p74"/>
          <p:cNvSpPr txBox="1"/>
          <p:nvPr/>
        </p:nvSpPr>
        <p:spPr>
          <a:xfrm>
            <a:off x="1223921" y="4711591"/>
            <a:ext cx="66480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Load imbalance</a:t>
            </a:r>
            <a:endParaRPr/>
          </a:p>
        </p:txBody>
      </p:sp>
      <p:sp>
        <p:nvSpPr>
          <p:cNvPr id="926" name="Google Shape;926;p74"/>
          <p:cNvSpPr txBox="1"/>
          <p:nvPr/>
        </p:nvSpPr>
        <p:spPr>
          <a:xfrm>
            <a:off x="1191350" y="5129125"/>
            <a:ext cx="5521500" cy="1015800"/>
          </a:xfrm>
          <a:prstGeom prst="rect">
            <a:avLst/>
          </a:prstGeom>
          <a:noFill/>
          <a:ln>
            <a:noFill/>
          </a:ln>
        </p:spPr>
        <p:txBody>
          <a:bodyPr anchorCtr="0" anchor="t" bIns="0" lIns="0" spcFirstLastPara="1" rIns="0" wrap="square" tIns="0">
            <a:spAutoFit/>
          </a:bodyPr>
          <a:lstStyle/>
          <a:p>
            <a:pPr indent="0" lvl="0" marL="0" marR="0" rtl="0" algn="l">
              <a:lnSpc>
                <a:spcPct val="150000"/>
              </a:lnSpc>
              <a:spcBef>
                <a:spcPts val="0"/>
              </a:spcBef>
              <a:spcAft>
                <a:spcPts val="0"/>
              </a:spcAft>
              <a:buClr>
                <a:srgbClr val="000000"/>
              </a:buClr>
              <a:buFont typeface="Arial"/>
              <a:buNone/>
            </a:pPr>
            <a:r>
              <a:rPr lang="it-IT" sz="1200">
                <a:solidFill>
                  <a:srgbClr val="475569"/>
                </a:solidFill>
                <a:latin typeface="Inter"/>
                <a:ea typeface="Inter"/>
                <a:cs typeface="Inter"/>
                <a:sym typeface="Inter"/>
              </a:rPr>
              <a:t>Similar to Range Search, there is a load imbalance on the border frame blocks. With this specific search distance, this behavior reaches an extreme: every single block acts as a border block, except for the one in the exact center of the frame.</a:t>
            </a:r>
            <a:endParaRPr sz="1200">
              <a:solidFill>
                <a:srgbClr val="475569"/>
              </a:solidFill>
              <a:latin typeface="Inter"/>
              <a:ea typeface="Inter"/>
              <a:cs typeface="Inter"/>
              <a:sym typeface="Inter"/>
            </a:endParaRPr>
          </a:p>
        </p:txBody>
      </p:sp>
      <p:sp>
        <p:nvSpPr>
          <p:cNvPr id="927" name="Google Shape;927;p74"/>
          <p:cNvSpPr txBox="1"/>
          <p:nvPr/>
        </p:nvSpPr>
        <p:spPr>
          <a:xfrm>
            <a:off x="771525" y="4627000"/>
            <a:ext cx="603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pic>
        <p:nvPicPr>
          <p:cNvPr id="928" name="Google Shape;928;p74"/>
          <p:cNvPicPr preferRelativeResize="0"/>
          <p:nvPr/>
        </p:nvPicPr>
        <p:blipFill>
          <a:blip r:embed="rId8">
            <a:alphaModFix/>
          </a:blip>
          <a:stretch>
            <a:fillRect/>
          </a:stretch>
        </p:blipFill>
        <p:spPr>
          <a:xfrm>
            <a:off x="6997775" y="1527800"/>
            <a:ext cx="2171475" cy="2158750"/>
          </a:xfrm>
          <a:prstGeom prst="rect">
            <a:avLst/>
          </a:prstGeom>
          <a:noFill/>
          <a:ln>
            <a:noFill/>
          </a:ln>
        </p:spPr>
      </p:pic>
      <p:sp>
        <p:nvSpPr>
          <p:cNvPr id="929" name="Google Shape;929;p74"/>
          <p:cNvSpPr/>
          <p:nvPr/>
        </p:nvSpPr>
        <p:spPr>
          <a:xfrm>
            <a:off x="7214113" y="3819625"/>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Full Search</a:t>
            </a:r>
            <a:endParaRPr sz="1000">
              <a:solidFill>
                <a:srgbClr val="0F172A"/>
              </a:solidFill>
              <a:latin typeface="Outfit"/>
              <a:ea typeface="Outfit"/>
              <a:cs typeface="Outfit"/>
              <a:sym typeface="Outfit"/>
            </a:endParaRPr>
          </a:p>
        </p:txBody>
      </p:sp>
      <p:sp>
        <p:nvSpPr>
          <p:cNvPr id="930" name="Google Shape;930;p74"/>
          <p:cNvSpPr/>
          <p:nvPr/>
        </p:nvSpPr>
        <p:spPr>
          <a:xfrm>
            <a:off x="9385588" y="6017700"/>
            <a:ext cx="1738800" cy="2805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Logarithmic Search</a:t>
            </a:r>
            <a:endParaRPr sz="1000">
              <a:solidFill>
                <a:srgbClr val="0F172A"/>
              </a:solidFill>
              <a:latin typeface="Outfit"/>
              <a:ea typeface="Outfit"/>
              <a:cs typeface="Outfit"/>
              <a:sym typeface="Outfit"/>
            </a:endParaRPr>
          </a:p>
        </p:txBody>
      </p:sp>
      <p:pic>
        <p:nvPicPr>
          <p:cNvPr id="931" name="Google Shape;931;p74"/>
          <p:cNvPicPr preferRelativeResize="0"/>
          <p:nvPr/>
        </p:nvPicPr>
        <p:blipFill rotWithShape="1">
          <a:blip r:embed="rId9">
            <a:alphaModFix/>
          </a:blip>
          <a:srcRect b="0" l="356" r="722" t="0"/>
          <a:stretch/>
        </p:blipFill>
        <p:spPr>
          <a:xfrm>
            <a:off x="6997788" y="1522263"/>
            <a:ext cx="2171475" cy="2169837"/>
          </a:xfrm>
          <a:prstGeom prst="rect">
            <a:avLst/>
          </a:prstGeom>
          <a:noFill/>
          <a:ln>
            <a:noFill/>
          </a:ln>
        </p:spPr>
      </p:pic>
      <p:sp>
        <p:nvSpPr>
          <p:cNvPr id="932" name="Google Shape;932;p74"/>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36" name="Shape 936"/>
        <p:cNvGrpSpPr/>
        <p:nvPr/>
      </p:nvGrpSpPr>
      <p:grpSpPr>
        <a:xfrm>
          <a:off x="0" y="0"/>
          <a:ext cx="0" cy="0"/>
          <a:chOff x="0" y="0"/>
          <a:chExt cx="0" cy="0"/>
        </a:xfrm>
      </p:grpSpPr>
      <p:sp>
        <p:nvSpPr>
          <p:cNvPr id="937" name="Google Shape;937;p75"/>
          <p:cNvSpPr txBox="1"/>
          <p:nvPr/>
        </p:nvSpPr>
        <p:spPr>
          <a:xfrm>
            <a:off x="773425" y="1287725"/>
            <a:ext cx="6044100" cy="279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Sequential implementation</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The current frame is logically divided into frame blocks.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Logarithmic loop, halving the search distance at each step:</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Compute SAD for the search center and its 8 surrounding candidate reference frame blocks.</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Compute</a:t>
            </a:r>
            <a:r>
              <a:rPr lang="it-IT" sz="1650">
                <a:solidFill>
                  <a:srgbClr val="475569"/>
                </a:solidFill>
                <a:latin typeface="Inter"/>
                <a:ea typeface="Inter"/>
                <a:cs typeface="Inter"/>
                <a:sym typeface="Inter"/>
              </a:rPr>
              <a:t> the best candidate, it becomes the new search center</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After the final iteration, the search center corresponds to the best candidate found, which determines the motion vector for that frame block.</a:t>
            </a:r>
            <a:endParaRPr sz="1650">
              <a:solidFill>
                <a:srgbClr val="475569"/>
              </a:solidFill>
              <a:latin typeface="Inter"/>
              <a:ea typeface="Inter"/>
              <a:cs typeface="Inter"/>
              <a:sym typeface="Inter"/>
            </a:endParaRPr>
          </a:p>
        </p:txBody>
      </p:sp>
      <p:sp>
        <p:nvSpPr>
          <p:cNvPr id="938" name="Google Shape;938;p75"/>
          <p:cNvSpPr txBox="1"/>
          <p:nvPr/>
        </p:nvSpPr>
        <p:spPr>
          <a:xfrm>
            <a:off x="771525" y="5810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CPU Naive </a:t>
            </a:r>
            <a:endParaRPr b="0" i="0" sz="1400" u="none" cap="none" strike="noStrike">
              <a:solidFill>
                <a:srgbClr val="000000"/>
              </a:solidFill>
              <a:latin typeface="Arial"/>
              <a:ea typeface="Arial"/>
              <a:cs typeface="Arial"/>
              <a:sym typeface="Arial"/>
            </a:endParaRPr>
          </a:p>
        </p:txBody>
      </p:sp>
      <p:sp>
        <p:nvSpPr>
          <p:cNvPr id="939" name="Google Shape;939;p75"/>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0" name="Google Shape;940;p75"/>
          <p:cNvSpPr txBox="1"/>
          <p:nvPr/>
        </p:nvSpPr>
        <p:spPr>
          <a:xfrm>
            <a:off x="1381125" y="4939915"/>
            <a:ext cx="4200600" cy="231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it-IT" sz="1500">
                <a:solidFill>
                  <a:srgbClr val="0F172A"/>
                </a:solidFill>
                <a:latin typeface="Outfit"/>
                <a:ea typeface="Outfit"/>
                <a:cs typeface="Outfit"/>
                <a:sym typeface="Outfit"/>
              </a:rPr>
              <a:t>Parallelization &amp; Execution Dependency</a:t>
            </a:r>
            <a:endParaRPr b="1"/>
          </a:p>
        </p:txBody>
      </p:sp>
      <p:sp>
        <p:nvSpPr>
          <p:cNvPr id="941" name="Google Shape;941;p75"/>
          <p:cNvSpPr txBox="1"/>
          <p:nvPr/>
        </p:nvSpPr>
        <p:spPr>
          <a:xfrm>
            <a:off x="1381125" y="5255525"/>
            <a:ext cx="5103600" cy="1100700"/>
          </a:xfrm>
          <a:prstGeom prst="rect">
            <a:avLst/>
          </a:prstGeom>
          <a:noFill/>
          <a:ln>
            <a:noFill/>
          </a:ln>
        </p:spPr>
        <p:txBody>
          <a:bodyPr anchorCtr="0" anchor="t" bIns="0" lIns="0" spcFirstLastPara="1" rIns="0" wrap="square" tIns="0">
            <a:spAutoFit/>
          </a:bodyPr>
          <a:lstStyle/>
          <a:p>
            <a:pPr indent="0" lvl="0" marL="0" rtl="0" algn="l">
              <a:lnSpc>
                <a:spcPct val="150000"/>
              </a:lnSpc>
              <a:spcBef>
                <a:spcPts val="0"/>
              </a:spcBef>
              <a:spcAft>
                <a:spcPts val="0"/>
              </a:spcAft>
              <a:buClr>
                <a:schemeClr val="dk1"/>
              </a:buClr>
              <a:buFont typeface="Arial"/>
              <a:buNone/>
            </a:pPr>
            <a:r>
              <a:rPr lang="it-IT" sz="1300">
                <a:solidFill>
                  <a:srgbClr val="475569"/>
                </a:solidFill>
                <a:latin typeface="Inter"/>
                <a:ea typeface="Inter"/>
                <a:cs typeface="Inter"/>
                <a:sym typeface="Inter"/>
              </a:rPr>
              <a:t>Finding the motion vector for different blocks of the current frame is completely independent. However, the inner distance-halving iterations must be executed sequentially (RAW loop-carried dependency).</a:t>
            </a:r>
            <a:endParaRPr sz="1300">
              <a:solidFill>
                <a:srgbClr val="475569"/>
              </a:solidFill>
              <a:latin typeface="Inter"/>
              <a:ea typeface="Inter"/>
              <a:cs typeface="Inter"/>
              <a:sym typeface="Inter"/>
            </a:endParaRPr>
          </a:p>
        </p:txBody>
      </p:sp>
      <p:sp>
        <p:nvSpPr>
          <p:cNvPr id="942" name="Google Shape;942;p75"/>
          <p:cNvSpPr txBox="1"/>
          <p:nvPr/>
        </p:nvSpPr>
        <p:spPr>
          <a:xfrm>
            <a:off x="1000125" y="4855325"/>
            <a:ext cx="381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it-IT"/>
              <a:t>⚠️</a:t>
            </a:r>
            <a:endParaRPr/>
          </a:p>
        </p:txBody>
      </p:sp>
      <p:sp>
        <p:nvSpPr>
          <p:cNvPr id="943" name="Google Shape;943;p75"/>
          <p:cNvSpPr/>
          <p:nvPr/>
        </p:nvSpPr>
        <p:spPr>
          <a:xfrm>
            <a:off x="6937750" y="1287725"/>
            <a:ext cx="4605600" cy="5068500"/>
          </a:xfrm>
          <a:prstGeom prst="roundRect">
            <a:avLst>
              <a:gd fmla="val 2832"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44" name="Google Shape;944;p75"/>
          <p:cNvSpPr txBox="1"/>
          <p:nvPr/>
        </p:nvSpPr>
        <p:spPr>
          <a:xfrm>
            <a:off x="6937750" y="1488250"/>
            <a:ext cx="4752600" cy="48681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Clr>
                <a:schemeClr val="dk1"/>
              </a:buClr>
              <a:buSzPts val="1100"/>
              <a:buFont typeface="Arial"/>
              <a:buNone/>
            </a:pPr>
            <a:r>
              <a:rPr i="1" lang="it-IT" sz="700">
                <a:solidFill>
                  <a:srgbClr val="A05000"/>
                </a:solidFill>
                <a:latin typeface="Roboto Mono"/>
                <a:ea typeface="Roboto Mono"/>
                <a:cs typeface="Roboto Mono"/>
                <a:sym typeface="Roboto Mono"/>
              </a:rPr>
              <a:t>// Iterate over every block of the current frame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current block, top-left in pixels</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search center</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Logarithmic search: halve distance each iteration (RAW loop-carried dependency)</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searchDistance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&gt;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0</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&gt;&gt;=</a:t>
            </a:r>
            <a:r>
              <a:rPr lang="it-IT" sz="700">
                <a:latin typeface="Roboto Mono"/>
                <a:ea typeface="Roboto Mono"/>
                <a:cs typeface="Roboto Mono"/>
                <a:sym typeface="Roboto Mono"/>
              </a:rPr>
              <a:t> </a:t>
            </a:r>
            <a:r>
              <a:rPr lang="it-IT" sz="700">
                <a:solidFill>
                  <a:srgbClr val="106040"/>
                </a:solidFill>
                <a:latin typeface="Roboto Mono"/>
                <a:ea typeface="Roboto Mono"/>
                <a:cs typeface="Roboto Mono"/>
                <a:sym typeface="Roboto Mono"/>
              </a:rPr>
              <a:t>1</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INT_MAX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bestDist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INT_MAX</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Iterate over the 9 candidate positions around the search center, at distance 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(-d,d) (0,d) (d,d) / (-d,0) (0,0) (d,0) / (-d,-d) (0,-d) (d,-d)</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for</a:t>
            </a: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check frame bounds</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compute SAD between the current block and this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computeSAD</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curr</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ref_y</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blockSize</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008050"/>
                </a:solidFill>
                <a:latin typeface="Roboto Mono"/>
                <a:ea typeface="Roboto Mono"/>
                <a:cs typeface="Roboto Mono"/>
                <a:sym typeface="Roboto Mono"/>
              </a:rPr>
              <a:t>int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tie-break on distance; remaining ties broken implicitly by scan order (ry, rx)</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b="1" lang="it-IT" sz="700">
                <a:solidFill>
                  <a:srgbClr val="700080"/>
                </a:solidFill>
                <a:latin typeface="Roboto Mono"/>
                <a:ea typeface="Roboto Mono"/>
                <a:cs typeface="Roboto Mono"/>
                <a:sym typeface="Roboto Mono"/>
              </a:rPr>
              <a:t>if</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&amp;&amp;</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&lt;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bestDist</a:t>
            </a: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current best SAD and MV</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bestSAD</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sad</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bestDist</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dist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cand_by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bestCy</a:t>
            </a: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move search center to the best candidate</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i="1" lang="it-IT" sz="700">
                <a:solidFill>
                  <a:srgbClr val="A05000"/>
                </a:solidFill>
                <a:latin typeface="Roboto Mono"/>
                <a:ea typeface="Roboto Mono"/>
                <a:cs typeface="Roboto Mono"/>
                <a:sym typeface="Roboto Mono"/>
              </a:rPr>
              <a:t>// store the final motion vector for this current frame block</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mv</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bestCx</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bx</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bestCy</a:t>
            </a:r>
            <a:r>
              <a:rPr lang="it-IT" sz="700">
                <a:latin typeface="Roboto Mono"/>
                <a:ea typeface="Roboto Mono"/>
                <a:cs typeface="Roboto Mono"/>
                <a:sym typeface="Roboto Mono"/>
              </a:rPr>
              <a:t> </a:t>
            </a:r>
            <a:r>
              <a:rPr b="1" lang="it-IT" sz="700">
                <a:solidFill>
                  <a:srgbClr val="EE11FF"/>
                </a:solidFill>
                <a:latin typeface="Roboto Mono"/>
                <a:ea typeface="Roboto Mono"/>
                <a:cs typeface="Roboto Mono"/>
                <a:sym typeface="Roboto Mono"/>
              </a:rPr>
              <a:t>-</a:t>
            </a:r>
            <a:r>
              <a:rPr lang="it-IT" sz="700">
                <a:latin typeface="Roboto Mono"/>
                <a:ea typeface="Roboto Mono"/>
                <a:cs typeface="Roboto Mono"/>
                <a:sym typeface="Roboto Mono"/>
              </a:rPr>
              <a:t> </a:t>
            </a:r>
            <a:r>
              <a:rPr lang="it-IT" sz="700">
                <a:solidFill>
                  <a:srgbClr val="1AB1CD"/>
                </a:solidFill>
                <a:latin typeface="Roboto Mono"/>
                <a:ea typeface="Roboto Mono"/>
                <a:cs typeface="Roboto Mono"/>
                <a:sym typeface="Roboto Mono"/>
              </a:rPr>
              <a:t>by</a:t>
            </a: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 }</a:t>
            </a:r>
            <a:endParaRPr sz="700">
              <a:latin typeface="Roboto Mono"/>
              <a:ea typeface="Roboto Mono"/>
              <a:cs typeface="Roboto Mono"/>
              <a:sym typeface="Roboto Mono"/>
            </a:endParaRPr>
          </a:p>
          <a:p>
            <a:pPr indent="0" lvl="0" marL="0" rtl="0" algn="l">
              <a:lnSpc>
                <a:spcPct val="135714"/>
              </a:lnSpc>
              <a:spcBef>
                <a:spcPts val="0"/>
              </a:spcBef>
              <a:spcAft>
                <a:spcPts val="0"/>
              </a:spcAft>
              <a:buClr>
                <a:schemeClr val="dk1"/>
              </a:buClr>
              <a:buSzPts val="1100"/>
              <a:buFont typeface="Arial"/>
              <a:buNone/>
            </a:pPr>
            <a:r>
              <a:rPr lang="it-IT" sz="700">
                <a:latin typeface="Roboto Mono"/>
                <a:ea typeface="Roboto Mono"/>
                <a:cs typeface="Roboto Mono"/>
                <a:sym typeface="Roboto Mono"/>
              </a:rPr>
              <a:t>}</a:t>
            </a:r>
            <a:endParaRPr sz="7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700">
              <a:latin typeface="Roboto Mono"/>
              <a:ea typeface="Roboto Mono"/>
              <a:cs typeface="Roboto Mono"/>
              <a:sym typeface="Roboto Mono"/>
            </a:endParaRPr>
          </a:p>
        </p:txBody>
      </p:sp>
      <p:grpSp>
        <p:nvGrpSpPr>
          <p:cNvPr id="945" name="Google Shape;945;p75"/>
          <p:cNvGrpSpPr/>
          <p:nvPr/>
        </p:nvGrpSpPr>
        <p:grpSpPr>
          <a:xfrm>
            <a:off x="7048974" y="1317223"/>
            <a:ext cx="2801736" cy="161535"/>
            <a:chOff x="481108" y="4125175"/>
            <a:chExt cx="3630603" cy="187200"/>
          </a:xfrm>
        </p:grpSpPr>
        <p:pic>
          <p:nvPicPr>
            <p:cNvPr descr="image.png" id="946" name="Google Shape;946;p75"/>
            <p:cNvPicPr preferRelativeResize="0"/>
            <p:nvPr/>
          </p:nvPicPr>
          <p:blipFill rotWithShape="1">
            <a:blip r:embed="rId4">
              <a:alphaModFix/>
            </a:blip>
            <a:srcRect b="0" l="0" r="0" t="0"/>
            <a:stretch/>
          </p:blipFill>
          <p:spPr>
            <a:xfrm>
              <a:off x="481108" y="4152100"/>
              <a:ext cx="104775" cy="133350"/>
            </a:xfrm>
            <a:prstGeom prst="rect">
              <a:avLst/>
            </a:prstGeom>
            <a:noFill/>
            <a:ln>
              <a:noFill/>
            </a:ln>
          </p:spPr>
        </p:pic>
        <p:sp>
          <p:nvSpPr>
            <p:cNvPr id="947" name="Google Shape;947;p75"/>
            <p:cNvSpPr txBox="1"/>
            <p:nvPr/>
          </p:nvSpPr>
          <p:spPr>
            <a:xfrm>
              <a:off x="692911" y="4125175"/>
              <a:ext cx="3418800" cy="18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1050"/>
                <a:buFont typeface="Arial"/>
                <a:buNone/>
              </a:pPr>
              <a:r>
                <a:rPr lang="it-IT" sz="1050">
                  <a:solidFill>
                    <a:srgbClr val="666666"/>
                  </a:solidFill>
                  <a:latin typeface="Inter"/>
                  <a:ea typeface="Inter"/>
                  <a:cs typeface="Inter"/>
                  <a:sym typeface="Inter"/>
                </a:rPr>
                <a:t>logarithmic</a:t>
              </a:r>
              <a:r>
                <a:rPr lang="it-IT" sz="1050">
                  <a:solidFill>
                    <a:srgbClr val="666666"/>
                  </a:solidFill>
                  <a:latin typeface="Inter"/>
                  <a:ea typeface="Inter"/>
                  <a:cs typeface="Inter"/>
                  <a:sym typeface="Inter"/>
                </a:rPr>
                <a:t>SearchBM_cpu_naive.cpp</a:t>
              </a:r>
              <a:endParaRPr sz="1050">
                <a:solidFill>
                  <a:srgbClr val="666666"/>
                </a:solidFill>
                <a:latin typeface="Inter"/>
                <a:ea typeface="Inter"/>
                <a:cs typeface="Inter"/>
                <a:sym typeface="Inter"/>
              </a:endParaRPr>
            </a:p>
          </p:txBody>
        </p:sp>
      </p:grpSp>
      <p:cxnSp>
        <p:nvCxnSpPr>
          <p:cNvPr id="948" name="Google Shape;948;p75"/>
          <p:cNvCxnSpPr/>
          <p:nvPr/>
        </p:nvCxnSpPr>
        <p:spPr>
          <a:xfrm>
            <a:off x="6934600" y="1483500"/>
            <a:ext cx="4765800" cy="0"/>
          </a:xfrm>
          <a:prstGeom prst="straightConnector1">
            <a:avLst/>
          </a:prstGeom>
          <a:noFill/>
          <a:ln cap="flat" cmpd="sng" w="9525">
            <a:solidFill>
              <a:srgbClr val="B7B7B7"/>
            </a:solidFill>
            <a:prstDash val="solid"/>
            <a:round/>
            <a:headEnd len="med" w="med" type="none"/>
            <a:tailEnd len="med" w="med" type="none"/>
          </a:ln>
        </p:spPr>
      </p:cxnSp>
      <p:sp>
        <p:nvSpPr>
          <p:cNvPr id="949" name="Google Shape;949;p75"/>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53" name="Shape 953"/>
        <p:cNvGrpSpPr/>
        <p:nvPr/>
      </p:nvGrpSpPr>
      <p:grpSpPr>
        <a:xfrm>
          <a:off x="0" y="0"/>
          <a:ext cx="0" cy="0"/>
          <a:chOff x="0" y="0"/>
          <a:chExt cx="0" cy="0"/>
        </a:xfrm>
      </p:grpSpPr>
      <p:sp>
        <p:nvSpPr>
          <p:cNvPr id="954" name="Google Shape;954;p76"/>
          <p:cNvSpPr txBox="1"/>
          <p:nvPr/>
        </p:nvSpPr>
        <p:spPr>
          <a:xfrm>
            <a:off x="771525" y="1231625"/>
            <a:ext cx="5476500" cy="25629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it-IT" sz="1850">
                <a:solidFill>
                  <a:srgbClr val="475569"/>
                </a:solidFill>
                <a:latin typeface="Inter"/>
                <a:ea typeface="Inter"/>
                <a:cs typeface="Inter"/>
                <a:sym typeface="Inter"/>
              </a:rPr>
              <a:t>The algorithm employs an iterative multi-dimensional mapping, where the host halves the search distance and launches a new kernel at each step:</a:t>
            </a:r>
            <a:endParaRPr sz="18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b="1" lang="it-IT" sz="1850">
                <a:solidFill>
                  <a:srgbClr val="475569"/>
                </a:solidFill>
                <a:latin typeface="Inter"/>
                <a:ea typeface="Inter"/>
                <a:cs typeface="Inter"/>
                <a:sym typeface="Inter"/>
              </a:rPr>
              <a:t>CUDA grid 3D:</a:t>
            </a:r>
            <a:r>
              <a:rPr lang="it-IT" sz="1850">
                <a:solidFill>
                  <a:srgbClr val="475569"/>
                </a:solidFill>
                <a:latin typeface="Inter"/>
                <a:ea typeface="Inter"/>
                <a:cs typeface="Inter"/>
                <a:sym typeface="Inter"/>
              </a:rPr>
              <a:t> the first 2 axes XY maps the frame grid. Simultaneously, the Z axis to the 9 candidate blocks in the reference.</a:t>
            </a:r>
            <a:endParaRPr sz="18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b="1" lang="it-IT" sz="1850">
                <a:solidFill>
                  <a:srgbClr val="475569"/>
                </a:solidFill>
                <a:latin typeface="Inter"/>
                <a:ea typeface="Inter"/>
                <a:cs typeface="Inter"/>
                <a:sym typeface="Inter"/>
              </a:rPr>
              <a:t>CUDA block 1D</a:t>
            </a:r>
            <a:r>
              <a:rPr lang="it-IT" sz="1850">
                <a:solidFill>
                  <a:srgbClr val="475569"/>
                </a:solidFill>
                <a:latin typeface="Inter"/>
                <a:ea typeface="Inter"/>
                <a:cs typeface="Inter"/>
                <a:sym typeface="Inter"/>
              </a:rPr>
              <a:t>: parallelize the SAD computation.</a:t>
            </a:r>
            <a:endParaRPr sz="1850">
              <a:solidFill>
                <a:srgbClr val="475569"/>
              </a:solidFill>
              <a:latin typeface="Inter"/>
              <a:ea typeface="Inter"/>
              <a:cs typeface="Inter"/>
              <a:sym typeface="Inter"/>
            </a:endParaRPr>
          </a:p>
        </p:txBody>
      </p:sp>
      <p:sp>
        <p:nvSpPr>
          <p:cNvPr id="955" name="Google Shape;955;p76"/>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a:t>
            </a:r>
            <a:endParaRPr b="0" i="0" sz="1400" u="none" cap="none" strike="noStrike">
              <a:solidFill>
                <a:srgbClr val="000000"/>
              </a:solidFill>
              <a:latin typeface="Arial"/>
              <a:ea typeface="Arial"/>
              <a:cs typeface="Arial"/>
              <a:sym typeface="Arial"/>
            </a:endParaRPr>
          </a:p>
        </p:txBody>
      </p:sp>
      <p:sp>
        <p:nvSpPr>
          <p:cNvPr id="956" name="Google Shape;956;p76"/>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7" name="Google Shape;957;p76"/>
          <p:cNvSpPr txBox="1"/>
          <p:nvPr/>
        </p:nvSpPr>
        <p:spPr>
          <a:xfrm>
            <a:off x="6419750" y="1231625"/>
            <a:ext cx="5614200" cy="3809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Workflow idea: Device Side (per iteration)</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Kernel SAD:</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Loading SMEM</a:t>
            </a:r>
            <a:r>
              <a:rPr lang="it-IT" sz="1650">
                <a:solidFill>
                  <a:srgbClr val="475569"/>
                </a:solidFill>
                <a:latin typeface="Inter"/>
                <a:ea typeface="Inter"/>
                <a:cs typeface="Inter"/>
                <a:sym typeface="Inter"/>
              </a:rPr>
              <a:t>: cooperatively load required frame blocks into SMEM.</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Center update</a:t>
            </a:r>
            <a:r>
              <a:rPr lang="it-IT" sz="1650">
                <a:solidFill>
                  <a:srgbClr val="475569"/>
                </a:solidFill>
                <a:latin typeface="Inter"/>
                <a:ea typeface="Inter"/>
                <a:cs typeface="Inter"/>
                <a:sym typeface="Inter"/>
              </a:rPr>
              <a:t>: each block sets its search origin from the previous iteration's best match.</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b="1" lang="it-IT" sz="1650">
                <a:solidFill>
                  <a:srgbClr val="475569"/>
                </a:solidFill>
                <a:latin typeface="Inter"/>
                <a:ea typeface="Inter"/>
                <a:cs typeface="Inter"/>
                <a:sym typeface="Inter"/>
              </a:rPr>
              <a:t>Intra-Candidate Reduction</a:t>
            </a:r>
            <a:r>
              <a:rPr lang="it-IT" sz="1650">
                <a:solidFill>
                  <a:srgbClr val="475569"/>
                </a:solidFill>
                <a:latin typeface="Inter"/>
                <a:ea typeface="Inter"/>
                <a:cs typeface="Inter"/>
                <a:sym typeface="Inter"/>
              </a:rPr>
              <a:t>: threads compute partial SADs and reduce to get the total SAD for this candidate.</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b="1" lang="it-IT" sz="1650">
                <a:solidFill>
                  <a:srgbClr val="475569"/>
                </a:solidFill>
                <a:latin typeface="Inter"/>
                <a:ea typeface="Inter"/>
                <a:cs typeface="Inter"/>
                <a:sym typeface="Inter"/>
              </a:rPr>
              <a:t>CUB Segmented reduce</a:t>
            </a:r>
            <a:r>
              <a:rPr lang="it-IT" sz="1650">
                <a:solidFill>
                  <a:srgbClr val="475569"/>
                </a:solidFill>
                <a:latin typeface="Inter"/>
                <a:ea typeface="Inter"/>
                <a:cs typeface="Inter"/>
                <a:sym typeface="Inter"/>
              </a:rPr>
              <a:t>: across the 9 candidates per block, find the best candidate,used as the search center for the next iteration, or, at the last iteration, as the final best match for that current frame block.</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b="1" sz="1650">
              <a:solidFill>
                <a:srgbClr val="475569"/>
              </a:solidFill>
              <a:latin typeface="Inter"/>
              <a:ea typeface="Inter"/>
              <a:cs typeface="Inter"/>
              <a:sym typeface="Inter"/>
            </a:endParaRPr>
          </a:p>
        </p:txBody>
      </p:sp>
      <p:sp>
        <p:nvSpPr>
          <p:cNvPr id="958" name="Google Shape;958;p76"/>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959" name="Google Shape;959;p76"/>
          <p:cNvSpPr txBox="1"/>
          <p:nvPr/>
        </p:nvSpPr>
        <p:spPr>
          <a:xfrm>
            <a:off x="702675" y="3949825"/>
            <a:ext cx="5614200" cy="2793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Workflow idea: Host Side</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Transfer (H2D) current and reference frames into GMEM.</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Iterate, halving the search distance down to 1:</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Dynamic selection of the optimal caching strategy, based on available SMEM.</a:t>
            </a:r>
            <a:endParaRPr sz="1650">
              <a:solidFill>
                <a:srgbClr val="475569"/>
              </a:solidFill>
              <a:latin typeface="Inter"/>
              <a:ea typeface="Inter"/>
              <a:cs typeface="Inter"/>
              <a:sym typeface="Inter"/>
            </a:endParaRPr>
          </a:p>
          <a:p>
            <a:pPr indent="-333375" lvl="1" marL="914400" rtl="0" algn="l">
              <a:spcBef>
                <a:spcPts val="0"/>
              </a:spcBef>
              <a:spcAft>
                <a:spcPts val="0"/>
              </a:spcAft>
              <a:buClr>
                <a:srgbClr val="475569"/>
              </a:buClr>
              <a:buSzPts val="1650"/>
              <a:buFont typeface="Inter"/>
              <a:buAutoNum type="alphaLcPeriod"/>
            </a:pPr>
            <a:r>
              <a:rPr lang="it-IT" sz="1650">
                <a:solidFill>
                  <a:srgbClr val="475569"/>
                </a:solidFill>
                <a:latin typeface="Inter"/>
                <a:ea typeface="Inter"/>
                <a:cs typeface="Inter"/>
                <a:sym typeface="Inter"/>
              </a:rPr>
              <a:t>Launch the kernel to evaluate the candidate, then reduce the results to update the best candidate for each block before proceeding to the next iteration.</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AutoNum type="arabicPeriod"/>
            </a:pPr>
            <a:r>
              <a:rPr lang="it-IT" sz="1650">
                <a:solidFill>
                  <a:srgbClr val="475569"/>
                </a:solidFill>
                <a:latin typeface="Inter"/>
                <a:ea typeface="Inter"/>
                <a:cs typeface="Inter"/>
                <a:sym typeface="Inter"/>
              </a:rPr>
              <a:t>Read final result from GMEM (D2H).</a:t>
            </a:r>
            <a:endParaRPr sz="1650">
              <a:solidFill>
                <a:srgbClr val="475569"/>
              </a:solidFill>
              <a:latin typeface="Inter"/>
              <a:ea typeface="Inter"/>
              <a:cs typeface="Inter"/>
              <a:sym typeface="Inte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63" name="Shape 963"/>
        <p:cNvGrpSpPr/>
        <p:nvPr/>
      </p:nvGrpSpPr>
      <p:grpSpPr>
        <a:xfrm>
          <a:off x="0" y="0"/>
          <a:ext cx="0" cy="0"/>
          <a:chOff x="0" y="0"/>
          <a:chExt cx="0" cy="0"/>
        </a:xfrm>
      </p:grpSpPr>
      <p:pic>
        <p:nvPicPr>
          <p:cNvPr id="964" name="Google Shape;964;p77"/>
          <p:cNvPicPr preferRelativeResize="0"/>
          <p:nvPr/>
        </p:nvPicPr>
        <p:blipFill>
          <a:blip r:embed="rId4">
            <a:alphaModFix/>
          </a:blip>
          <a:stretch>
            <a:fillRect/>
          </a:stretch>
        </p:blipFill>
        <p:spPr>
          <a:xfrm>
            <a:off x="1315685" y="4520042"/>
            <a:ext cx="2210626" cy="1451724"/>
          </a:xfrm>
          <a:prstGeom prst="rect">
            <a:avLst/>
          </a:prstGeom>
          <a:noFill/>
          <a:ln>
            <a:noFill/>
          </a:ln>
        </p:spPr>
      </p:pic>
      <p:sp>
        <p:nvSpPr>
          <p:cNvPr id="965" name="Google Shape;965;p77"/>
          <p:cNvSpPr txBox="1"/>
          <p:nvPr/>
        </p:nvSpPr>
        <p:spPr>
          <a:xfrm>
            <a:off x="771525" y="1546088"/>
            <a:ext cx="5614200" cy="20934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GridDim: 3 dimensions [blockX, blockY, 9]</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XY Dimensions map directly to the position of the block within the current frame.</a:t>
            </a:r>
            <a:endParaRPr sz="1650">
              <a:solidFill>
                <a:srgbClr val="475569"/>
              </a:solidFill>
              <a:latin typeface="Inter"/>
              <a:ea typeface="Inter"/>
              <a:cs typeface="Inter"/>
              <a:sym typeface="Inter"/>
            </a:endParaRPr>
          </a:p>
          <a:p>
            <a:pPr indent="-346075" lvl="0" marL="457200" rtl="0" algn="l">
              <a:spcBef>
                <a:spcPts val="0"/>
              </a:spcBef>
              <a:spcAft>
                <a:spcPts val="0"/>
              </a:spcAft>
              <a:buClr>
                <a:srgbClr val="475569"/>
              </a:buClr>
              <a:buSzPts val="1850"/>
              <a:buFont typeface="Inter"/>
              <a:buChar char="●"/>
            </a:pPr>
            <a:r>
              <a:rPr lang="it-IT" sz="1650">
                <a:solidFill>
                  <a:srgbClr val="475569"/>
                </a:solidFill>
                <a:latin typeface="Inter"/>
                <a:ea typeface="Inter"/>
                <a:cs typeface="Inter"/>
                <a:sym typeface="Inter"/>
              </a:rPr>
              <a:t>Z Dimension parallelize the search workload. Each block computes the SAD value between the current XY block and its assigned candidate reference frame block.</a:t>
            </a:r>
            <a:endParaRPr sz="1850">
              <a:solidFill>
                <a:srgbClr val="475569"/>
              </a:solidFill>
              <a:latin typeface="Inter"/>
              <a:ea typeface="Inter"/>
              <a:cs typeface="Inter"/>
              <a:sym typeface="Inter"/>
            </a:endParaRPr>
          </a:p>
          <a:p>
            <a:pPr indent="0" lvl="0" marL="0" rtl="0" algn="l">
              <a:spcBef>
                <a:spcPts val="0"/>
              </a:spcBef>
              <a:spcAft>
                <a:spcPts val="0"/>
              </a:spcAft>
              <a:buNone/>
            </a:pPr>
            <a:r>
              <a:t/>
            </a:r>
            <a:endParaRPr b="1" sz="1850">
              <a:solidFill>
                <a:srgbClr val="475569"/>
              </a:solidFill>
              <a:latin typeface="Inter"/>
              <a:ea typeface="Inter"/>
              <a:cs typeface="Inter"/>
              <a:sym typeface="Inter"/>
            </a:endParaRPr>
          </a:p>
        </p:txBody>
      </p:sp>
      <p:sp>
        <p:nvSpPr>
          <p:cNvPr id="966" name="Google Shape;966;p77"/>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grid and block dimensions</a:t>
            </a:r>
            <a:endParaRPr b="0" sz="1400" u="none" cap="none" strike="noStrike">
              <a:solidFill>
                <a:srgbClr val="000000"/>
              </a:solidFill>
              <a:latin typeface="Arial"/>
              <a:ea typeface="Arial"/>
              <a:cs typeface="Arial"/>
              <a:sym typeface="Arial"/>
            </a:endParaRPr>
          </a:p>
        </p:txBody>
      </p:sp>
      <p:sp>
        <p:nvSpPr>
          <p:cNvPr id="967" name="Google Shape;967;p77"/>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77"/>
          <p:cNvSpPr txBox="1"/>
          <p:nvPr/>
        </p:nvSpPr>
        <p:spPr>
          <a:xfrm>
            <a:off x="6482113" y="1546100"/>
            <a:ext cx="5405100" cy="2285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BlockDim: 1 dimension [block size*block size]</a:t>
            </a:r>
            <a:endParaRPr b="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pixels of the current and reference frame block pair assigned to this CUDA block are divided among threads, each thread calculates the partial SAD for its assigned subset of pixels.</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The host maximizes the thread count up to the hardware limit or total pixel count, strictly enforcing a power of 2 for a safe parallel reduction.</a:t>
            </a:r>
            <a:endParaRPr b="1" sz="1650">
              <a:solidFill>
                <a:srgbClr val="475569"/>
              </a:solidFill>
              <a:latin typeface="Inter"/>
              <a:ea typeface="Inter"/>
              <a:cs typeface="Inter"/>
              <a:sym typeface="Inter"/>
            </a:endParaRPr>
          </a:p>
        </p:txBody>
      </p:sp>
      <p:sp>
        <p:nvSpPr>
          <p:cNvPr id="969" name="Google Shape;969;p77"/>
          <p:cNvSpPr/>
          <p:nvPr/>
        </p:nvSpPr>
        <p:spPr>
          <a:xfrm>
            <a:off x="1147763" y="6214387"/>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grid</a:t>
            </a:r>
            <a:endParaRPr sz="1000">
              <a:solidFill>
                <a:srgbClr val="0F172A"/>
              </a:solidFill>
              <a:latin typeface="Outfit"/>
              <a:ea typeface="Outfit"/>
              <a:cs typeface="Outfit"/>
              <a:sym typeface="Outfit"/>
            </a:endParaRPr>
          </a:p>
        </p:txBody>
      </p:sp>
      <p:cxnSp>
        <p:nvCxnSpPr>
          <p:cNvPr id="970" name="Google Shape;970;p77"/>
          <p:cNvCxnSpPr/>
          <p:nvPr/>
        </p:nvCxnSpPr>
        <p:spPr>
          <a:xfrm>
            <a:off x="1387850" y="5971763"/>
            <a:ext cx="1128000" cy="12600"/>
          </a:xfrm>
          <a:prstGeom prst="straightConnector1">
            <a:avLst/>
          </a:prstGeom>
          <a:noFill/>
          <a:ln cap="flat" cmpd="sng" w="28575">
            <a:solidFill>
              <a:srgbClr val="757575"/>
            </a:solidFill>
            <a:prstDash val="solid"/>
            <a:round/>
            <a:headEnd len="med" w="med" type="none"/>
            <a:tailEnd len="med" w="med" type="stealth"/>
          </a:ln>
        </p:spPr>
      </p:cxnSp>
      <p:sp>
        <p:nvSpPr>
          <p:cNvPr id="971" name="Google Shape;971;p77"/>
          <p:cNvSpPr txBox="1"/>
          <p:nvPr/>
        </p:nvSpPr>
        <p:spPr>
          <a:xfrm>
            <a:off x="1759913" y="5950763"/>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sp>
        <p:nvSpPr>
          <p:cNvPr id="972" name="Google Shape;972;p77"/>
          <p:cNvSpPr/>
          <p:nvPr/>
        </p:nvSpPr>
        <p:spPr>
          <a:xfrm>
            <a:off x="3592850" y="5929125"/>
            <a:ext cx="2099700" cy="5145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blockIdx.x: blockX</a:t>
            </a:r>
            <a:endParaRPr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blockIdx.y: BlockY</a:t>
            </a:r>
            <a:endParaRPr b="1" sz="1150">
              <a:solidFill>
                <a:srgbClr val="475569"/>
              </a:solidFill>
              <a:latin typeface="Inter"/>
              <a:ea typeface="Inter"/>
              <a:cs typeface="Inter"/>
              <a:sym typeface="Inter"/>
            </a:endParaRPr>
          </a:p>
          <a:p>
            <a:pPr indent="0" lvl="0" marL="0" rtl="0" algn="l">
              <a:spcBef>
                <a:spcPts val="0"/>
              </a:spcBef>
              <a:spcAft>
                <a:spcPts val="0"/>
              </a:spcAft>
              <a:buNone/>
            </a:pPr>
            <a:r>
              <a:rPr b="1" lang="it-IT" sz="1150">
                <a:solidFill>
                  <a:srgbClr val="475569"/>
                </a:solidFill>
                <a:latin typeface="Inter"/>
                <a:ea typeface="Inter"/>
                <a:cs typeface="Inter"/>
                <a:sym typeface="Inter"/>
              </a:rPr>
              <a:t>blockIdx.z:BlockY*blockZ</a:t>
            </a:r>
            <a:endParaRPr b="1" sz="1150">
              <a:solidFill>
                <a:srgbClr val="475569"/>
              </a:solidFill>
              <a:latin typeface="Inter"/>
              <a:ea typeface="Inter"/>
              <a:cs typeface="Inter"/>
              <a:sym typeface="Inter"/>
            </a:endParaRPr>
          </a:p>
          <a:p>
            <a:pPr indent="0" lvl="0" marL="0" rtl="0" algn="l">
              <a:spcBef>
                <a:spcPts val="0"/>
              </a:spcBef>
              <a:spcAft>
                <a:spcPts val="0"/>
              </a:spcAft>
              <a:buNone/>
            </a:pPr>
            <a:r>
              <a:t/>
            </a:r>
            <a:endParaRPr b="1" sz="1150">
              <a:solidFill>
                <a:srgbClr val="475569"/>
              </a:solidFill>
              <a:latin typeface="Inter"/>
              <a:ea typeface="Inter"/>
              <a:cs typeface="Inter"/>
              <a:sym typeface="Inter"/>
            </a:endParaRPr>
          </a:p>
        </p:txBody>
      </p:sp>
      <p:cxnSp>
        <p:nvCxnSpPr>
          <p:cNvPr id="973" name="Google Shape;973;p77"/>
          <p:cNvCxnSpPr>
            <a:endCxn id="972" idx="0"/>
          </p:cNvCxnSpPr>
          <p:nvPr/>
        </p:nvCxnSpPr>
        <p:spPr>
          <a:xfrm>
            <a:off x="3438800" y="5560125"/>
            <a:ext cx="1203900" cy="369000"/>
          </a:xfrm>
          <a:prstGeom prst="straightConnector1">
            <a:avLst/>
          </a:prstGeom>
          <a:noFill/>
          <a:ln cap="flat" cmpd="sng" w="38100">
            <a:solidFill>
              <a:srgbClr val="757575"/>
            </a:solidFill>
            <a:prstDash val="solid"/>
            <a:round/>
            <a:headEnd len="med" w="med" type="stealth"/>
            <a:tailEnd len="med" w="med" type="none"/>
          </a:ln>
        </p:spPr>
      </p:cxnSp>
      <p:cxnSp>
        <p:nvCxnSpPr>
          <p:cNvPr id="974" name="Google Shape;974;p77"/>
          <p:cNvCxnSpPr/>
          <p:nvPr/>
        </p:nvCxnSpPr>
        <p:spPr>
          <a:xfrm flipH="1" rot="10800000">
            <a:off x="1279223" y="4481179"/>
            <a:ext cx="1128300" cy="327600"/>
          </a:xfrm>
          <a:prstGeom prst="straightConnector1">
            <a:avLst/>
          </a:prstGeom>
          <a:noFill/>
          <a:ln cap="flat" cmpd="sng" w="28575">
            <a:solidFill>
              <a:srgbClr val="757575"/>
            </a:solidFill>
            <a:prstDash val="solid"/>
            <a:round/>
            <a:headEnd len="med" w="med" type="none"/>
            <a:tailEnd len="med" w="med" type="stealth"/>
          </a:ln>
        </p:spPr>
      </p:cxnSp>
      <p:sp>
        <p:nvSpPr>
          <p:cNvPr id="975" name="Google Shape;975;p77"/>
          <p:cNvSpPr txBox="1"/>
          <p:nvPr/>
        </p:nvSpPr>
        <p:spPr>
          <a:xfrm rot="-955898">
            <a:off x="1585991" y="4363325"/>
            <a:ext cx="514772" cy="331973"/>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Dz</a:t>
            </a:r>
            <a:endParaRPr sz="1150">
              <a:solidFill>
                <a:srgbClr val="475569"/>
              </a:solidFill>
              <a:latin typeface="Inter"/>
              <a:ea typeface="Inter"/>
              <a:cs typeface="Inter"/>
              <a:sym typeface="Inter"/>
            </a:endParaRPr>
          </a:p>
        </p:txBody>
      </p:sp>
      <p:sp>
        <p:nvSpPr>
          <p:cNvPr id="976" name="Google Shape;976;p77"/>
          <p:cNvSpPr txBox="1"/>
          <p:nvPr/>
        </p:nvSpPr>
        <p:spPr>
          <a:xfrm rot="-5400000">
            <a:off x="804400" y="5166925"/>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Dy</a:t>
            </a:r>
            <a:endParaRPr sz="1000">
              <a:solidFill>
                <a:schemeClr val="dk1"/>
              </a:solidFill>
              <a:latin typeface="Calibri"/>
              <a:ea typeface="Calibri"/>
              <a:cs typeface="Calibri"/>
              <a:sym typeface="Calibri"/>
            </a:endParaRPr>
          </a:p>
        </p:txBody>
      </p:sp>
      <p:cxnSp>
        <p:nvCxnSpPr>
          <p:cNvPr id="977" name="Google Shape;977;p77"/>
          <p:cNvCxnSpPr/>
          <p:nvPr/>
        </p:nvCxnSpPr>
        <p:spPr>
          <a:xfrm flipH="1">
            <a:off x="1277425" y="4923713"/>
            <a:ext cx="1800" cy="1042200"/>
          </a:xfrm>
          <a:prstGeom prst="straightConnector1">
            <a:avLst/>
          </a:prstGeom>
          <a:noFill/>
          <a:ln cap="flat" cmpd="sng" w="28575">
            <a:solidFill>
              <a:srgbClr val="757575"/>
            </a:solidFill>
            <a:prstDash val="solid"/>
            <a:round/>
            <a:headEnd len="med" w="med" type="none"/>
            <a:tailEnd len="med" w="med" type="stealth"/>
          </a:ln>
        </p:spPr>
      </p:cxnSp>
      <p:sp>
        <p:nvSpPr>
          <p:cNvPr id="978" name="Google Shape;978;p77"/>
          <p:cNvSpPr/>
          <p:nvPr/>
        </p:nvSpPr>
        <p:spPr>
          <a:xfrm>
            <a:off x="885400" y="3414525"/>
            <a:ext cx="5405100" cy="7113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Compute SAD between:</a:t>
            </a:r>
            <a:endParaRPr b="1" sz="1150">
              <a:solidFill>
                <a:srgbClr val="475569"/>
              </a:solidFill>
              <a:latin typeface="Inter"/>
              <a:ea typeface="Inter"/>
              <a:cs typeface="Inter"/>
              <a:sym typeface="Inter"/>
            </a:endParaRPr>
          </a:p>
          <a:p>
            <a:pPr indent="-301625" lvl="0" marL="457200" rtl="0" algn="l">
              <a:spcBef>
                <a:spcPts val="0"/>
              </a:spcBef>
              <a:spcAft>
                <a:spcPts val="0"/>
              </a:spcAft>
              <a:buClr>
                <a:srgbClr val="475569"/>
              </a:buClr>
              <a:buSzPts val="1150"/>
              <a:buFont typeface="Inter"/>
              <a:buChar char="●"/>
            </a:pPr>
            <a:r>
              <a:rPr b="1" lang="it-IT" sz="1150">
                <a:solidFill>
                  <a:srgbClr val="475569"/>
                </a:solidFill>
                <a:latin typeface="Inter"/>
                <a:ea typeface="Inter"/>
                <a:cs typeface="Inter"/>
                <a:sym typeface="Inter"/>
              </a:rPr>
              <a:t>[x,y]</a:t>
            </a:r>
            <a:endParaRPr b="1" sz="1150">
              <a:solidFill>
                <a:srgbClr val="475569"/>
              </a:solidFill>
              <a:latin typeface="Inter"/>
              <a:ea typeface="Inter"/>
              <a:cs typeface="Inter"/>
              <a:sym typeface="Inter"/>
            </a:endParaRPr>
          </a:p>
          <a:p>
            <a:pPr indent="-301625" lvl="0" marL="457200" rtl="0" algn="l">
              <a:spcBef>
                <a:spcPts val="0"/>
              </a:spcBef>
              <a:spcAft>
                <a:spcPts val="0"/>
              </a:spcAft>
              <a:buClr>
                <a:srgbClr val="475569"/>
              </a:buClr>
              <a:buSzPts val="1150"/>
              <a:buFont typeface="Inter"/>
              <a:buChar char="●"/>
            </a:pPr>
            <a:r>
              <a:rPr b="1" lang="it-IT" sz="1150">
                <a:solidFill>
                  <a:srgbClr val="475569"/>
                </a:solidFill>
                <a:latin typeface="Inter"/>
                <a:ea typeface="Inter"/>
                <a:cs typeface="Inter"/>
                <a:sym typeface="Inter"/>
              </a:rPr>
              <a:t>[center_x + dx * searchDistance, center_y + dy * searchDistance]</a:t>
            </a:r>
            <a:endParaRPr b="1" sz="1150">
              <a:solidFill>
                <a:srgbClr val="475569"/>
              </a:solidFill>
              <a:latin typeface="Inter"/>
              <a:ea typeface="Inter"/>
              <a:cs typeface="Inter"/>
              <a:sym typeface="Inter"/>
            </a:endParaRPr>
          </a:p>
        </p:txBody>
      </p:sp>
      <p:cxnSp>
        <p:nvCxnSpPr>
          <p:cNvPr id="979" name="Google Shape;979;p77"/>
          <p:cNvCxnSpPr>
            <a:stCxn id="978" idx="2"/>
          </p:cNvCxnSpPr>
          <p:nvPr/>
        </p:nvCxnSpPr>
        <p:spPr>
          <a:xfrm flipH="1">
            <a:off x="2985850" y="4125825"/>
            <a:ext cx="602100" cy="842400"/>
          </a:xfrm>
          <a:prstGeom prst="straightConnector1">
            <a:avLst/>
          </a:prstGeom>
          <a:noFill/>
          <a:ln cap="flat" cmpd="sng" w="28575">
            <a:solidFill>
              <a:srgbClr val="757575"/>
            </a:solidFill>
            <a:prstDash val="solid"/>
            <a:round/>
            <a:headEnd len="med" w="med" type="none"/>
            <a:tailEnd len="med" w="med" type="stealth"/>
          </a:ln>
        </p:spPr>
      </p:cxnSp>
      <p:pic>
        <p:nvPicPr>
          <p:cNvPr id="980" name="Google Shape;980;p77"/>
          <p:cNvPicPr preferRelativeResize="0"/>
          <p:nvPr/>
        </p:nvPicPr>
        <p:blipFill>
          <a:blip r:embed="rId5">
            <a:alphaModFix/>
          </a:blip>
          <a:stretch>
            <a:fillRect/>
          </a:stretch>
        </p:blipFill>
        <p:spPr>
          <a:xfrm>
            <a:off x="6878036" y="4847563"/>
            <a:ext cx="4613276" cy="1008900"/>
          </a:xfrm>
          <a:prstGeom prst="rect">
            <a:avLst/>
          </a:prstGeom>
          <a:noFill/>
          <a:ln>
            <a:noFill/>
          </a:ln>
        </p:spPr>
      </p:pic>
      <p:cxnSp>
        <p:nvCxnSpPr>
          <p:cNvPr id="981" name="Google Shape;981;p77"/>
          <p:cNvCxnSpPr/>
          <p:nvPr/>
        </p:nvCxnSpPr>
        <p:spPr>
          <a:xfrm>
            <a:off x="8620663" y="5941938"/>
            <a:ext cx="1128000" cy="12600"/>
          </a:xfrm>
          <a:prstGeom prst="straightConnector1">
            <a:avLst/>
          </a:prstGeom>
          <a:noFill/>
          <a:ln cap="flat" cmpd="sng" w="28575">
            <a:solidFill>
              <a:srgbClr val="757575"/>
            </a:solidFill>
            <a:prstDash val="solid"/>
            <a:round/>
            <a:headEnd len="med" w="med" type="none"/>
            <a:tailEnd len="med" w="med" type="stealth"/>
          </a:ln>
        </p:spPr>
      </p:cxnSp>
      <p:sp>
        <p:nvSpPr>
          <p:cNvPr id="982" name="Google Shape;982;p77"/>
          <p:cNvSpPr txBox="1"/>
          <p:nvPr/>
        </p:nvSpPr>
        <p:spPr>
          <a:xfrm>
            <a:off x="9035875" y="5856438"/>
            <a:ext cx="514500" cy="3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it-IT" sz="1150">
                <a:solidFill>
                  <a:srgbClr val="475569"/>
                </a:solidFill>
                <a:latin typeface="Inter"/>
                <a:ea typeface="Inter"/>
                <a:cs typeface="Inter"/>
                <a:sym typeface="Inter"/>
              </a:rPr>
              <a:t>Dx</a:t>
            </a:r>
            <a:endParaRPr sz="1000">
              <a:solidFill>
                <a:schemeClr val="dk1"/>
              </a:solidFill>
              <a:latin typeface="Calibri"/>
              <a:ea typeface="Calibri"/>
              <a:cs typeface="Calibri"/>
              <a:sym typeface="Calibri"/>
            </a:endParaRPr>
          </a:p>
        </p:txBody>
      </p:sp>
      <p:sp>
        <p:nvSpPr>
          <p:cNvPr id="983" name="Google Shape;983;p77"/>
          <p:cNvSpPr/>
          <p:nvPr/>
        </p:nvSpPr>
        <p:spPr>
          <a:xfrm>
            <a:off x="8390263" y="6208950"/>
            <a:ext cx="1738800" cy="207600"/>
          </a:xfrm>
          <a:prstGeom prst="roundRect">
            <a:avLst>
              <a:gd fmla="val 50000" name="adj"/>
            </a:avLst>
          </a:prstGeom>
          <a:solidFill>
            <a:srgbClr val="D5E9E3"/>
          </a:solidFill>
          <a:ln>
            <a:noFill/>
          </a:ln>
          <a:effectLst>
            <a:outerShdw blurRad="171450" rotWithShape="0" algn="bl" dir="16200000" dist="76200">
              <a:srgbClr val="000000">
                <a:alpha val="5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rPr lang="it-IT" sz="1000">
                <a:solidFill>
                  <a:srgbClr val="0F172A"/>
                </a:solidFill>
                <a:latin typeface="Outfit"/>
                <a:ea typeface="Outfit"/>
                <a:cs typeface="Outfit"/>
                <a:sym typeface="Outfit"/>
              </a:rPr>
              <a:t>CUDA</a:t>
            </a:r>
            <a:r>
              <a:rPr lang="it-IT" sz="1000">
                <a:solidFill>
                  <a:srgbClr val="0F172A"/>
                </a:solidFill>
                <a:latin typeface="Outfit"/>
                <a:ea typeface="Outfit"/>
                <a:cs typeface="Outfit"/>
                <a:sym typeface="Outfit"/>
              </a:rPr>
              <a:t> Block</a:t>
            </a:r>
            <a:endParaRPr sz="1000">
              <a:solidFill>
                <a:srgbClr val="0F172A"/>
              </a:solidFill>
              <a:latin typeface="Outfit"/>
              <a:ea typeface="Outfit"/>
              <a:cs typeface="Outfit"/>
              <a:sym typeface="Outfit"/>
            </a:endParaRPr>
          </a:p>
        </p:txBody>
      </p:sp>
      <p:sp>
        <p:nvSpPr>
          <p:cNvPr id="984" name="Google Shape;984;p77"/>
          <p:cNvSpPr/>
          <p:nvPr/>
        </p:nvSpPr>
        <p:spPr>
          <a:xfrm>
            <a:off x="8118775" y="4443050"/>
            <a:ext cx="1629900" cy="461700"/>
          </a:xfrm>
          <a:prstGeom prst="roundRect">
            <a:avLst>
              <a:gd fmla="val 16667" name="adj"/>
            </a:avLst>
          </a:prstGeom>
          <a:solidFill>
            <a:schemeClr val="lt2"/>
          </a:solidFill>
          <a:ln cap="flat" cmpd="sng" w="9525">
            <a:solidFill>
              <a:srgbClr val="888888"/>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b="1" lang="it-IT" sz="1150">
                <a:solidFill>
                  <a:srgbClr val="475569"/>
                </a:solidFill>
                <a:latin typeface="Inter"/>
                <a:ea typeface="Inter"/>
                <a:cs typeface="Inter"/>
                <a:sym typeface="Inter"/>
              </a:rPr>
              <a:t>Compute partial SAD</a:t>
            </a:r>
            <a:endParaRPr b="1" sz="1150">
              <a:solidFill>
                <a:srgbClr val="475569"/>
              </a:solidFill>
              <a:latin typeface="Inter"/>
              <a:ea typeface="Inter"/>
              <a:cs typeface="Inter"/>
              <a:sym typeface="Inter"/>
            </a:endParaRPr>
          </a:p>
        </p:txBody>
      </p:sp>
      <p:cxnSp>
        <p:nvCxnSpPr>
          <p:cNvPr id="985" name="Google Shape;985;p77"/>
          <p:cNvCxnSpPr>
            <a:stCxn id="984" idx="2"/>
          </p:cNvCxnSpPr>
          <p:nvPr/>
        </p:nvCxnSpPr>
        <p:spPr>
          <a:xfrm flipH="1">
            <a:off x="8542525" y="4904750"/>
            <a:ext cx="391200" cy="270300"/>
          </a:xfrm>
          <a:prstGeom prst="straightConnector1">
            <a:avLst/>
          </a:prstGeom>
          <a:noFill/>
          <a:ln cap="flat" cmpd="sng" w="28575">
            <a:solidFill>
              <a:srgbClr val="757575"/>
            </a:solidFill>
            <a:prstDash val="solid"/>
            <a:round/>
            <a:headEnd len="med" w="med" type="none"/>
            <a:tailEnd len="med" w="med" type="stealth"/>
          </a:ln>
        </p:spPr>
      </p:cxnSp>
      <p:sp>
        <p:nvSpPr>
          <p:cNvPr id="986" name="Google Shape;986;p77"/>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990" name="Shape 990"/>
        <p:cNvGrpSpPr/>
        <p:nvPr/>
      </p:nvGrpSpPr>
      <p:grpSpPr>
        <a:xfrm>
          <a:off x="0" y="0"/>
          <a:ext cx="0" cy="0"/>
          <a:chOff x="0" y="0"/>
          <a:chExt cx="0" cy="0"/>
        </a:xfrm>
      </p:grpSpPr>
      <p:sp>
        <p:nvSpPr>
          <p:cNvPr id="991" name="Google Shape;991;p78"/>
          <p:cNvSpPr txBox="1"/>
          <p:nvPr/>
        </p:nvSpPr>
        <p:spPr>
          <a:xfrm>
            <a:off x="771525" y="1154650"/>
            <a:ext cx="6430500" cy="5079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it-IT" sz="1650">
                <a:solidFill>
                  <a:srgbClr val="475569"/>
                </a:solidFill>
                <a:latin typeface="Inter"/>
                <a:ea typeface="Inter"/>
                <a:cs typeface="Inter"/>
                <a:sym typeface="Inter"/>
              </a:rPr>
              <a:t>GMEM structures</a:t>
            </a:r>
            <a:r>
              <a:rPr lang="it-IT" sz="1650">
                <a:solidFill>
                  <a:srgbClr val="475569"/>
                </a:solidFill>
                <a:latin typeface="Inter"/>
                <a:ea typeface="Inter"/>
                <a:cs typeface="Inter"/>
                <a:sym typeface="Inter"/>
              </a:rPr>
              <a:t>:</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i="1" lang="it-IT" sz="1650">
                <a:solidFill>
                  <a:srgbClr val="475569"/>
                </a:solidFill>
                <a:latin typeface="Inter"/>
                <a:ea typeface="Inter"/>
                <a:cs typeface="Inter"/>
                <a:sym typeface="Inter"/>
              </a:rPr>
              <a:t>d_sad_candidates</a:t>
            </a:r>
            <a:r>
              <a:rPr lang="it-IT" sz="1650">
                <a:solidFill>
                  <a:srgbClr val="475569"/>
                </a:solidFill>
                <a:latin typeface="Inter"/>
                <a:ea typeface="Inter"/>
                <a:cs typeface="Inter"/>
                <a:sym typeface="Inter"/>
              </a:rPr>
              <a:t>: </a:t>
            </a:r>
            <a:endParaRPr sz="1650">
              <a:solidFill>
                <a:srgbClr val="475569"/>
              </a:solidFill>
              <a:latin typeface="Inter"/>
              <a:ea typeface="Inter"/>
              <a:cs typeface="Inter"/>
              <a:sym typeface="Inter"/>
            </a:endParaRPr>
          </a:p>
          <a:p>
            <a:pPr indent="0" lvl="0" marL="457200" rtl="0" algn="l">
              <a:spcBef>
                <a:spcPts val="0"/>
              </a:spcBef>
              <a:spcAft>
                <a:spcPts val="0"/>
              </a:spcAft>
              <a:buNone/>
            </a:pPr>
            <a:r>
              <a:rPr lang="it-IT" sz="1650">
                <a:solidFill>
                  <a:srgbClr val="475569"/>
                </a:solidFill>
                <a:latin typeface="Inter"/>
                <a:ea typeface="Inter"/>
                <a:cs typeface="Inter"/>
                <a:sym typeface="Inter"/>
              </a:rPr>
              <a:t>it stores the computed SAD value and the associated Motion Vector for each of the 9 candidate positions evaluated during the current iteration.</a:t>
            </a:r>
            <a:endParaRPr i="1"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i="1" lang="it-IT" sz="1650">
                <a:solidFill>
                  <a:srgbClr val="475569"/>
                </a:solidFill>
                <a:latin typeface="Inter"/>
                <a:ea typeface="Inter"/>
                <a:cs typeface="Inter"/>
                <a:sym typeface="Inter"/>
              </a:rPr>
              <a:t>d_best_candidates: pre-initialized with a zero motion vector, so the starting search center coincides with the current frame block's own position in the reference frame; it holds the optimal MV and SAD per block, updating the center for the next step and ultimately storing the final result.</a:t>
            </a:r>
            <a:endParaRPr i="1"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rPr b="1" lang="it-IT" sz="1650">
                <a:solidFill>
                  <a:srgbClr val="475569"/>
                </a:solidFill>
                <a:latin typeface="Inter"/>
                <a:ea typeface="Inter"/>
                <a:cs typeface="Inter"/>
                <a:sym typeface="Inter"/>
              </a:rPr>
              <a:t>Iterative Execution</a:t>
            </a:r>
            <a:r>
              <a:rPr lang="it-IT" sz="1650">
                <a:solidFill>
                  <a:srgbClr val="475569"/>
                </a:solidFill>
                <a:latin typeface="Inter"/>
                <a:ea typeface="Inter"/>
                <a:cs typeface="Inter"/>
                <a:sym typeface="Inter"/>
              </a:rPr>
              <a:t>: logarithmic search loop, halving currentDistance each iteration:</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computeSADKernel: SAD for the 9 candidates per block, centered on the previous iteration's best.</a:t>
            </a:r>
            <a:endParaRPr sz="1650">
              <a:solidFill>
                <a:srgbClr val="475569"/>
              </a:solidFill>
              <a:latin typeface="Inter"/>
              <a:ea typeface="Inter"/>
              <a:cs typeface="Inter"/>
              <a:sym typeface="Inter"/>
            </a:endParaRPr>
          </a:p>
          <a:p>
            <a:pPr indent="-333375" lvl="0" marL="457200" rtl="0" algn="l">
              <a:spcBef>
                <a:spcPts val="0"/>
              </a:spcBef>
              <a:spcAft>
                <a:spcPts val="0"/>
              </a:spcAft>
              <a:buClr>
                <a:srgbClr val="475569"/>
              </a:buClr>
              <a:buSzPts val="1650"/>
              <a:buFont typeface="Inter"/>
              <a:buChar char="●"/>
            </a:pPr>
            <a:r>
              <a:rPr lang="it-IT" sz="1650">
                <a:solidFill>
                  <a:srgbClr val="475569"/>
                </a:solidFill>
                <a:latin typeface="Inter"/>
                <a:ea typeface="Inter"/>
                <a:cs typeface="Inter"/>
                <a:sym typeface="Inter"/>
              </a:rPr>
              <a:t>CUB DeviceSegmentedReduce: finds the best MV per block, updating d_best_candidates as the next search center.</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a:p>
            <a:pPr indent="0" lvl="0" marL="0" rtl="0" algn="l">
              <a:spcBef>
                <a:spcPts val="0"/>
              </a:spcBef>
              <a:spcAft>
                <a:spcPts val="0"/>
              </a:spcAft>
              <a:buNone/>
            </a:pPr>
            <a:r>
              <a:t/>
            </a:r>
            <a:endParaRPr sz="1650">
              <a:solidFill>
                <a:srgbClr val="475569"/>
              </a:solidFill>
              <a:latin typeface="Inter"/>
              <a:ea typeface="Inter"/>
              <a:cs typeface="Inter"/>
              <a:sym typeface="Inter"/>
            </a:endParaRPr>
          </a:p>
        </p:txBody>
      </p:sp>
      <p:sp>
        <p:nvSpPr>
          <p:cNvPr id="992" name="Google Shape;992;p78"/>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a:t>
            </a:r>
            <a:r>
              <a:rPr lang="it-IT" sz="3000">
                <a:solidFill>
                  <a:srgbClr val="0F172A"/>
                </a:solidFill>
                <a:latin typeface="Outfit SemiBold"/>
                <a:ea typeface="Outfit SemiBold"/>
                <a:cs typeface="Outfit SemiBold"/>
                <a:sym typeface="Outfit SemiBold"/>
              </a:rPr>
              <a:t> Optimized: host </a:t>
            </a:r>
            <a:endParaRPr b="0" sz="1400" u="none" cap="none" strike="noStrike">
              <a:solidFill>
                <a:srgbClr val="000000"/>
              </a:solidFill>
              <a:latin typeface="Arial"/>
              <a:ea typeface="Arial"/>
              <a:cs typeface="Arial"/>
              <a:sym typeface="Arial"/>
            </a:endParaRPr>
          </a:p>
        </p:txBody>
      </p:sp>
      <p:sp>
        <p:nvSpPr>
          <p:cNvPr id="993" name="Google Shape;993;p78"/>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4" name="Google Shape;994;p78"/>
          <p:cNvSpPr/>
          <p:nvPr/>
        </p:nvSpPr>
        <p:spPr>
          <a:xfrm>
            <a:off x="7442800" y="1202750"/>
            <a:ext cx="4387800" cy="2124000"/>
          </a:xfrm>
          <a:prstGeom prst="roundRect">
            <a:avLst>
              <a:gd fmla="val 4293"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995" name="Google Shape;995;p78"/>
          <p:cNvSpPr txBox="1"/>
          <p:nvPr/>
        </p:nvSpPr>
        <p:spPr>
          <a:xfrm>
            <a:off x="7411600" y="1385275"/>
            <a:ext cx="4513800" cy="19416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CandidateSad</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d_sad_candidates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201090"/>
                </a:solidFill>
                <a:latin typeface="Roboto Mono"/>
                <a:ea typeface="Roboto Mono"/>
                <a:cs typeface="Roboto Mono"/>
                <a:sym typeface="Roboto Mono"/>
              </a:rPr>
              <a:t>nullptr</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CandidateSad</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d_best_candidates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201090"/>
                </a:solidFill>
                <a:latin typeface="Roboto Mono"/>
                <a:ea typeface="Roboto Mono"/>
                <a:cs typeface="Roboto Mono"/>
                <a:sym typeface="Roboto Mono"/>
              </a:rPr>
              <a:t>nullptr</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gpuErrorCheck</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cudaMalloc</a:t>
            </a:r>
            <a:r>
              <a:rPr lang="it-IT" sz="800">
                <a:latin typeface="Roboto Mono"/>
                <a:ea typeface="Roboto Mono"/>
                <a:cs typeface="Roboto Mono"/>
                <a:sym typeface="Roboto Mono"/>
              </a:rPr>
              <a:t>(</a:t>
            </a:r>
            <a:r>
              <a:rPr b="1" lang="it-IT" sz="800">
                <a:solidFill>
                  <a:srgbClr val="EE11FF"/>
                </a:solidFill>
                <a:latin typeface="Roboto Mono"/>
                <a:ea typeface="Roboto Mono"/>
                <a:cs typeface="Roboto Mono"/>
                <a:sym typeface="Roboto Mono"/>
              </a:rPr>
              <a:t>&amp;</a:t>
            </a:r>
            <a:r>
              <a:rPr lang="it-IT" sz="800">
                <a:solidFill>
                  <a:srgbClr val="1AB1CD"/>
                </a:solidFill>
                <a:latin typeface="Roboto Mono"/>
                <a:ea typeface="Roboto Mono"/>
                <a:cs typeface="Roboto Mono"/>
                <a:sym typeface="Roboto Mono"/>
              </a:rPr>
              <a:t>d_sad_candidates</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size_t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9</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sizeof</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gpuErrorCheck</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cudaMalloc</a:t>
            </a:r>
            <a:r>
              <a:rPr lang="it-IT" sz="800">
                <a:latin typeface="Roboto Mono"/>
                <a:ea typeface="Roboto Mono"/>
                <a:cs typeface="Roboto Mono"/>
                <a:sym typeface="Roboto Mono"/>
              </a:rPr>
              <a:t>(</a:t>
            </a:r>
            <a:r>
              <a:rPr b="1" lang="it-IT" sz="800">
                <a:solidFill>
                  <a:srgbClr val="EE11FF"/>
                </a:solidFill>
                <a:latin typeface="Roboto Mono"/>
                <a:ea typeface="Roboto Mono"/>
                <a:cs typeface="Roboto Mono"/>
                <a:sym typeface="Roboto Mono"/>
              </a:rPr>
              <a:t>&amp;</a:t>
            </a:r>
            <a:r>
              <a:rPr lang="it-IT" sz="800">
                <a:solidFill>
                  <a:srgbClr val="1AB1CD"/>
                </a:solidFill>
                <a:latin typeface="Roboto Mono"/>
                <a:ea typeface="Roboto Mono"/>
                <a:cs typeface="Roboto Mono"/>
                <a:sym typeface="Roboto Mono"/>
              </a:rPr>
              <a:t>d_best_candidates</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size_t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sizeof</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i="1" lang="it-IT" sz="800">
                <a:solidFill>
                  <a:srgbClr val="A05000"/>
                </a:solidFill>
                <a:latin typeface="Roboto Mono"/>
                <a:ea typeface="Roboto Mono"/>
                <a:cs typeface="Roboto Mono"/>
                <a:sym typeface="Roboto Mono"/>
              </a:rPr>
              <a:t>// Initialize best candidates to max SAD</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vector</a:t>
            </a:r>
            <a:r>
              <a:rPr b="1" lang="it-IT" sz="800">
                <a:solidFill>
                  <a:srgbClr val="EE11FF"/>
                </a:solidFill>
                <a:latin typeface="Roboto Mono"/>
                <a:ea typeface="Roboto Mono"/>
                <a:cs typeface="Roboto Mono"/>
                <a:sym typeface="Roboto Mono"/>
              </a:rPr>
              <a:t>&lt;</a:t>
            </a:r>
            <a:r>
              <a:rPr lang="it-IT" sz="800">
                <a:solidFill>
                  <a:srgbClr val="1AB1CD"/>
                </a:solidFill>
                <a:latin typeface="Roboto Mono"/>
                <a:ea typeface="Roboto Mono"/>
                <a:cs typeface="Roboto Mono"/>
                <a:sym typeface="Roboto Mono"/>
              </a:rPr>
              <a:t>CandidateSad</a:t>
            </a:r>
            <a:r>
              <a:rPr b="1" lang="it-IT" sz="800">
                <a:solidFill>
                  <a:srgbClr val="EE11FF"/>
                </a:solidFill>
                <a:latin typeface="Roboto Mono"/>
                <a:ea typeface="Roboto Mono"/>
                <a:cs typeface="Roboto Mono"/>
                <a:sym typeface="Roboto Mono"/>
              </a:rPr>
              <a:t>&gt;</a:t>
            </a:r>
            <a:r>
              <a:rPr lang="it-IT" sz="800">
                <a:latin typeface="Roboto Mono"/>
                <a:ea typeface="Roboto Mono"/>
                <a:cs typeface="Roboto Mono"/>
                <a:sym typeface="Roboto Mono"/>
              </a:rPr>
              <a:t> </a:t>
            </a:r>
            <a:r>
              <a:rPr lang="it-IT" sz="800">
                <a:solidFill>
                  <a:srgbClr val="0000F0"/>
                </a:solidFill>
                <a:latin typeface="Roboto Mono"/>
                <a:ea typeface="Roboto Mono"/>
                <a:cs typeface="Roboto Mono"/>
                <a:sym typeface="Roboto Mono"/>
              </a:rPr>
              <a:t>h_init</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cudaMemcpy</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d_best_candidates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h_init</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data</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b="1" lang="it-IT" sz="800">
                <a:solidFill>
                  <a:srgbClr val="700080"/>
                </a:solidFill>
                <a:latin typeface="Roboto Mono"/>
                <a:ea typeface="Roboto Mono"/>
                <a:cs typeface="Roboto Mono"/>
                <a:sym typeface="Roboto Mono"/>
              </a:rPr>
              <a:t>sizeof</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CandidateSad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cudaMemcpyHostToDevice</a:t>
            </a: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996" name="Google Shape;996;p78"/>
          <p:cNvSpPr txBox="1"/>
          <p:nvPr/>
        </p:nvSpPr>
        <p:spPr>
          <a:xfrm>
            <a:off x="7657200" y="1223575"/>
            <a:ext cx="43023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900">
                <a:solidFill>
                  <a:srgbClr val="666666"/>
                </a:solidFill>
                <a:latin typeface="Inter"/>
                <a:ea typeface="Inter"/>
                <a:cs typeface="Inter"/>
                <a:sym typeface="Inter"/>
              </a:rPr>
              <a:t>logarithmic</a:t>
            </a:r>
            <a:r>
              <a:rPr lang="it-IT" sz="900">
                <a:solidFill>
                  <a:srgbClr val="666666"/>
                </a:solidFill>
                <a:latin typeface="Inter"/>
                <a:ea typeface="Inter"/>
                <a:cs typeface="Inter"/>
                <a:sym typeface="Inter"/>
              </a:rPr>
              <a:t>SearchBM__optimized.cpp: logarithmSearchCUDAOptimizedGray</a:t>
            </a:r>
            <a:endParaRPr sz="900">
              <a:solidFill>
                <a:srgbClr val="666666"/>
              </a:solidFill>
              <a:latin typeface="Inter"/>
              <a:ea typeface="Inter"/>
              <a:cs typeface="Inter"/>
              <a:sym typeface="Inter"/>
            </a:endParaRPr>
          </a:p>
        </p:txBody>
      </p:sp>
      <p:cxnSp>
        <p:nvCxnSpPr>
          <p:cNvPr id="997" name="Google Shape;997;p78"/>
          <p:cNvCxnSpPr/>
          <p:nvPr/>
        </p:nvCxnSpPr>
        <p:spPr>
          <a:xfrm>
            <a:off x="7440000" y="1379125"/>
            <a:ext cx="4386900" cy="0"/>
          </a:xfrm>
          <a:prstGeom prst="straightConnector1">
            <a:avLst/>
          </a:prstGeom>
          <a:noFill/>
          <a:ln cap="flat" cmpd="sng" w="9525">
            <a:solidFill>
              <a:srgbClr val="B7B7B7"/>
            </a:solidFill>
            <a:prstDash val="solid"/>
            <a:round/>
            <a:headEnd len="med" w="med" type="none"/>
            <a:tailEnd len="med" w="med" type="none"/>
          </a:ln>
        </p:spPr>
      </p:cxnSp>
      <p:pic>
        <p:nvPicPr>
          <p:cNvPr descr="image.png" id="998" name="Google Shape;998;p78"/>
          <p:cNvPicPr preferRelativeResize="0"/>
          <p:nvPr/>
        </p:nvPicPr>
        <p:blipFill rotWithShape="1">
          <a:blip r:embed="rId4">
            <a:alphaModFix/>
          </a:blip>
          <a:srcRect b="0" l="0" r="0" t="0"/>
          <a:stretch/>
        </p:blipFill>
        <p:spPr>
          <a:xfrm>
            <a:off x="7539121" y="1246896"/>
            <a:ext cx="79034" cy="115068"/>
          </a:xfrm>
          <a:prstGeom prst="rect">
            <a:avLst/>
          </a:prstGeom>
          <a:noFill/>
          <a:ln>
            <a:noFill/>
          </a:ln>
        </p:spPr>
      </p:pic>
      <p:sp>
        <p:nvSpPr>
          <p:cNvPr id="999" name="Google Shape;999;p78"/>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
        <p:nvSpPr>
          <p:cNvPr id="1000" name="Google Shape;1000;p78"/>
          <p:cNvSpPr/>
          <p:nvPr/>
        </p:nvSpPr>
        <p:spPr>
          <a:xfrm>
            <a:off x="7411300" y="3626950"/>
            <a:ext cx="4513800" cy="2729400"/>
          </a:xfrm>
          <a:prstGeom prst="roundRect">
            <a:avLst>
              <a:gd fmla="val 4293" name="adj"/>
            </a:avLst>
          </a:prstGeom>
          <a:solidFill>
            <a:srgbClr val="E7F8F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1001" name="Google Shape;1001;p78"/>
          <p:cNvSpPr txBox="1"/>
          <p:nvPr/>
        </p:nvSpPr>
        <p:spPr>
          <a:xfrm>
            <a:off x="7348300" y="3788650"/>
            <a:ext cx="4513800" cy="2567700"/>
          </a:xfrm>
          <a:prstGeom prst="rect">
            <a:avLst/>
          </a:prstGeom>
          <a:noFill/>
          <a:ln>
            <a:noFill/>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b="1" lang="it-IT" sz="800">
                <a:solidFill>
                  <a:srgbClr val="700080"/>
                </a:solidFill>
                <a:latin typeface="Roboto Mono"/>
                <a:ea typeface="Roboto Mono"/>
                <a:cs typeface="Roboto Mono"/>
                <a:sym typeface="Roboto Mono"/>
              </a:rPr>
              <a:t>for</a:t>
            </a:r>
            <a:r>
              <a:rPr lang="it-IT" sz="800">
                <a:latin typeface="Roboto Mono"/>
                <a:ea typeface="Roboto Mono"/>
                <a:cs typeface="Roboto Mono"/>
                <a:sym typeface="Roboto Mono"/>
              </a:rPr>
              <a:t> (</a:t>
            </a:r>
            <a:r>
              <a:rPr lang="it-IT" sz="800">
                <a:solidFill>
                  <a:srgbClr val="008050"/>
                </a:solidFill>
                <a:latin typeface="Roboto Mono"/>
                <a:ea typeface="Roboto Mono"/>
                <a:cs typeface="Roboto Mono"/>
                <a:sym typeface="Roboto Mono"/>
              </a:rPr>
              <a:t>int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currentDistance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searchDistance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currentDistance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&gt;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currentDistance</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&gt;&gt;=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1</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Kernel SAD: compute SAD for the 9 candidate positions at this dist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launchSADKernel</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deviceProp</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smOneFrame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smTwoFrames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gridKSad</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  threadsKSad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strategy</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smKSad</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d_curr</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d_ref</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curr</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width</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  d_sad_candidates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d_best_candidates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blockSize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blocksX</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blocksY</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  currentDistance</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i="1" lang="it-IT" sz="800">
                <a:solidFill>
                  <a:srgbClr val="A05000"/>
                </a:solidFill>
                <a:latin typeface="Roboto Mono"/>
                <a:ea typeface="Roboto Mono"/>
                <a:cs typeface="Roboto Mono"/>
                <a:sym typeface="Roboto Mono"/>
              </a:rPr>
              <a:t>// CUB Segmented Reduce: find the best candidate among the 9, update </a:t>
            </a:r>
            <a:endParaRPr i="1" sz="800">
              <a:solidFill>
                <a:srgbClr val="A05000"/>
              </a:solidFill>
              <a:latin typeface="Roboto Mono"/>
              <a:ea typeface="Roboto Mono"/>
              <a:cs typeface="Roboto Mono"/>
              <a:sym typeface="Roboto Mono"/>
            </a:endParaRPr>
          </a:p>
          <a:p>
            <a:pPr indent="0" lvl="0" marL="0" rtl="0" algn="l">
              <a:lnSpc>
                <a:spcPct val="135714"/>
              </a:lnSpc>
              <a:spcBef>
                <a:spcPts val="0"/>
              </a:spcBef>
              <a:spcAft>
                <a:spcPts val="0"/>
              </a:spcAft>
              <a:buNone/>
            </a:pPr>
            <a:r>
              <a:rPr i="1" lang="it-IT" sz="800">
                <a:solidFill>
                  <a:srgbClr val="A05000"/>
                </a:solidFill>
                <a:latin typeface="Roboto Mono"/>
                <a:ea typeface="Roboto Mono"/>
                <a:cs typeface="Roboto Mono"/>
                <a:sym typeface="Roboto Mono"/>
              </a:rPr>
              <a:t>  center for next iteration</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cub::DeviceSegmentedReduce::Reduce</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d_temp_storage</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temp_storage_bytes</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d_sad_candidates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d_best_candidates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frameBlocks</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d_offsets</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  d_offsets</a:t>
            </a:r>
            <a:r>
              <a:rPr lang="it-IT" sz="800">
                <a:latin typeface="Roboto Mono"/>
                <a:ea typeface="Roboto Mono"/>
                <a:cs typeface="Roboto Mono"/>
                <a:sym typeface="Roboto Mono"/>
              </a:rPr>
              <a:t> </a:t>
            </a:r>
            <a:r>
              <a:rPr b="1" lang="it-IT" sz="800">
                <a:solidFill>
                  <a:srgbClr val="EE11FF"/>
                </a:solidFill>
                <a:latin typeface="Roboto Mono"/>
                <a:ea typeface="Roboto Mono"/>
                <a:cs typeface="Roboto Mono"/>
                <a:sym typeface="Roboto Mono"/>
              </a:rPr>
              <a:t>+</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1</a:t>
            </a:r>
            <a:r>
              <a:rPr lang="it-IT" sz="800">
                <a:latin typeface="Roboto Mono"/>
                <a:ea typeface="Roboto Mono"/>
                <a:cs typeface="Roboto Mono"/>
                <a:sym typeface="Roboto Mono"/>
              </a:rPr>
              <a:t>, </a:t>
            </a:r>
            <a:r>
              <a:rPr lang="it-IT" sz="800">
                <a:solidFill>
                  <a:srgbClr val="1AB1CD"/>
                </a:solidFill>
                <a:latin typeface="Roboto Mono"/>
                <a:ea typeface="Roboto Mono"/>
                <a:cs typeface="Roboto Mono"/>
                <a:sym typeface="Roboto Mono"/>
              </a:rPr>
              <a:t>MotionVectorUtils::CandidateSadOp</a:t>
            </a:r>
            <a:r>
              <a:rPr lang="it-IT" sz="800">
                <a:latin typeface="Roboto Mono"/>
                <a:ea typeface="Roboto Mono"/>
                <a:cs typeface="Roboto Mono"/>
                <a:sym typeface="Roboto Mono"/>
              </a:rPr>
              <a:t>(), </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solidFill>
                  <a:srgbClr val="1AB1CD"/>
                </a:solidFill>
                <a:latin typeface="Roboto Mono"/>
                <a:ea typeface="Roboto Mono"/>
                <a:cs typeface="Roboto Mono"/>
                <a:sym typeface="Roboto Mono"/>
              </a:rPr>
              <a:t>  CandidateSad</a:t>
            </a:r>
            <a:r>
              <a:rPr lang="it-IT" sz="800">
                <a:latin typeface="Roboto Mono"/>
                <a:ea typeface="Roboto Mono"/>
                <a:cs typeface="Roboto Mono"/>
                <a:sym typeface="Roboto Mono"/>
              </a:rPr>
              <a:t>{</a:t>
            </a:r>
            <a:r>
              <a:rPr lang="it-IT" sz="800">
                <a:solidFill>
                  <a:srgbClr val="1AB1CD"/>
                </a:solidFill>
                <a:latin typeface="Roboto Mono"/>
                <a:ea typeface="Roboto Mono"/>
                <a:cs typeface="Roboto Mono"/>
                <a:sym typeface="Roboto Mono"/>
              </a:rPr>
              <a:t>INT_MAX</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 </a:t>
            </a:r>
            <a:r>
              <a:rPr lang="it-IT" sz="800">
                <a:solidFill>
                  <a:srgbClr val="106040"/>
                </a:solidFill>
                <a:latin typeface="Roboto Mono"/>
                <a:ea typeface="Roboto Mono"/>
                <a:cs typeface="Roboto Mono"/>
                <a:sym typeface="Roboto Mono"/>
              </a:rPr>
              <a:t>0</a:t>
            </a:r>
            <a:r>
              <a:rPr lang="it-IT" sz="800">
                <a:latin typeface="Roboto Mono"/>
                <a:ea typeface="Roboto Mono"/>
                <a:cs typeface="Roboto Mono"/>
                <a:sym typeface="Roboto Mono"/>
              </a:rPr>
              <a:t>});</a:t>
            </a:r>
            <a:endParaRPr sz="800">
              <a:latin typeface="Roboto Mono"/>
              <a:ea typeface="Roboto Mono"/>
              <a:cs typeface="Roboto Mono"/>
              <a:sym typeface="Roboto Mono"/>
            </a:endParaRPr>
          </a:p>
          <a:p>
            <a:pPr indent="0" lvl="0" marL="0" rtl="0" algn="l">
              <a:lnSpc>
                <a:spcPct val="135714"/>
              </a:lnSpc>
              <a:spcBef>
                <a:spcPts val="0"/>
              </a:spcBef>
              <a:spcAft>
                <a:spcPts val="0"/>
              </a:spcAft>
              <a:buNone/>
            </a:pPr>
            <a:r>
              <a:rPr lang="it-IT" sz="800">
                <a:latin typeface="Roboto Mono"/>
                <a:ea typeface="Roboto Mono"/>
                <a:cs typeface="Roboto Mono"/>
                <a:sym typeface="Roboto Mono"/>
              </a:rPr>
              <a:t>}</a:t>
            </a:r>
            <a:endParaRPr sz="800">
              <a:latin typeface="Roboto Mono"/>
              <a:ea typeface="Roboto Mono"/>
              <a:cs typeface="Roboto Mono"/>
              <a:sym typeface="Roboto Mono"/>
            </a:endParaRPr>
          </a:p>
        </p:txBody>
      </p:sp>
      <p:sp>
        <p:nvSpPr>
          <p:cNvPr id="1002" name="Google Shape;1002;p78"/>
          <p:cNvSpPr txBox="1"/>
          <p:nvPr/>
        </p:nvSpPr>
        <p:spPr>
          <a:xfrm>
            <a:off x="7593900" y="3626950"/>
            <a:ext cx="4205100" cy="1386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Clr>
                <a:schemeClr val="dk1"/>
              </a:buClr>
              <a:buSzPts val="1050"/>
              <a:buFont typeface="Arial"/>
              <a:buNone/>
            </a:pPr>
            <a:r>
              <a:rPr lang="it-IT" sz="900">
                <a:solidFill>
                  <a:srgbClr val="666666"/>
                </a:solidFill>
                <a:latin typeface="Inter"/>
                <a:ea typeface="Inter"/>
                <a:cs typeface="Inter"/>
                <a:sym typeface="Inter"/>
              </a:rPr>
              <a:t>logarithmicSearchBM__optimized.cpp: logarithmSearchCUDAOptimizedGray</a:t>
            </a:r>
            <a:endParaRPr sz="900">
              <a:solidFill>
                <a:srgbClr val="666666"/>
              </a:solidFill>
              <a:latin typeface="Inter"/>
              <a:ea typeface="Inter"/>
              <a:cs typeface="Inter"/>
              <a:sym typeface="Inter"/>
            </a:endParaRPr>
          </a:p>
        </p:txBody>
      </p:sp>
      <p:cxnSp>
        <p:nvCxnSpPr>
          <p:cNvPr id="1003" name="Google Shape;1003;p78"/>
          <p:cNvCxnSpPr/>
          <p:nvPr/>
        </p:nvCxnSpPr>
        <p:spPr>
          <a:xfrm>
            <a:off x="7407055" y="3782500"/>
            <a:ext cx="4506900" cy="0"/>
          </a:xfrm>
          <a:prstGeom prst="straightConnector1">
            <a:avLst/>
          </a:prstGeom>
          <a:noFill/>
          <a:ln cap="flat" cmpd="sng" w="9525">
            <a:solidFill>
              <a:srgbClr val="B7B7B7"/>
            </a:solidFill>
            <a:prstDash val="solid"/>
            <a:round/>
            <a:headEnd len="med" w="med" type="none"/>
            <a:tailEnd len="med" w="med" type="none"/>
          </a:ln>
        </p:spPr>
      </p:cxnSp>
      <p:pic>
        <p:nvPicPr>
          <p:cNvPr descr="image.png" id="1004" name="Google Shape;1004;p78"/>
          <p:cNvPicPr preferRelativeResize="0"/>
          <p:nvPr/>
        </p:nvPicPr>
        <p:blipFill rotWithShape="1">
          <a:blip r:embed="rId4">
            <a:alphaModFix/>
          </a:blip>
          <a:srcRect b="0" l="0" r="0" t="0"/>
          <a:stretch/>
        </p:blipFill>
        <p:spPr>
          <a:xfrm>
            <a:off x="7475821" y="3650271"/>
            <a:ext cx="79034" cy="115068"/>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08" name="Shape 1008"/>
        <p:cNvGrpSpPr/>
        <p:nvPr/>
      </p:nvGrpSpPr>
      <p:grpSpPr>
        <a:xfrm>
          <a:off x="0" y="0"/>
          <a:ext cx="0" cy="0"/>
          <a:chOff x="0" y="0"/>
          <a:chExt cx="0" cy="0"/>
        </a:xfrm>
      </p:grpSpPr>
      <p:sp>
        <p:nvSpPr>
          <p:cNvPr id="1009" name="Google Shape;1009;p79"/>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benchmark</a:t>
            </a:r>
            <a:endParaRPr b="0" sz="1400" u="none" cap="none" strike="noStrike">
              <a:solidFill>
                <a:srgbClr val="000000"/>
              </a:solidFill>
              <a:latin typeface="Arial"/>
              <a:ea typeface="Arial"/>
              <a:cs typeface="Arial"/>
              <a:sym typeface="Arial"/>
            </a:endParaRPr>
          </a:p>
        </p:txBody>
      </p:sp>
      <p:sp>
        <p:nvSpPr>
          <p:cNvPr id="1010" name="Google Shape;1010;p79"/>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11" name="Google Shape;1011;p79"/>
          <p:cNvPicPr preferRelativeResize="0"/>
          <p:nvPr/>
        </p:nvPicPr>
        <p:blipFill>
          <a:blip r:embed="rId4">
            <a:alphaModFix/>
          </a:blip>
          <a:stretch>
            <a:fillRect/>
          </a:stretch>
        </p:blipFill>
        <p:spPr>
          <a:xfrm>
            <a:off x="4409025" y="1490560"/>
            <a:ext cx="7543798" cy="5027950"/>
          </a:xfrm>
          <a:prstGeom prst="rect">
            <a:avLst/>
          </a:prstGeom>
          <a:noFill/>
          <a:ln>
            <a:noFill/>
          </a:ln>
        </p:spPr>
      </p:pic>
      <p:sp>
        <p:nvSpPr>
          <p:cNvPr id="1012" name="Google Shape;1012;p79"/>
          <p:cNvSpPr txBox="1"/>
          <p:nvPr/>
        </p:nvSpPr>
        <p:spPr>
          <a:xfrm>
            <a:off x="799925" y="1489250"/>
            <a:ext cx="3475200" cy="23220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At smaller frame grid, the performance gap shrinks. Computing fewer candidates is offset by the overhead of launching multiple consecutive kernels and frequent CPU-GPU synchronizations per search step.</a:t>
            </a:r>
            <a:endParaRPr sz="1650">
              <a:solidFill>
                <a:srgbClr val="475569"/>
              </a:solidFill>
              <a:latin typeface="Inter"/>
              <a:ea typeface="Inter"/>
              <a:cs typeface="Inter"/>
              <a:sym typeface="Inter"/>
            </a:endParaRPr>
          </a:p>
        </p:txBody>
      </p:sp>
      <p:graphicFrame>
        <p:nvGraphicFramePr>
          <p:cNvPr id="1013" name="Google Shape;1013;p79"/>
          <p:cNvGraphicFramePr/>
          <p:nvPr/>
        </p:nvGraphicFramePr>
        <p:xfrm>
          <a:off x="771513" y="3885538"/>
          <a:ext cx="3000000" cy="3000000"/>
        </p:xfrm>
        <a:graphic>
          <a:graphicData uri="http://schemas.openxmlformats.org/drawingml/2006/table">
            <a:tbl>
              <a:tblPr>
                <a:noFill/>
                <a:tableStyleId>{1D995342-5EAB-4557-982D-F2C7F77A1F24}</a:tableStyleId>
              </a:tblPr>
              <a:tblGrid>
                <a:gridCol w="1386700"/>
                <a:gridCol w="1123650"/>
                <a:gridCol w="1127150"/>
              </a:tblGrid>
              <a:tr h="417300">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4096 x 4096)</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 grid and block </a:t>
                      </a:r>
                      <a:endParaRPr b="1"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b="1" i="1" lang="it-IT" sz="750">
                          <a:solidFill>
                            <a:srgbClr val="475569"/>
                          </a:solidFill>
                          <a:latin typeface="Inter"/>
                          <a:ea typeface="Inter"/>
                          <a:cs typeface="Inter"/>
                          <a:sym typeface="Inter"/>
                        </a:rPr>
                        <a:t>ComputeSADKernel</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Number of candidate per current frame block</a:t>
                      </a:r>
                      <a:endParaRPr b="1"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grid: 128 x 128 x 9 </a:t>
                      </a:r>
                      <a:endParaRPr sz="750">
                        <a:solidFill>
                          <a:srgbClr val="475569"/>
                        </a:solidFill>
                        <a:latin typeface="Inter"/>
                        <a:ea typeface="Inter"/>
                        <a:cs typeface="Inter"/>
                        <a:sym typeface="Inter"/>
                      </a:endParaRPr>
                    </a:p>
                    <a:p>
                      <a:pPr indent="0" lvl="0" marL="0" rtl="0" algn="ctr">
                        <a:spcBef>
                          <a:spcPts val="0"/>
                        </a:spcBef>
                        <a:spcAft>
                          <a:spcPts val="0"/>
                        </a:spcAft>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63</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a:t>
                      </a:r>
                      <a:r>
                        <a:rPr lang="it-IT" sz="750">
                          <a:solidFill>
                            <a:srgbClr val="475569"/>
                          </a:solidFill>
                          <a:latin typeface="Inter"/>
                          <a:ea typeface="Inter"/>
                          <a:cs typeface="Inter"/>
                          <a:sym typeface="Inter"/>
                        </a:rPr>
                        <a:t>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64 x 64 x 9</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54 </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32 x 32 x 9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45</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16 x 16 x 9</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36</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1014" name="Google Shape;1014;p79"/>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18" name="Shape 1018"/>
        <p:cNvGrpSpPr/>
        <p:nvPr/>
      </p:nvGrpSpPr>
      <p:grpSpPr>
        <a:xfrm>
          <a:off x="0" y="0"/>
          <a:ext cx="0" cy="0"/>
          <a:chOff x="0" y="0"/>
          <a:chExt cx="0" cy="0"/>
        </a:xfrm>
      </p:grpSpPr>
      <p:pic>
        <p:nvPicPr>
          <p:cNvPr id="1019" name="Google Shape;1019;p80"/>
          <p:cNvPicPr preferRelativeResize="0"/>
          <p:nvPr/>
        </p:nvPicPr>
        <p:blipFill>
          <a:blip r:embed="rId4">
            <a:alphaModFix/>
          </a:blip>
          <a:stretch>
            <a:fillRect/>
          </a:stretch>
        </p:blipFill>
        <p:spPr>
          <a:xfrm>
            <a:off x="4409023" y="1490523"/>
            <a:ext cx="7543798" cy="5028001"/>
          </a:xfrm>
          <a:prstGeom prst="rect">
            <a:avLst/>
          </a:prstGeom>
          <a:noFill/>
          <a:ln>
            <a:noFill/>
          </a:ln>
        </p:spPr>
      </p:pic>
      <p:sp>
        <p:nvSpPr>
          <p:cNvPr id="1020" name="Google Shape;1020;p80"/>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benchmark</a:t>
            </a:r>
            <a:endParaRPr b="0" sz="1400" u="none" cap="none" strike="noStrike">
              <a:solidFill>
                <a:srgbClr val="000000"/>
              </a:solidFill>
              <a:latin typeface="Arial"/>
              <a:ea typeface="Arial"/>
              <a:cs typeface="Arial"/>
              <a:sym typeface="Arial"/>
            </a:endParaRPr>
          </a:p>
        </p:txBody>
      </p:sp>
      <p:sp>
        <p:nvSpPr>
          <p:cNvPr id="1021" name="Google Shape;1021;p80"/>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2" name="Google Shape;1022;p80"/>
          <p:cNvSpPr txBox="1"/>
          <p:nvPr/>
        </p:nvSpPr>
        <p:spPr>
          <a:xfrm>
            <a:off x="799925" y="1489250"/>
            <a:ext cx="3475200" cy="23220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At smaller frame grid, the performance gap shrinks. Computing fewer candidates is offset by the overhead of launching multiple consecutive kernels and frequent CPU-GPU synchronizations per search step.</a:t>
            </a:r>
            <a:endParaRPr sz="1650">
              <a:solidFill>
                <a:srgbClr val="475569"/>
              </a:solidFill>
              <a:latin typeface="Inter"/>
              <a:ea typeface="Inter"/>
              <a:cs typeface="Inter"/>
              <a:sym typeface="Inter"/>
            </a:endParaRPr>
          </a:p>
        </p:txBody>
      </p:sp>
      <p:graphicFrame>
        <p:nvGraphicFramePr>
          <p:cNvPr id="1023" name="Google Shape;1023;p80"/>
          <p:cNvGraphicFramePr/>
          <p:nvPr/>
        </p:nvGraphicFramePr>
        <p:xfrm>
          <a:off x="771513" y="3885538"/>
          <a:ext cx="3000000" cy="3000000"/>
        </p:xfrm>
        <a:graphic>
          <a:graphicData uri="http://schemas.openxmlformats.org/drawingml/2006/table">
            <a:tbl>
              <a:tblPr>
                <a:noFill/>
                <a:tableStyleId>{1D995342-5EAB-4557-982D-F2C7F77A1F24}</a:tableStyleId>
              </a:tblPr>
              <a:tblGrid>
                <a:gridCol w="1379950"/>
                <a:gridCol w="1412050"/>
                <a:gridCol w="845500"/>
              </a:tblGrid>
              <a:tr h="417300">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4096 x 4096)</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b="1" lang="it-IT" sz="750">
                          <a:solidFill>
                            <a:srgbClr val="475569"/>
                          </a:solidFill>
                          <a:latin typeface="Inter"/>
                          <a:ea typeface="Inter"/>
                          <a:cs typeface="Inter"/>
                          <a:sym typeface="Inter"/>
                        </a:rPr>
                        <a:t>GMEM </a:t>
                      </a:r>
                      <a:endParaRPr b="1"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b="1" lang="it-IT" sz="750">
                          <a:solidFill>
                            <a:srgbClr val="475569"/>
                          </a:solidFill>
                          <a:latin typeface="Inter"/>
                          <a:ea typeface="Inter"/>
                          <a:cs typeface="Inter"/>
                          <a:sym typeface="Inter"/>
                        </a:rPr>
                        <a:t>Logarithmic Search</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GMEM</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Full Search</a:t>
                      </a:r>
                      <a:endParaRPr b="1"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d_sad_candidates: 1728 KiB </a:t>
                      </a:r>
                      <a:endParaRPr sz="750">
                        <a:solidFill>
                          <a:srgbClr val="475569"/>
                        </a:solidFill>
                        <a:latin typeface="Inter"/>
                        <a:ea typeface="Inter"/>
                        <a:cs typeface="Inter"/>
                        <a:sym typeface="Inter"/>
                      </a:endParaRPr>
                    </a:p>
                    <a:p>
                      <a:pPr indent="0" lvl="0" marL="0" rtl="0" algn="ctr">
                        <a:spcBef>
                          <a:spcPts val="0"/>
                        </a:spcBef>
                        <a:spcAft>
                          <a:spcPts val="0"/>
                        </a:spcAft>
                        <a:buNone/>
                      </a:pPr>
                      <a:r>
                        <a:rPr lang="it-IT" sz="750">
                          <a:solidFill>
                            <a:srgbClr val="475569"/>
                          </a:solidFill>
                          <a:latin typeface="Inter"/>
                          <a:ea typeface="Inter"/>
                          <a:cs typeface="Inter"/>
                          <a:sym typeface="Inter"/>
                        </a:rPr>
                        <a:t>d_best_candidates: 192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d_sad: 1024 MiB </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d_sad_candidates: 432 KiB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d_best_candidates: 48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6</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 MiB</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d_sad_candidates: 108 KiB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d_best_candidates: 12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4 MiB</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d_sad_candidates: 27 KiB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d_best_candidates: 3 KiB</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d_sad: 256 KiB </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1024" name="Google Shape;1024;p80"/>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28" name="Shape 1028"/>
        <p:cNvGrpSpPr/>
        <p:nvPr/>
      </p:nvGrpSpPr>
      <p:grpSpPr>
        <a:xfrm>
          <a:off x="0" y="0"/>
          <a:ext cx="0" cy="0"/>
          <a:chOff x="0" y="0"/>
          <a:chExt cx="0" cy="0"/>
        </a:xfrm>
      </p:grpSpPr>
      <p:sp>
        <p:nvSpPr>
          <p:cNvPr id="1029" name="Google Shape;1029;p81"/>
          <p:cNvSpPr txBox="1"/>
          <p:nvPr/>
        </p:nvSpPr>
        <p:spPr>
          <a:xfrm>
            <a:off x="771525" y="576525"/>
            <a:ext cx="11181300" cy="461700"/>
          </a:xfrm>
          <a:prstGeom prst="rect">
            <a:avLst/>
          </a:prstGeom>
          <a:noFill/>
          <a:ln>
            <a:noFill/>
          </a:ln>
        </p:spPr>
        <p:txBody>
          <a:bodyPr anchorCtr="0" anchor="ctr" bIns="0" lIns="0" spcFirstLastPara="1" rIns="0" wrap="square" tIns="0">
            <a:spAutoFit/>
          </a:bodyPr>
          <a:lstStyle/>
          <a:p>
            <a:pPr indent="0" lvl="0" marL="0" marR="0" rtl="0" algn="l">
              <a:lnSpc>
                <a:spcPct val="120000"/>
              </a:lnSpc>
              <a:spcBef>
                <a:spcPts val="0"/>
              </a:spcBef>
              <a:spcAft>
                <a:spcPts val="0"/>
              </a:spcAft>
              <a:buClr>
                <a:srgbClr val="000000"/>
              </a:buClr>
              <a:buSzPts val="3000"/>
              <a:buFont typeface="Arial"/>
              <a:buNone/>
            </a:pPr>
            <a:r>
              <a:rPr lang="it-IT" sz="3000">
                <a:solidFill>
                  <a:srgbClr val="0F172A"/>
                </a:solidFill>
                <a:latin typeface="Outfit SemiBold"/>
                <a:ea typeface="Outfit SemiBold"/>
                <a:cs typeface="Outfit SemiBold"/>
                <a:sym typeface="Outfit SemiBold"/>
              </a:rPr>
              <a:t>CUDA Optimized: benchmark</a:t>
            </a:r>
            <a:endParaRPr b="0" sz="1400" u="none" cap="none" strike="noStrike">
              <a:solidFill>
                <a:srgbClr val="000000"/>
              </a:solidFill>
              <a:latin typeface="Arial"/>
              <a:ea typeface="Arial"/>
              <a:cs typeface="Arial"/>
              <a:sym typeface="Arial"/>
            </a:endParaRPr>
          </a:p>
        </p:txBody>
      </p:sp>
      <p:sp>
        <p:nvSpPr>
          <p:cNvPr id="1030" name="Google Shape;1030;p81"/>
          <p:cNvSpPr/>
          <p:nvPr/>
        </p:nvSpPr>
        <p:spPr>
          <a:xfrm>
            <a:off x="771525" y="1038225"/>
            <a:ext cx="228600" cy="38100"/>
          </a:xfrm>
          <a:prstGeom prst="roundRect">
            <a:avLst>
              <a:gd fmla="val 50000" name="adj"/>
            </a:avLst>
          </a:prstGeom>
          <a:solidFill>
            <a:srgbClr val="10B981"/>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031" name="Google Shape;1031;p81"/>
          <p:cNvPicPr preferRelativeResize="0"/>
          <p:nvPr/>
        </p:nvPicPr>
        <p:blipFill>
          <a:blip r:embed="rId4">
            <a:alphaModFix/>
          </a:blip>
          <a:stretch>
            <a:fillRect/>
          </a:stretch>
        </p:blipFill>
        <p:spPr>
          <a:xfrm>
            <a:off x="4408925" y="1489250"/>
            <a:ext cx="3771950" cy="2425621"/>
          </a:xfrm>
          <a:prstGeom prst="rect">
            <a:avLst/>
          </a:prstGeom>
          <a:noFill/>
          <a:ln>
            <a:noFill/>
          </a:ln>
        </p:spPr>
      </p:pic>
      <p:pic>
        <p:nvPicPr>
          <p:cNvPr id="1032" name="Google Shape;1032;p81"/>
          <p:cNvPicPr preferRelativeResize="0"/>
          <p:nvPr/>
        </p:nvPicPr>
        <p:blipFill>
          <a:blip r:embed="rId5">
            <a:alphaModFix/>
          </a:blip>
          <a:stretch>
            <a:fillRect/>
          </a:stretch>
        </p:blipFill>
        <p:spPr>
          <a:xfrm>
            <a:off x="4327497" y="1489253"/>
            <a:ext cx="7543798" cy="4851117"/>
          </a:xfrm>
          <a:prstGeom prst="rect">
            <a:avLst/>
          </a:prstGeom>
          <a:noFill/>
          <a:ln>
            <a:noFill/>
          </a:ln>
        </p:spPr>
      </p:pic>
      <p:sp>
        <p:nvSpPr>
          <p:cNvPr id="1033" name="Google Shape;1033;p81"/>
          <p:cNvSpPr txBox="1"/>
          <p:nvPr/>
        </p:nvSpPr>
        <p:spPr>
          <a:xfrm>
            <a:off x="0" y="0"/>
            <a:ext cx="3000000" cy="400200"/>
          </a:xfrm>
          <a:prstGeom prst="rect">
            <a:avLst/>
          </a:prstGeom>
          <a:noFill/>
          <a:ln>
            <a:noFill/>
          </a:ln>
        </p:spPr>
        <p:txBody>
          <a:bodyPr anchorCtr="0" anchor="t" bIns="91425" lIns="91425" spcFirstLastPara="1" rIns="91425" wrap="square" tIns="91425">
            <a:spAutoFit/>
          </a:bodyPr>
          <a:lstStyle/>
          <a:p>
            <a:pPr indent="0" lvl="0" marL="0" rtl="0" algn="l">
              <a:lnSpc>
                <a:spcPct val="135714"/>
              </a:lnSpc>
              <a:spcBef>
                <a:spcPts val="0"/>
              </a:spcBef>
              <a:spcAft>
                <a:spcPts val="0"/>
              </a:spcAft>
              <a:buNone/>
            </a:pPr>
            <a:r>
              <a:t/>
            </a:r>
            <a:endParaRPr/>
          </a:p>
        </p:txBody>
      </p:sp>
      <p:sp>
        <p:nvSpPr>
          <p:cNvPr id="1034" name="Google Shape;1034;p81"/>
          <p:cNvSpPr txBox="1"/>
          <p:nvPr/>
        </p:nvSpPr>
        <p:spPr>
          <a:xfrm>
            <a:off x="799925" y="1489250"/>
            <a:ext cx="3609000" cy="1977300"/>
          </a:xfrm>
          <a:prstGeom prst="rect">
            <a:avLst/>
          </a:prstGeom>
          <a:noFill/>
          <a:ln>
            <a:noFill/>
          </a:ln>
        </p:spPr>
        <p:txBody>
          <a:bodyPr anchorCtr="0" anchor="t" bIns="0" lIns="0" spcFirstLastPara="1" rIns="0" wrap="square" tIns="0">
            <a:spAutoFit/>
          </a:bodyPr>
          <a:lstStyle/>
          <a:p>
            <a:pPr indent="0" lvl="0" marL="0" rtl="0" algn="l">
              <a:lnSpc>
                <a:spcPct val="135714"/>
              </a:lnSpc>
              <a:spcBef>
                <a:spcPts val="0"/>
              </a:spcBef>
              <a:spcAft>
                <a:spcPts val="0"/>
              </a:spcAft>
              <a:buNone/>
            </a:pPr>
            <a:r>
              <a:rPr lang="it-IT" sz="1650">
                <a:solidFill>
                  <a:srgbClr val="475569"/>
                </a:solidFill>
                <a:latin typeface="Inter"/>
                <a:ea typeface="Inter"/>
                <a:cs typeface="Inter"/>
                <a:sym typeface="Inter"/>
              </a:rPr>
              <a:t>As the grid shrinks, the synchronization overhead of repeatedly launching </a:t>
            </a:r>
            <a:r>
              <a:rPr i="1" lang="it-IT" sz="1650">
                <a:solidFill>
                  <a:srgbClr val="475569"/>
                </a:solidFill>
                <a:latin typeface="Inter"/>
                <a:ea typeface="Inter"/>
                <a:cs typeface="Inter"/>
                <a:sym typeface="Inter"/>
              </a:rPr>
              <a:t>segmentedReduce</a:t>
            </a:r>
            <a:r>
              <a:rPr lang="it-IT" sz="1650">
                <a:solidFill>
                  <a:srgbClr val="475569"/>
                </a:solidFill>
                <a:latin typeface="Inter"/>
                <a:ea typeface="Inter"/>
                <a:cs typeface="Inter"/>
                <a:sym typeface="Inter"/>
              </a:rPr>
              <a:t> overtakes the actual findBestMVKernel computation.</a:t>
            </a:r>
            <a:endParaRPr sz="1650">
              <a:solidFill>
                <a:srgbClr val="475569"/>
              </a:solidFill>
              <a:latin typeface="Inter"/>
              <a:ea typeface="Inter"/>
              <a:cs typeface="Inter"/>
              <a:sym typeface="Inter"/>
            </a:endParaRPr>
          </a:p>
        </p:txBody>
      </p:sp>
      <p:graphicFrame>
        <p:nvGraphicFramePr>
          <p:cNvPr id="1035" name="Google Shape;1035;p81"/>
          <p:cNvGraphicFramePr/>
          <p:nvPr/>
        </p:nvGraphicFramePr>
        <p:xfrm>
          <a:off x="771513" y="3885538"/>
          <a:ext cx="3000000" cy="3000000"/>
        </p:xfrm>
        <a:graphic>
          <a:graphicData uri="http://schemas.openxmlformats.org/drawingml/2006/table">
            <a:tbl>
              <a:tblPr>
                <a:noFill/>
                <a:tableStyleId>{1D995342-5EAB-4557-982D-F2C7F77A1F24}</a:tableStyleId>
              </a:tblPr>
              <a:tblGrid>
                <a:gridCol w="1386700"/>
                <a:gridCol w="1336350"/>
                <a:gridCol w="752000"/>
              </a:tblGrid>
              <a:tr h="417300">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Block size</a:t>
                      </a:r>
                      <a:endParaRPr b="1" sz="750">
                        <a:solidFill>
                          <a:srgbClr val="475569"/>
                        </a:solidFill>
                        <a:latin typeface="Inter"/>
                        <a:ea typeface="Inter"/>
                        <a:cs typeface="Inter"/>
                        <a:sym typeface="Inter"/>
                      </a:endParaRPr>
                    </a:p>
                    <a:p>
                      <a:pPr indent="0" lvl="0" marL="0" rtl="0" algn="ctr">
                        <a:spcBef>
                          <a:spcPts val="0"/>
                        </a:spcBef>
                        <a:spcAft>
                          <a:spcPts val="0"/>
                        </a:spcAft>
                        <a:buNone/>
                      </a:pPr>
                      <a:r>
                        <a:rPr b="1" lang="it-IT" sz="750">
                          <a:solidFill>
                            <a:srgbClr val="475569"/>
                          </a:solidFill>
                          <a:latin typeface="Inter"/>
                          <a:ea typeface="Inter"/>
                          <a:cs typeface="Inter"/>
                          <a:sym typeface="Inter"/>
                        </a:rPr>
                        <a:t>(resolution 4096 x 4096)</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CUDA grid and block </a:t>
                      </a:r>
                      <a:endParaRPr b="1"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b="1" i="1" lang="it-IT" sz="750">
                          <a:solidFill>
                            <a:srgbClr val="475569"/>
                          </a:solidFill>
                          <a:latin typeface="Inter"/>
                          <a:ea typeface="Inter"/>
                          <a:cs typeface="Inter"/>
                          <a:sym typeface="Inter"/>
                        </a:rPr>
                        <a:t>ComputeSADKernel</a:t>
                      </a:r>
                      <a:endParaRPr b="1"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b="1" lang="it-IT" sz="750">
                          <a:solidFill>
                            <a:srgbClr val="475569"/>
                          </a:solidFill>
                          <a:latin typeface="Inter"/>
                          <a:ea typeface="Inter"/>
                          <a:cs typeface="Inter"/>
                          <a:sym typeface="Inter"/>
                        </a:rPr>
                        <a:t>Number of candidate per current frame block</a:t>
                      </a:r>
                      <a:endParaRPr b="1"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32</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grid: 128 x 128 x 9 </a:t>
                      </a:r>
                      <a:endParaRPr sz="750">
                        <a:solidFill>
                          <a:srgbClr val="475569"/>
                        </a:solidFill>
                        <a:latin typeface="Inter"/>
                        <a:ea typeface="Inter"/>
                        <a:cs typeface="Inter"/>
                        <a:sym typeface="Inter"/>
                      </a:endParaRPr>
                    </a:p>
                    <a:p>
                      <a:pPr indent="0" lvl="0" marL="0" rtl="0" algn="ctr">
                        <a:spcBef>
                          <a:spcPts val="0"/>
                        </a:spcBef>
                        <a:spcAft>
                          <a:spcPts val="0"/>
                        </a:spcAft>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63</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64 </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64 x 64 x 9</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54 </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128</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32 x 32 x 9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45</a:t>
                      </a:r>
                      <a:endParaRPr sz="750">
                        <a:solidFill>
                          <a:srgbClr val="475569"/>
                        </a:solidFill>
                        <a:latin typeface="Inter"/>
                        <a:ea typeface="Inter"/>
                        <a:cs typeface="Inter"/>
                        <a:sym typeface="Inter"/>
                      </a:endParaRPr>
                    </a:p>
                  </a:txBody>
                  <a:tcPr marT="91425" marB="91425" marR="91425" marL="91425"/>
                </a:tc>
              </a:tr>
              <a:tr h="416000">
                <a:tc>
                  <a:txBody>
                    <a:bodyPr/>
                    <a:lstStyle/>
                    <a:p>
                      <a:pPr indent="0" lvl="0" marL="0" rtl="0" algn="ctr">
                        <a:spcBef>
                          <a:spcPts val="0"/>
                        </a:spcBef>
                        <a:spcAft>
                          <a:spcPts val="0"/>
                        </a:spcAft>
                        <a:buNone/>
                      </a:pPr>
                      <a:r>
                        <a:rPr lang="it-IT" sz="750">
                          <a:solidFill>
                            <a:srgbClr val="475569"/>
                          </a:solidFill>
                          <a:latin typeface="Inter"/>
                          <a:ea typeface="Inter"/>
                          <a:cs typeface="Inter"/>
                          <a:sym typeface="Inter"/>
                        </a:rPr>
                        <a:t>256</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grid: 16 x 16 x 9 </a:t>
                      </a:r>
                      <a:endParaRPr sz="750">
                        <a:solidFill>
                          <a:srgbClr val="475569"/>
                        </a:solidFill>
                        <a:latin typeface="Inter"/>
                        <a:ea typeface="Inter"/>
                        <a:cs typeface="Inter"/>
                        <a:sym typeface="Inter"/>
                      </a:endParaRPr>
                    </a:p>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block: 1024 x 1 x 1</a:t>
                      </a:r>
                      <a:endParaRPr sz="750">
                        <a:solidFill>
                          <a:srgbClr val="475569"/>
                        </a:solidFill>
                        <a:latin typeface="Inter"/>
                        <a:ea typeface="Inter"/>
                        <a:cs typeface="Inter"/>
                        <a:sym typeface="Inter"/>
                      </a:endParaRPr>
                    </a:p>
                  </a:txBody>
                  <a:tcPr marT="91425" marB="91425" marR="91425" marL="91425"/>
                </a:tc>
                <a:tc>
                  <a:txBody>
                    <a:bodyPr/>
                    <a:lstStyle/>
                    <a:p>
                      <a:pPr indent="0" lvl="0" marL="0" rtl="0" algn="ctr">
                        <a:spcBef>
                          <a:spcPts val="0"/>
                        </a:spcBef>
                        <a:spcAft>
                          <a:spcPts val="0"/>
                        </a:spcAft>
                        <a:buClr>
                          <a:schemeClr val="dk1"/>
                        </a:buClr>
                        <a:buSzPts val="1100"/>
                        <a:buFont typeface="Arial"/>
                        <a:buNone/>
                      </a:pPr>
                      <a:r>
                        <a:rPr lang="it-IT" sz="750">
                          <a:solidFill>
                            <a:srgbClr val="475569"/>
                          </a:solidFill>
                          <a:latin typeface="Inter"/>
                          <a:ea typeface="Inter"/>
                          <a:cs typeface="Inter"/>
                          <a:sym typeface="Inter"/>
                        </a:rPr>
                        <a:t>36</a:t>
                      </a:r>
                      <a:endParaRPr sz="750">
                        <a:solidFill>
                          <a:srgbClr val="475569"/>
                        </a:solidFill>
                        <a:latin typeface="Inter"/>
                        <a:ea typeface="Inter"/>
                        <a:cs typeface="Inter"/>
                        <a:sym typeface="Inter"/>
                      </a:endParaRPr>
                    </a:p>
                  </a:txBody>
                  <a:tcPr marT="91425" marB="91425" marR="91425" marL="91425"/>
                </a:tc>
              </a:tr>
            </a:tbl>
          </a:graphicData>
        </a:graphic>
      </p:graphicFrame>
      <p:sp>
        <p:nvSpPr>
          <p:cNvPr id="1036" name="Google Shape;1036;p81"/>
          <p:cNvSpPr txBox="1"/>
          <p:nvPr>
            <p:ph idx="12" type="sldNum"/>
          </p:nvPr>
        </p:nvSpPr>
        <p:spPr>
          <a:xfrm>
            <a:off x="9825900" y="6356350"/>
            <a:ext cx="21336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it-IT"/>
              <a:t>‹#›</a:t>
            </a:fld>
            <a:endParaRPr/>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40" name="Shape 1040"/>
        <p:cNvGrpSpPr/>
        <p:nvPr/>
      </p:nvGrpSpPr>
      <p:grpSpPr>
        <a:xfrm>
          <a:off x="0" y="0"/>
          <a:ext cx="0" cy="0"/>
          <a:chOff x="0" y="0"/>
          <a:chExt cx="0" cy="0"/>
        </a:xfrm>
      </p:grpSpPr>
      <p:sp>
        <p:nvSpPr>
          <p:cNvPr id="1041" name="Google Shape;1041;p82"/>
          <p:cNvSpPr txBox="1"/>
          <p:nvPr/>
        </p:nvSpPr>
        <p:spPr>
          <a:xfrm>
            <a:off x="1623625" y="4387275"/>
            <a:ext cx="8796900" cy="215400"/>
          </a:xfrm>
          <a:prstGeom prst="rect">
            <a:avLst/>
          </a:prstGeom>
          <a:noFill/>
          <a:ln>
            <a:noFill/>
          </a:ln>
        </p:spPr>
        <p:txBody>
          <a:bodyPr anchorCtr="0" anchor="t" bIns="0" lIns="0" spcFirstLastPara="1" rIns="0" wrap="square" tIns="0">
            <a:spAutoFit/>
          </a:bodyPr>
          <a:lstStyle/>
          <a:p>
            <a:pPr indent="0" lvl="0" marL="0" marR="0" rtl="0" algn="ctr">
              <a:lnSpc>
                <a:spcPct val="159944"/>
              </a:lnSpc>
              <a:spcBef>
                <a:spcPts val="0"/>
              </a:spcBef>
              <a:spcAft>
                <a:spcPts val="0"/>
              </a:spcAft>
              <a:buClr>
                <a:srgbClr val="000000"/>
              </a:buClr>
              <a:buSzPts val="1800"/>
              <a:buFont typeface="Arial"/>
              <a:buNone/>
            </a:pPr>
            <a:r>
              <a:rPr lang="it-IT">
                <a:solidFill>
                  <a:srgbClr val="475569"/>
                </a:solidFill>
                <a:latin typeface="Inter"/>
                <a:ea typeface="Inter"/>
                <a:cs typeface="Inter"/>
                <a:sym typeface="Inter"/>
              </a:rPr>
              <a:t>Thanks for the attention.</a:t>
            </a:r>
            <a:endParaRPr b="0" i="0" sz="1000" u="none" cap="none" strike="noStrike">
              <a:solidFill>
                <a:srgbClr val="000000"/>
              </a:solidFill>
              <a:latin typeface="Arial"/>
              <a:ea typeface="Arial"/>
              <a:cs typeface="Arial"/>
              <a:sym typeface="Arial"/>
            </a:endParaRPr>
          </a:p>
        </p:txBody>
      </p:sp>
      <p:sp>
        <p:nvSpPr>
          <p:cNvPr id="1042" name="Google Shape;1042;p82"/>
          <p:cNvSpPr/>
          <p:nvPr/>
        </p:nvSpPr>
        <p:spPr>
          <a:xfrm>
            <a:off x="3681450" y="1971175"/>
            <a:ext cx="4829100" cy="1251300"/>
          </a:xfrm>
          <a:prstGeom prst="roundRect">
            <a:avLst>
              <a:gd fmla="val 16667" name="adj"/>
            </a:avLst>
          </a:prstGeom>
          <a:solidFill>
            <a:srgbClr val="D5E9E3"/>
          </a:solidFill>
          <a:ln>
            <a:noFill/>
          </a:ln>
          <a:effectLst>
            <a:outerShdw blurRad="57150" rotWithShape="0" algn="bl" dir="5400000" dist="7620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it-IT" sz="6000">
                <a:solidFill>
                  <a:srgbClr val="10B981"/>
                </a:solidFill>
                <a:latin typeface="Outfit"/>
                <a:ea typeface="Outfit"/>
                <a:cs typeface="Outfit"/>
                <a:sym typeface="Outfit"/>
              </a:rPr>
              <a:t>Questions?</a:t>
            </a:r>
            <a:endParaRPr sz="6000"/>
          </a:p>
        </p:txBody>
      </p:sp>
      <p:sp>
        <p:nvSpPr>
          <p:cNvPr id="1043" name="Google Shape;1043;p82"/>
          <p:cNvSpPr txBox="1"/>
          <p:nvPr>
            <p:ph idx="12" type="sldNum"/>
          </p:nvPr>
        </p:nvSpPr>
        <p:spPr>
          <a:xfrm>
            <a:off x="861060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000000"/>
              </a:buClr>
              <a:buFont typeface="Arial"/>
              <a:buNone/>
            </a:pPr>
            <a:fld id="{00000000-1234-1234-1234-123412341234}" type="slidenum">
              <a:rPr lang="it-IT"/>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